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dcdee44bb44cc" /><Relationship Type="http://schemas.openxmlformats.org/officeDocument/2006/relationships/extended-properties" Target="/docProps/app.xml" Id="R283d3555a6304676" /><Relationship Type="http://schemas.openxmlformats.org/officeDocument/2006/relationships/officeDocument" Target="/ppt/presentation.xml" Id="R2fb55e51d2724b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0acc66a76f441a"/>
  </p:sldMasterIdLst>
  <p:notesMasterIdLst>
    <p:notesMasterId xmlns:r="http://schemas.openxmlformats.org/officeDocument/2006/relationships" r:id="R2c4577f800e940fc"/>
  </p:notesMasterIdLst>
  <p:sldIdLst>
    <p:sldId xmlns:r="http://schemas.openxmlformats.org/officeDocument/2006/relationships" id="256" r:id="Rd41184789c4745b0"/>
    <p:sldId xmlns:r="http://schemas.openxmlformats.org/officeDocument/2006/relationships" id="257" r:id="Ra5871262ce774ca5"/>
    <p:sldId xmlns:r="http://schemas.openxmlformats.org/officeDocument/2006/relationships" id="258" r:id="R168bc2d2772341bc"/>
    <p:sldId xmlns:r="http://schemas.openxmlformats.org/officeDocument/2006/relationships" id="259" r:id="R68da5f8d7cac408b"/>
    <p:sldId xmlns:r="http://schemas.openxmlformats.org/officeDocument/2006/relationships" id="260" r:id="Rbc799c0da4e84cb4"/>
    <p:sldId xmlns:r="http://schemas.openxmlformats.org/officeDocument/2006/relationships" id="261" r:id="R034beac553164e1a"/>
    <p:sldId xmlns:r="http://schemas.openxmlformats.org/officeDocument/2006/relationships" id="262" r:id="R847b942c468e409a"/>
    <p:sldId xmlns:r="http://schemas.openxmlformats.org/officeDocument/2006/relationships" id="263" r:id="Rb699acf68c3c4c27"/>
    <p:sldId xmlns:r="http://schemas.openxmlformats.org/officeDocument/2006/relationships" id="264" r:id="R567d5a8fcab64377"/>
    <p:sldId xmlns:r="http://schemas.openxmlformats.org/officeDocument/2006/relationships" id="265" r:id="Rb582f514c6a84ef2"/>
    <p:sldId xmlns:r="http://schemas.openxmlformats.org/officeDocument/2006/relationships" id="266" r:id="Rc65d0ff11b564dc8"/>
    <p:sldId xmlns:r="http://schemas.openxmlformats.org/officeDocument/2006/relationships" id="267" r:id="R2d11ded12eb443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a53f7265ac452b" /><Relationship Type="http://schemas.openxmlformats.org/officeDocument/2006/relationships/slideMaster" Target="/ppt/slideMasters/slideMaster1.xml" Id="Rf20acc66a76f441a" /><Relationship Type="http://schemas.openxmlformats.org/officeDocument/2006/relationships/notesMaster" Target="/ppt/notesMasters/notesMaster1.xml" Id="R2c4577f800e940fc" /><Relationship Type="http://schemas.openxmlformats.org/officeDocument/2006/relationships/presProps" Target="/ppt/presProps.xml" Id="R67854ad4996d4dd9" /><Relationship Type="http://schemas.openxmlformats.org/officeDocument/2006/relationships/tableStyles" Target="/ppt/tableStyles.xml" Id="Rcf745116ade0472c" /><Relationship Type="http://schemas.openxmlformats.org/officeDocument/2006/relationships/slide" Target="/ppt/slides/slide1.xml" Id="Rd41184789c4745b0" /><Relationship Type="http://schemas.openxmlformats.org/officeDocument/2006/relationships/slide" Target="/ppt/slides/slide2.xml" Id="Ra5871262ce774ca5" /><Relationship Type="http://schemas.openxmlformats.org/officeDocument/2006/relationships/slide" Target="/ppt/slides/slide3.xml" Id="R168bc2d2772341bc" /><Relationship Type="http://schemas.openxmlformats.org/officeDocument/2006/relationships/slide" Target="/ppt/slides/slide4.xml" Id="R68da5f8d7cac408b" /><Relationship Type="http://schemas.openxmlformats.org/officeDocument/2006/relationships/slide" Target="/ppt/slides/slide5.xml" Id="Rbc799c0da4e84cb4" /><Relationship Type="http://schemas.openxmlformats.org/officeDocument/2006/relationships/slide" Target="/ppt/slides/slide6.xml" Id="R034beac553164e1a" /><Relationship Type="http://schemas.openxmlformats.org/officeDocument/2006/relationships/slide" Target="/ppt/slides/slide7.xml" Id="R847b942c468e409a" /><Relationship Type="http://schemas.openxmlformats.org/officeDocument/2006/relationships/slide" Target="/ppt/slides/slide8.xml" Id="Rb699acf68c3c4c27" /><Relationship Type="http://schemas.openxmlformats.org/officeDocument/2006/relationships/slide" Target="/ppt/slides/slide9.xml" Id="R567d5a8fcab64377" /><Relationship Type="http://schemas.openxmlformats.org/officeDocument/2006/relationships/slide" Target="/ppt/slides/slide10.xml" Id="Rb582f514c6a84ef2" /><Relationship Type="http://schemas.openxmlformats.org/officeDocument/2006/relationships/slide" Target="/ppt/slides/slide11.xml" Id="Rc65d0ff11b564dc8" /><Relationship Type="http://schemas.openxmlformats.org/officeDocument/2006/relationships/slide" Target="/ppt/slides/slide12.xml" Id="R2d11ded12eb443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b02610be7e40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045c1f02814204" /><Relationship Type="http://schemas.openxmlformats.org/officeDocument/2006/relationships/notesMaster" Target="/ppt/notesMasters/notesMaster1.xml" Id="R30a7521c5c5b4b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0159dbe06743b0" /><Relationship Type="http://schemas.openxmlformats.org/officeDocument/2006/relationships/notesMaster" Target="/ppt/notesMasters/notesMaster1.xml" Id="R4105311391e849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aa8c4bad004300" /><Relationship Type="http://schemas.openxmlformats.org/officeDocument/2006/relationships/notesMaster" Target="/ppt/notesMasters/notesMaster1.xml" Id="R75ff8cb091734c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69fde4ecb8495a" /><Relationship Type="http://schemas.openxmlformats.org/officeDocument/2006/relationships/notesMaster" Target="/ppt/notesMasters/notesMaster1.xml" Id="R71c40fafabda43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b985766b434296" /><Relationship Type="http://schemas.openxmlformats.org/officeDocument/2006/relationships/notesMaster" Target="/ppt/notesMasters/notesMaster1.xml" Id="R0b1e055a753745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88972423f54897" /><Relationship Type="http://schemas.openxmlformats.org/officeDocument/2006/relationships/notesMaster" Target="/ppt/notesMasters/notesMaster1.xml" Id="R066eba9eb70e42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048f4840db4224" /><Relationship Type="http://schemas.openxmlformats.org/officeDocument/2006/relationships/notesMaster" Target="/ppt/notesMasters/notesMaster1.xml" Id="Ra0ea6caa584d4d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d608616f804586" /><Relationship Type="http://schemas.openxmlformats.org/officeDocument/2006/relationships/notesMaster" Target="/ppt/notesMasters/notesMaster1.xml" Id="Re138dbd21c784d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a9c68d02c14e5d" /><Relationship Type="http://schemas.openxmlformats.org/officeDocument/2006/relationships/notesMaster" Target="/ppt/notesMasters/notesMaster1.xml" Id="R69b345d9b5ac41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ff6a67bfd14fe3" /><Relationship Type="http://schemas.openxmlformats.org/officeDocument/2006/relationships/notesMaster" Target="/ppt/notesMasters/notesMaster1.xml" Id="Rcfeae15da3a44c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928bb7f05e4325" /><Relationship Type="http://schemas.openxmlformats.org/officeDocument/2006/relationships/notesMaster" Target="/ppt/notesMasters/notesMaster1.xml" Id="R4d61e690ea5c45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ccee99df604645" /><Relationship Type="http://schemas.openxmlformats.org/officeDocument/2006/relationships/notesMaster" Target="/ppt/notesMasters/notesMaster1.xml" Id="R2061d50f1cf447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allotted topic. This is a C99 compiler front end with a separate output preview interpreter. Add the actual group number, names and roll numbers before presentation. The topic and date come from the supplied assignment.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examples/hello.str and docs/grammar.md. Walk through both declaration forms, assignment, concatenation, and print. Every statement ends with a semicolon.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is src/mini_compiler.c. Explain the distinction between the three compiler-front-end phases and the optional interpreter. A failed phase prevents preview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lex() in src/mini_compiler.c and screenshots/transcripts/02_tokens.txt. The raw literal retains its source spelling, while decoded text is stored separately. Identifier matching happens before keyword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docs/grammar.md. The original CFG has immediate left recursion in Program and Expr. Explain that the loop-based expression parser builds a left-associated AST after removing left recursion. Declarations share a string id prefix.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examples/ast_demo.str and the executable AST. AST nodes omit punctuation and helper nonterminals. Show --ast and explain --dot. Existing readable export paths are preserved, so choose a new DOT filename for each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analyze() and expression_length() in src/mini_compiler.c. Symbols are inserted uninitialized before checking an initializer. Failed assignment does not initialize a previously uninitialized variable. String type follows from the language grammar.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examples/escapes.str. Accepted escapes are newline, tab, carriage return, backslash and double quote. Decode once. Raw newline, invalid escape or missing closing quote produces a lexical error.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screenshots/transcripts/01_success.txt, generated by build/mini_compiler.exe examples/hello.str --run --symbols. Captured on 20 October 2026. The screenshot shows actual executable output, rendered for readability.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screenshots/transcripts/07_semantic_errors.txt. The error example deliberately returns 1. Show examples/lexical_error.str and examples/syntax_error.str during the live demonstration as well. No compilation error permits the interpreter to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tests/test_compiler.py and local test execution. 26 test methods pass, some with multiple cases. Python is only a development test runner. The implementation uses standard C99. A fresh clone requires a C compiler. No machine-code generation is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this slide with actual names, roll numbers and the work each member performed. Suggested areas are not a claim that any person completed them. Adjust rows to actual group size. Use docs/contributions.md as the evidence log. Review and understand assistant-prepared material and follow institutional disclosure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8b8250c7f47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40ac056ef47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b7096a6b24a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5953899114f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b3189ac7f43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df3ec9a854b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AB0D10-EF43-4EA7-BE2D-9D49F4821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1145A3-2AF9-4D89-A081-C9D882B7F6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ED6722-1120-4724-91EC-73C336A97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BB1217-0CE8-4AB0-9B75-CBD605382E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60B86C-F22A-4BBA-BB79-C3E88595E7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3FD20D-80C1-4B8D-80C6-2F48F3DBE1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66FB82-ED6B-4C08-8C61-334CB65657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DBDF28-739E-482E-927D-3434F32B59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A26F8C-FDDC-480D-AB77-216314408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CD2094-4211-42A5-B9ED-0420064350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e55e28cacd4dac" /><Relationship Type="http://schemas.openxmlformats.org/officeDocument/2006/relationships/slideLayout" Target="/ppt/slideLayouts/slideLayout1.xml" Id="R517e56c551e24fff" /><Relationship Type="http://schemas.openxmlformats.org/officeDocument/2006/relationships/slideLayout" Target="/ppt/slideLayouts/slideLayout2.xml" Id="Rcba5e4e883b64baa" /><Relationship Type="http://schemas.openxmlformats.org/officeDocument/2006/relationships/slideLayout" Target="/ppt/slideLayouts/slideLayout3.xml" Id="Rca230e5abcfe4e9e" /><Relationship Type="http://schemas.openxmlformats.org/officeDocument/2006/relationships/slideLayout" Target="/ppt/slideLayouts/slideLayout4.xml" Id="Ref3d0bdc9d3849c2" /><Relationship Type="http://schemas.openxmlformats.org/officeDocument/2006/relationships/slideLayout" Target="/ppt/slideLayouts/slideLayout5.xml" Id="R5751f66e335e42ea" /><Relationship Type="http://schemas.openxmlformats.org/officeDocument/2006/relationships/slideLayout" Target="/ppt/slideLayouts/slideLayout6.xml" Id="Rb8d574dc2c3e42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e56c551e24fff"/>
    <p:sldLayoutId xmlns:r="http://schemas.openxmlformats.org/officeDocument/2006/relationships" id="2147483650" r:id="Rcba5e4e883b64baa"/>
    <p:sldLayoutId xmlns:r="http://schemas.openxmlformats.org/officeDocument/2006/relationships" id="2147483651" r:id="Rca230e5abcfe4e9e"/>
    <p:sldLayoutId xmlns:r="http://schemas.openxmlformats.org/officeDocument/2006/relationships" id="2147483652" r:id="Ref3d0bdc9d3849c2"/>
    <p:sldLayoutId xmlns:r="http://schemas.openxmlformats.org/officeDocument/2006/relationships" id="2147483653" r:id="R5751f66e335e42ea"/>
    <p:sldLayoutId xmlns:r="http://schemas.openxmlformats.org/officeDocument/2006/relationships" id="2147483654" r:id="Rb8d574dc2c3e42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ee04e289ff46b6" /><Relationship Type="http://schemas.openxmlformats.org/officeDocument/2006/relationships/notesSlide" Target="/ppt/notesSlides/notesSlide1.xml" Id="R11ecfc4640164a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101bbd7f24e58" /><Relationship Type="http://schemas.openxmlformats.org/officeDocument/2006/relationships/notesSlide" Target="/ppt/notesSlides/notesSlide2.xml" Id="R1f605c1b26e74d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052970b5e4eb4" /><Relationship Type="http://schemas.openxmlformats.org/officeDocument/2006/relationships/notesSlide" Target="/ppt/notesSlides/notesSlide3.xml" Id="R352af87ce24a4e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273f951184d09" /><Relationship Type="http://schemas.openxmlformats.org/officeDocument/2006/relationships/image" Target="/ppt/media/image.png" Id="Rfdb197a82623404b" /><Relationship Type="http://schemas.openxmlformats.org/officeDocument/2006/relationships/notesSlide" Target="/ppt/notesSlides/notesSlide4.xml" Id="R77f8b9acfd3544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05f1cc416422d" /><Relationship Type="http://schemas.openxmlformats.org/officeDocument/2006/relationships/notesSlide" Target="/ppt/notesSlides/notesSlide5.xml" Id="R4d1bc42e6c4143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649cefd094137" /><Relationship Type="http://schemas.openxmlformats.org/officeDocument/2006/relationships/notesSlide" Target="/ppt/notesSlides/notesSlide6.xml" Id="Rb56846406ae147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64e072ae14ae2" /><Relationship Type="http://schemas.openxmlformats.org/officeDocument/2006/relationships/notesSlide" Target="/ppt/notesSlides/notesSlide7.xml" Id="Rf15f9180e0de47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93e0b989d4904" /><Relationship Type="http://schemas.openxmlformats.org/officeDocument/2006/relationships/notesSlide" Target="/ppt/notesSlides/notesSlide8.xml" Id="R17ce4debf4f147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0d40f0fd6459d" /><Relationship Type="http://schemas.openxmlformats.org/officeDocument/2006/relationships/image" Target="/ppt/media/image2.png" Id="Rebca01e0f18b4bf0" /><Relationship Type="http://schemas.openxmlformats.org/officeDocument/2006/relationships/notesSlide" Target="/ppt/notesSlides/notesSlide9.xml" Id="Rd682b9a0bc4c44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8bdc17ebb4e30" /><Relationship Type="http://schemas.openxmlformats.org/officeDocument/2006/relationships/image" Target="/ppt/media/image3.png" Id="R52eef57a341848c1" /><Relationship Type="http://schemas.openxmlformats.org/officeDocument/2006/relationships/notesSlide" Target="/ppt/notesSlides/notesSlide10.xml" Id="Rcd97a010cd3f4a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0246a694948c6" /><Relationship Type="http://schemas.openxmlformats.org/officeDocument/2006/relationships/notesSlide" Target="/ppt/notesSlides/notesSlide11.xml" Id="Rc995fa1faac949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675d7c3254e48" /><Relationship Type="http://schemas.openxmlformats.org/officeDocument/2006/relationships/notesSlide" Target="/ppt/notesSlides/notesSlide12.xml" Id="R46e960e2242942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AF5008E0-ED52-4782-B002-0B918A8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1DCDFE9-C3E2-4F37-8E5C-6F1ED32D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String Processing Language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E4AFBB3F-6EB4-471F-97E9-AA946CD0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0BC187AE-F375-436B-B92C-77231D91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A mini compiler front end in C">
            <a:extLst xmlns:a="http://schemas.openxmlformats.org/drawingml/2006/main">
              <a:ext uri="{FF2B5EF4-FFF2-40B4-BE49-F238E27FC236}">
                <a16:creationId xmlns:a16="http://schemas.microsoft.com/office/drawing/2014/main" id="{5574C8B9-379A-4A51-8018-F900096B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A mini compiler front end in C</a:t>
            </a:r>
          </a:p>
        </p:txBody>
      </p:sp>
      <p:sp>
        <p:nvSpPr>
          <p:cNvPr id="6" name="Project Based Learning Activity">
            <a:extLst xmlns:a="http://schemas.openxmlformats.org/drawingml/2006/main">
              <a:ext uri="{FF2B5EF4-FFF2-40B4-BE49-F238E27FC236}">
                <a16:creationId xmlns:a16="http://schemas.microsoft.com/office/drawing/2014/main" id="{43F32524-45B4-472E-AFE5-FAF9F5AD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52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Project Based Learning Activity</a:t>
            </a:r>
          </a:p>
        </p:txBody>
      </p:sp>
      <p:sp>
        <p:nvSpPr>
          <p:cNvPr id="7" name="Presentation and demonstration   23">
            <a:extLst xmlns:a="http://schemas.openxmlformats.org/drawingml/2006/main">
              <a:ext uri="{FF2B5EF4-FFF2-40B4-BE49-F238E27FC236}">
                <a16:creationId xmlns:a16="http://schemas.microsoft.com/office/drawing/2014/main" id="{333219FC-3162-4793-99CB-4D3AF9D8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Presentation and demonstration   23 October 2026</a:t>
            </a:r>
          </a:p>
        </p:txBody>
      </p:sp>
      <p:sp>
        <p:nvSpPr>
          <p:cNvPr id="8" name="Group and member details to be comp">
            <a:extLst xmlns:a="http://schemas.openxmlformats.org/drawingml/2006/main">
              <a:ext uri="{FF2B5EF4-FFF2-40B4-BE49-F238E27FC236}">
                <a16:creationId xmlns:a16="http://schemas.microsoft.com/office/drawing/2014/main" id="{E250A9C6-450F-4C8E-A39A-9F772BF1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Group and member details to be completed</a:t>
            </a:r>
          </a:p>
        </p:txBody>
      </p:sp>
    </p:spTree>
    <p:extLst>
      <p:ext uri="{BB962C8B-B14F-4D97-AF65-F5344CB8AC3E}">
        <p14:creationId xmlns:p14="http://schemas.microsoft.com/office/powerpoint/2010/main" val="57879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497FF7C5-856B-4B7C-802A-6B888236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EAE796C-4C26-4C31-BE9C-60E6DDAD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Language and required features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BABBCAA3-DC71-4E06-9553-46B25810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E597DC83-F1E7-4517-A192-5D43BED7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tring name = &quot;World&quot;;&#10;string greet">
            <a:extLst xmlns:a="http://schemas.openxmlformats.org/drawingml/2006/main">
              <a:ext uri="{FF2B5EF4-FFF2-40B4-BE49-F238E27FC236}">
                <a16:creationId xmlns:a16="http://schemas.microsoft.com/office/drawing/2014/main" id="{58610730-0E51-492D-A270-D564FF78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defPPr>
            <a:lvl1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1pPr>
            <a:lvl2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2pPr>
            <a:lvl3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3pPr>
            <a:lvl4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4pPr>
            <a:lvl5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5pPr>
            <a:lvl6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6pPr>
            <a:lvl7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7pPr>
            <a:lvl8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8pPr>
            <a:lvl9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string name = "World";</a:t>
            </a:r>
          </a:p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string greeting;</a:t>
            </a:r>
          </a:p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greeting = "Hello, " + name + "!";</a:t>
            </a:r>
          </a:p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print(greeting);</a:t>
            </a:r>
          </a:p>
        </p:txBody>
      </p:sp>
      <p:sp>
        <p:nvSpPr>
          <p:cNvPr id="6" name="One global scope. String is the onl">
            <a:extLst xmlns:a="http://schemas.openxmlformats.org/drawingml/2006/main">
              <a:ext uri="{FF2B5EF4-FFF2-40B4-BE49-F238E27FC236}">
                <a16:creationId xmlns:a16="http://schemas.microsoft.com/office/drawing/2014/main" id="{CC54F2A2-BACA-40E0-B276-9B469528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One global scope. String is the only type.</a:t>
            </a:r>
          </a:p>
        </p:txBody>
      </p:sp>
      <p:sp>
        <p:nvSpPr>
          <p:cNvPr id="7" name="Double-quoted literals, parentheses">
            <a:extLst xmlns:a="http://schemas.openxmlformats.org/drawingml/2006/main">
              <a:ext uri="{FF2B5EF4-FFF2-40B4-BE49-F238E27FC236}">
                <a16:creationId xmlns:a16="http://schemas.microsoft.com/office/drawing/2014/main" id="{2D51A2C6-47DF-438E-85C5-557BDAF7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Double-quoted literals, parentheses and // comments.</a:t>
            </a:r>
          </a:p>
        </p:txBody>
      </p:sp>
    </p:spTree>
    <p:extLst>
      <p:ext uri="{BB962C8B-B14F-4D97-AF65-F5344CB8AC3E}">
        <p14:creationId xmlns:p14="http://schemas.microsoft.com/office/powerpoint/2010/main" val="605341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922A5482-2393-46C6-A91C-2395A4D1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DE5BD9C-C7F2-441A-8BA5-089F754F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Compiler pipeline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4BFC7408-585F-4330-8CDA-CD604B18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1CC6B208-BBA1-4633-9515-D67026A6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01   Source file and lexical analys">
            <a:extLst xmlns:a="http://schemas.openxmlformats.org/drawingml/2006/main">
              <a:ext uri="{FF2B5EF4-FFF2-40B4-BE49-F238E27FC236}">
                <a16:creationId xmlns:a16="http://schemas.microsoft.com/office/drawing/2014/main" id="{AE016C78-6981-4A51-8CA9-78E117C1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01   Source file and lexical analysis</a:t>
            </a:r>
          </a:p>
          <a:p xmlns:a="http://schemas.openxmlformats.org/drawingml/2006/main">
            <a: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02   Tokens and recursive-descent parsing</a:t>
            </a:r>
          </a:p>
          <a:p xmlns:a="http://schemas.openxmlformats.org/drawingml/2006/main">
            <a: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03   AST and semantic analysis</a:t>
            </a:r>
          </a:p>
          <a:p xmlns:a="http://schemas.openxmlformats.org/drawingml/2006/main">
            <a:pPr>
              <a:defRPr sz="25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04   Accepted program and preview output</a:t>
            </a:r>
          </a:p>
        </p:txBody>
      </p:sp>
      <p:sp>
        <p:nvSpPr>
          <p:cNvPr id="6" name="Diagnostics identify the phase, lin">
            <a:extLst xmlns:a="http://schemas.openxmlformats.org/drawingml/2006/main">
              <a:ext uri="{FF2B5EF4-FFF2-40B4-BE49-F238E27FC236}">
                <a16:creationId xmlns:a16="http://schemas.microsoft.com/office/drawing/2014/main" id="{9A99C370-EB6B-466C-9662-C36824F3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Diagnostics identify the phase, line and byte column.</a:t>
            </a:r>
          </a:p>
        </p:txBody>
      </p:sp>
    </p:spTree>
    <p:extLst>
      <p:ext uri="{BB962C8B-B14F-4D97-AF65-F5344CB8AC3E}">
        <p14:creationId xmlns:p14="http://schemas.microsoft.com/office/powerpoint/2010/main" val="537192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62DCBF48-6AB7-4540-A2EA-A47512FF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3AC7394-735E-4EB7-92C3-4F2F31EE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Lexical analyzer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E07C6052-6FC7-4DCF-AA32-E9477D5C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CC681D50-B410-457E-A87A-A24BD641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74F26-13D5-4C6F-8143-EE7B96E144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197a82623404b"/>
          <a:stretch xmlns:a="http://schemas.openxmlformats.org/drawingml/2006/main"/>
        </p:blipFill>
        <p:spPr>
          <a:xfrm xmlns:a="http://schemas.openxmlformats.org/drawingml/2006/main">
            <a:off x="685800" y="1852301"/>
            <a:ext cx="7810500" cy="4001124"/>
          </a:xfrm>
          <a:prstGeom xmlns:a="http://schemas.openxmlformats.org/drawingml/2006/main" prst="rect">
            <a:avLst/>
          </a:prstGeom>
        </p:spPr>
      </p:pic>
      <p:sp>
        <p:nvSpPr>
          <p:cNvPr id="6" name="Positioned tokens&#10;&#10;Decoded literals">
            <a:extLst xmlns:a="http://schemas.openxmlformats.org/drawingml/2006/main">
              <a:ext uri="{FF2B5EF4-FFF2-40B4-BE49-F238E27FC236}">
                <a16:creationId xmlns:a16="http://schemas.microsoft.com/office/drawing/2014/main" id="{B63EC2A6-9D10-449F-997A-7EEFEC99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76450"/>
            <a:ext cx="285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Positioned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Decoded literals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Validated escapes</a:t>
            </a:r>
          </a:p>
        </p:txBody>
      </p:sp>
    </p:spTree>
    <p:extLst>
      <p:ext uri="{BB962C8B-B14F-4D97-AF65-F5344CB8AC3E}">
        <p14:creationId xmlns:p14="http://schemas.microsoft.com/office/powerpoint/2010/main" val="851754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4A83FB74-1AAF-4BB9-B5FC-904E018A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4C9F3FC-B3D0-4E35-AB28-08B06556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Grammar transformations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56FFA630-A17B-4B6C-B9B2-F6D15265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C7B42EF5-83C4-429E-86E7-D8222A5C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Original expression">
            <a:extLst xmlns:a="http://schemas.openxmlformats.org/drawingml/2006/main">
              <a:ext uri="{FF2B5EF4-FFF2-40B4-BE49-F238E27FC236}">
                <a16:creationId xmlns:a16="http://schemas.microsoft.com/office/drawing/2014/main" id="{0FD0E24C-A248-4BC9-8A2B-5B1E1D89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Original expression</a:t>
            </a:r>
          </a:p>
        </p:txBody>
      </p:sp>
      <p:sp>
        <p:nvSpPr>
          <p:cNvPr id="6" name="Expr -&gt; Expr + Term&#10;      | Term">
            <a:extLst xmlns:a="http://schemas.openxmlformats.org/drawingml/2006/main">
              <a:ext uri="{FF2B5EF4-FFF2-40B4-BE49-F238E27FC236}">
                <a16:creationId xmlns:a16="http://schemas.microsoft.com/office/drawing/2014/main" id="{B6C0CD4C-FA03-4F21-AC20-CFA3F329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Expr -&gt; Expr + Term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      | Term</a:t>
            </a:r>
          </a:p>
        </p:txBody>
      </p:sp>
      <p:sp>
        <p:nvSpPr>
          <p:cNvPr id="7" name="After removing left recursion">
            <a:extLst xmlns:a="http://schemas.openxmlformats.org/drawingml/2006/main">
              <a:ext uri="{FF2B5EF4-FFF2-40B4-BE49-F238E27FC236}">
                <a16:creationId xmlns:a16="http://schemas.microsoft.com/office/drawing/2014/main" id="{87BA94B7-E081-4B72-85C1-47F8676B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After removing left recursion</a:t>
            </a:r>
          </a:p>
        </p:txBody>
      </p:sp>
      <p:sp>
        <p:nvSpPr>
          <p:cNvPr id="8" name="Expr -&gt; Term Tail&#10;Tail -&gt; + Term Ta">
            <a:extLst xmlns:a="http://schemas.openxmlformats.org/drawingml/2006/main">
              <a:ext uri="{FF2B5EF4-FFF2-40B4-BE49-F238E27FC236}">
                <a16:creationId xmlns:a16="http://schemas.microsoft.com/office/drawing/2014/main" id="{D7DCB8A6-23CF-427F-8222-0E2F3BF5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Expr -&gt; Term Tail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Tail -&gt; + Term Tail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      | epsilon</a:t>
            </a:r>
          </a:p>
        </p:txBody>
      </p:sp>
      <p:sp>
        <p:nvSpPr>
          <p:cNvPr id="9" name="Left-factored declaration">
            <a:extLst xmlns:a="http://schemas.openxmlformats.org/drawingml/2006/main">
              <a:ext uri="{FF2B5EF4-FFF2-40B4-BE49-F238E27FC236}">
                <a16:creationId xmlns:a16="http://schemas.microsoft.com/office/drawing/2014/main" id="{A2D53453-1750-4F0A-AEA7-1075FF27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Left-factored declaration</a:t>
            </a:r>
          </a:p>
        </p:txBody>
      </p:sp>
      <p:sp>
        <p:nvSpPr>
          <p:cNvPr id="10" name="Decl -&gt; string id Init ;&#10;Init -&gt; = ">
            <a:extLst xmlns:a="http://schemas.openxmlformats.org/drawingml/2006/main">
              <a:ext uri="{FF2B5EF4-FFF2-40B4-BE49-F238E27FC236}">
                <a16:creationId xmlns:a16="http://schemas.microsoft.com/office/drawing/2014/main" id="{F953ADE4-A93B-42F0-A202-DDC80E9A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Decl -&gt; string id Init ;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Init -&gt; = Expr | epsilon</a:t>
            </a:r>
          </a:p>
        </p:txBody>
      </p:sp>
    </p:spTree>
    <p:extLst>
      <p:ext uri="{BB962C8B-B14F-4D97-AF65-F5344CB8AC3E}">
        <p14:creationId xmlns:p14="http://schemas.microsoft.com/office/powerpoint/2010/main" val="12921934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E37AEA28-4210-4BC6-B53E-ED8A994A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8F2C0A1-4CEA-4A2D-80F7-4F57E4BA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Abstract syntax tree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786A0072-9F09-4A47-A5E6-8978F69B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3343C8D2-6735-41EB-AAE7-45C4C78E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string a = &quot;Hi&quot;;&#10;print(a + &quot;!&quot;);">
            <a:extLst xmlns:a="http://schemas.openxmlformats.org/drawingml/2006/main">
              <a:ext uri="{FF2B5EF4-FFF2-40B4-BE49-F238E27FC236}">
                <a16:creationId xmlns:a16="http://schemas.microsoft.com/office/drawing/2014/main" id="{8405A8EB-EC6F-4D28-8B63-E22F167A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defPPr>
            <a:lvl1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1pPr>
            <a:lvl2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2pPr>
            <a:lvl3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3pPr>
            <a:lvl4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4pPr>
            <a:lvl5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5pPr>
            <a:lvl6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6pPr>
            <a:lvl7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7pPr>
            <a:lvl8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8pPr>
            <a:lvl9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string a = "Hi";</a:t>
            </a:r>
          </a:p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print(a + "!");</a:t>
            </a:r>
          </a:p>
        </p:txBody>
      </p:sp>
      <p:sp>
        <p:nvSpPr>
          <p:cNvPr id="6" name="Program&#10;  Declaration a&#10;    Literal">
            <a:extLst xmlns:a="http://schemas.openxmlformats.org/drawingml/2006/main">
              <a:ext uri="{FF2B5EF4-FFF2-40B4-BE49-F238E27FC236}">
                <a16:creationId xmlns:a16="http://schemas.microsoft.com/office/drawing/2014/main" id="{8ED9BF72-C04C-46B5-B364-9C03E66D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048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Program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  Declaration a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    Literal "Hi"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  Print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    Concat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      Identifier a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      Literal "!"</a:t>
            </a:r>
          </a:p>
        </p:txBody>
      </p:sp>
      <p:sp>
        <p:nvSpPr>
          <p:cNvPr id="7" name="The parser uses the transformed LL(">
            <a:extLst xmlns:a="http://schemas.openxmlformats.org/drawingml/2006/main">
              <a:ext uri="{FF2B5EF4-FFF2-40B4-BE49-F238E27FC236}">
                <a16:creationId xmlns:a16="http://schemas.microsoft.com/office/drawing/2014/main" id="{43B47FDB-F3F7-4077-835F-72ABDB33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The parser uses the transformed LL(1) grammar.</a:t>
            </a:r>
          </a:p>
        </p:txBody>
      </p:sp>
    </p:spTree>
    <p:extLst>
      <p:ext uri="{BB962C8B-B14F-4D97-AF65-F5344CB8AC3E}">
        <p14:creationId xmlns:p14="http://schemas.microsoft.com/office/powerpoint/2010/main" val="1689144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4632960A-C564-4DBE-B16E-9C977376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57BEDEA-8D9B-47D8-BDB1-14551CE0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Semantic analysis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4BDFD505-3C15-4781-A1CC-4FE8ADC3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0A540BD5-338C-4A65-9570-4139C746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Declaration before use&#10;Initializati">
            <a:extLst xmlns:a="http://schemas.openxmlformats.org/drawingml/2006/main">
              <a:ext uri="{FF2B5EF4-FFF2-40B4-BE49-F238E27FC236}">
                <a16:creationId xmlns:a16="http://schemas.microsoft.com/office/drawing/2014/main" id="{A43C15FF-C931-4458-8177-30B68F1C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Declaration before use</a:t>
            </a:r>
          </a:p>
          <a:p xmlns:a="http://schemas.openxmlformats.org/drawingml/2006/main">
            <a: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Initialization before reading</a:t>
            </a:r>
          </a:p>
          <a:p xmlns:a="http://schemas.openxmlformats.org/drawingml/2006/main">
            <a: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No duplicate declarations</a:t>
            </a:r>
          </a:p>
          <a:p xmlns:a="http://schemas.openxmlformats.org/drawingml/2006/main">
            <a:pPr>
              <a:defRPr sz="262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String values within 1023 bytes</a:t>
            </a:r>
          </a:p>
        </p:txBody>
      </p:sp>
      <p:sp>
        <p:nvSpPr>
          <p:cNvPr id="6" name="string x;&#10;print(x);  // semantic er">
            <a:extLst xmlns:a="http://schemas.openxmlformats.org/drawingml/2006/main">
              <a:ext uri="{FF2B5EF4-FFF2-40B4-BE49-F238E27FC236}">
                <a16:creationId xmlns:a16="http://schemas.microsoft.com/office/drawing/2014/main" id="{AB02940B-7DBB-4482-833E-1B5A555B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string x;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print(x);  // semantic error</a:t>
            </a:r>
          </a:p>
        </p:txBody>
      </p:sp>
    </p:spTree>
    <p:extLst>
      <p:ext uri="{BB962C8B-B14F-4D97-AF65-F5344CB8AC3E}">
        <p14:creationId xmlns:p14="http://schemas.microsoft.com/office/powerpoint/2010/main" val="622730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027D8F5C-6DFD-4315-966D-E952E0FA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FD144A1-9ADC-4D95-B476-CD70D7F4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String literals and escapes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6225D705-6264-49F6-9DF7-BCA8AF66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01F076DF-CBA9-4304-9099-086DEEF1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print(&quot;A\nB&quot;);&#10;print(&quot;She said: \&quot;H">
            <a:extLst xmlns:a="http://schemas.openxmlformats.org/drawingml/2006/main">
              <a:ext uri="{FF2B5EF4-FFF2-40B4-BE49-F238E27FC236}">
                <a16:creationId xmlns:a16="http://schemas.microsoft.com/office/drawing/2014/main" id="{68DCE6BD-8A36-4B0F-9F3F-EC606F3C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defPPr>
            <a:lvl1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1pPr>
            <a:lvl2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2pPr>
            <a:lvl3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3pPr>
            <a:lvl4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4pPr>
            <a:lvl5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5pPr>
            <a:lvl6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6pPr>
            <a:lvl7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7pPr>
            <a:lvl8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8pPr>
            <a:lvl9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print("A\nB");</a:t>
            </a:r>
          </a:p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print("She said: \"Hi\"");</a:t>
            </a:r>
          </a:p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print("Path: C:\\project");</a:t>
            </a:r>
          </a:p>
        </p:txBody>
      </p:sp>
      <p:sp>
        <p:nvSpPr>
          <p:cNvPr id="6" name="Accepted escapes:  \n  \t  \r  \\  ">
            <a:extLst xmlns:a="http://schemas.openxmlformats.org/drawingml/2006/main">
              <a:ext uri="{FF2B5EF4-FFF2-40B4-BE49-F238E27FC236}">
                <a16:creationId xmlns:a16="http://schemas.microsoft.com/office/drawing/2014/main" id="{CE508210-1A6C-4DB3-9908-2E533A00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defPPr>
            <a:lvl1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1pPr>
            <a:lvl2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2pPr>
            <a:lvl3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3pPr>
            <a:lvl4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4pPr>
            <a:lvl5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5pPr>
            <a:lvl6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6pPr>
            <a:lvl7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7pPr>
            <a:lvl8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8pPr>
            <a:lvl9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42B43"/>
                </a:solidFill>
                <a:latin typeface="Consolas"/>
                <a:ea typeface="Consolas"/>
                <a:cs typeface="Consolas"/>
              </a:rPr>
              <a:t>Accepted escapes:  \n  \t  \r  \\  \"</a:t>
            </a:r>
          </a:p>
        </p:txBody>
      </p:sp>
      <p:sp>
        <p:nvSpPr>
          <p:cNvPr id="7" name="Empty strings are valid. Invalid es">
            <a:extLst xmlns:a="http://schemas.openxmlformats.org/drawingml/2006/main">
              <a:ext uri="{FF2B5EF4-FFF2-40B4-BE49-F238E27FC236}">
                <a16:creationId xmlns:a16="http://schemas.microsoft.com/office/drawing/2014/main" id="{818848A4-B2D6-4910-A11D-446E0EE1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Empty strings are valid. Invalid escapes stop compilation.</a:t>
            </a:r>
          </a:p>
        </p:txBody>
      </p:sp>
    </p:spTree>
    <p:extLst>
      <p:ext uri="{BB962C8B-B14F-4D97-AF65-F5344CB8AC3E}">
        <p14:creationId xmlns:p14="http://schemas.microsoft.com/office/powerpoint/2010/main" val="3342519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AC5AB5D1-7B83-483B-9790-4918B522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4ABC225-ACE2-479F-AF6C-9850068F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Successful program demonstration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3D022DDD-351D-49CB-B81C-A401BBDD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65D35767-F295-4D6A-94BF-9B7A5117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C7279-3E76-443B-9786-6B22C847F8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a01e0f18b4bf0"/>
          <a:stretch xmlns:a="http://schemas.openxmlformats.org/drawingml/2006/main"/>
        </p:blipFill>
        <p:spPr>
          <a:xfrm xmlns:a="http://schemas.openxmlformats.org/drawingml/2006/main">
            <a:off x="685800" y="1886121"/>
            <a:ext cx="10820400" cy="39049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77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13C3296C-F9CA-4155-9BCE-AEA0CC9C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254DEB3-3E9D-4CEA-9475-9440EE76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Error detection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CA7EE28D-380E-452C-850D-22A55B1E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0722495B-D980-4620-817B-47C252E1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A87D9-C020-4044-B262-656BFDE71E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ef57a341848c1"/>
          <a:stretch xmlns:a="http://schemas.openxmlformats.org/drawingml/2006/main"/>
        </p:blipFill>
        <p:spPr>
          <a:xfrm xmlns:a="http://schemas.openxmlformats.org/drawingml/2006/main">
            <a:off x="685800" y="2005324"/>
            <a:ext cx="10820400" cy="36569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286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27423E1A-2B0A-42B9-B128-E2D4E6ED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5FF73D5-111B-42D2-A1FE-A646BC2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Testing and scope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AC9E0FC2-3E38-46F3-AD7F-8B6475A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A15C54B4-3FB4-45A5-91B2-35D82BCA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26 automated test methods pass">
            <a:extLst xmlns:a="http://schemas.openxmlformats.org/drawingml/2006/main">
              <a:ext uri="{FF2B5EF4-FFF2-40B4-BE49-F238E27FC236}">
                <a16:creationId xmlns:a16="http://schemas.microsoft.com/office/drawing/2014/main" id="{4A64941A-2F0D-41A2-8AC8-35721C65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26 automated test methods pass</a:t>
            </a:r>
          </a:p>
        </p:txBody>
      </p:sp>
      <p:sp>
        <p:nvSpPr>
          <p:cNvPr id="6" name="Valid programs, error phases, sourc">
            <a:extLst xmlns:a="http://schemas.openxmlformats.org/drawingml/2006/main">
              <a:ext uri="{FF2B5EF4-FFF2-40B4-BE49-F238E27FC236}">
                <a16:creationId xmlns:a16="http://schemas.microsoft.com/office/drawing/2014/main" id="{24C64396-E9A2-47DD-9079-3B809F2F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Valid programs, error phases, source locations,</a:t>
            </a:r>
          </a:p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fixed capacities, file handling and AST export.</a:t>
            </a:r>
          </a:p>
        </p:txBody>
      </p:sp>
      <p:sp>
        <p:nvSpPr>
          <p:cNvPr id="7" name="Scope: one string type and one glob">
            <a:extLst xmlns:a="http://schemas.openxmlformats.org/drawingml/2006/main">
              <a:ext uri="{FF2B5EF4-FFF2-40B4-BE49-F238E27FC236}">
                <a16:creationId xmlns:a16="http://schemas.microsoft.com/office/drawing/2014/main" id="{83994E9F-4EDA-47ED-B185-EBF2F307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Scope: one string type and one global scope.</a:t>
            </a:r>
          </a:p>
          <a:p xmlns:a="http://schemas.openxmlformats.org/drawingml/2006/main">
            <a: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No input, loops, functions or machine-code generation.</a:t>
            </a:r>
          </a:p>
        </p:txBody>
      </p:sp>
    </p:spTree>
    <p:extLst>
      <p:ext uri="{BB962C8B-B14F-4D97-AF65-F5344CB8AC3E}">
        <p14:creationId xmlns:p14="http://schemas.microsoft.com/office/powerpoint/2010/main" val="1156715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ILER DESIGN">
            <a:extLst xmlns:a="http://schemas.openxmlformats.org/drawingml/2006/main">
              <a:ext uri="{FF2B5EF4-FFF2-40B4-BE49-F238E27FC236}">
                <a16:creationId xmlns:a16="http://schemas.microsoft.com/office/drawing/2014/main" id="{16306CF0-CD4A-47B1-A2AA-3707E1E7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A63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6383"/>
                </a:solidFill>
                <a:latin typeface="Arial"/>
                <a:ea typeface="Arial"/>
                <a:cs typeface="Arial"/>
              </a:rPr>
              <a:t>COMPILER DESIGN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CBBD499-FCF1-49F9-96FD-F4F5A63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Individual contributions</a:t>
            </a:r>
          </a:p>
        </p:txBody>
      </p:sp>
      <p:sp>
        <p:nvSpPr>
          <p:cNvPr id="3" name="String Processing Mini Compiler in ">
            <a:extLst xmlns:a="http://schemas.openxmlformats.org/drawingml/2006/main">
              <a:ext uri="{FF2B5EF4-FFF2-40B4-BE49-F238E27FC236}">
                <a16:creationId xmlns:a16="http://schemas.microsoft.com/office/drawing/2014/main" id="{19BFFB85-0CD4-4A1E-918F-7BFFC9F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String Processing Mini Compiler in C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45877D0C-6F15-4D36-95C1-E72F59C1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Names and roll numbers to be comple">
            <a:extLst xmlns:a="http://schemas.openxmlformats.org/drawingml/2006/main">
              <a:ext uri="{FF2B5EF4-FFF2-40B4-BE49-F238E27FC236}">
                <a16:creationId xmlns:a16="http://schemas.microsoft.com/office/drawing/2014/main" id="{C649190C-20E2-4D02-B20C-D73125DC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Names and roll numbers to be completed by the group</a:t>
            </a:r>
          </a:p>
        </p:txBody>
      </p:sp>
      <p:sp>
        <p:nvSpPr>
          <p:cNvPr id="6" name="Member 1   Actual work and evidence">
            <a:extLst xmlns:a="http://schemas.openxmlformats.org/drawingml/2006/main">
              <a:ext uri="{FF2B5EF4-FFF2-40B4-BE49-F238E27FC236}">
                <a16:creationId xmlns:a16="http://schemas.microsoft.com/office/drawing/2014/main" id="{E435A06E-D7A0-4758-9DD4-D5F16C61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Member 1   Actual work and evidence to be entered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Member 2   Actual work and evidence to be entered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Member 3   Actual work and evidence to be entered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Member 4   Actual work and evidence to be entered</a:t>
            </a:r>
          </a:p>
        </p:txBody>
      </p:sp>
      <p:sp>
        <p:nvSpPr>
          <p:cNvPr id="7" name="Adjust the rows to your allotted gr">
            <a:extLst xmlns:a="http://schemas.openxmlformats.org/drawingml/2006/main">
              <a:ext uri="{FF2B5EF4-FFF2-40B4-BE49-F238E27FC236}">
                <a16:creationId xmlns:a16="http://schemas.microsoft.com/office/drawing/2014/main" id="{3DCF059D-BB84-4F55-A381-9FBF65C9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B"/>
                </a:solidFill>
                <a:latin typeface="Arial"/>
                <a:ea typeface="Arial"/>
                <a:cs typeface="Arial"/>
              </a:rPr>
              <a:t>Adjust the rows to your allotted group size.</a:t>
            </a:r>
          </a:p>
        </p:txBody>
      </p:sp>
    </p:spTree>
    <p:extLst>
      <p:ext uri="{BB962C8B-B14F-4D97-AF65-F5344CB8AC3E}">
        <p14:creationId xmlns:p14="http://schemas.microsoft.com/office/powerpoint/2010/main" val="2007508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2026-10-20T08:06:55.5460000Z</dcterms:created>
  <dcterms:modified xsi:type="dcterms:W3CDTF">2026-10-20T08:06:55.5470000Z</dcterms:modified>
</coreProperties>
</file>