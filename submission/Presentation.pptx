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b35b6e72e47473e" /><Relationship Type="http://schemas.openxmlformats.org/officeDocument/2006/relationships/extended-properties" Target="/docProps/app.xml" Id="R5cc6c981b43242a3" /><Relationship Type="http://schemas.openxmlformats.org/officeDocument/2006/relationships/officeDocument" Target="/ppt/presentation.xml" Id="Re150ab0fc97d4e2c" /></Relationships>
</file>

<file path=ppt/presentation.xml><?xml version="1.0" encoding="utf-8"?>
<p:presentation xmlns:p="http://schemas.openxmlformats.org/presentationml/2006/main">
  <p:sldMasterIdLst>
    <p:sldMasterId xmlns:r="http://schemas.openxmlformats.org/officeDocument/2006/relationships" id="2147483648" r:id="Rb92d2e1d86204d03"/>
  </p:sldMasterIdLst>
  <p:notesMasterIdLst>
    <p:notesMasterId xmlns:r="http://schemas.openxmlformats.org/officeDocument/2006/relationships" r:id="Ra014d4a013174d86"/>
  </p:notesMasterIdLst>
  <p:sldIdLst>
    <p:sldId xmlns:r="http://schemas.openxmlformats.org/officeDocument/2006/relationships" id="256" r:id="Rc1301c6f81d2484d"/>
    <p:sldId xmlns:r="http://schemas.openxmlformats.org/officeDocument/2006/relationships" id="257" r:id="R1f5c96ca0c6c44fa"/>
    <p:sldId xmlns:r="http://schemas.openxmlformats.org/officeDocument/2006/relationships" id="258" r:id="R7a9b74d9cd1e426c"/>
    <p:sldId xmlns:r="http://schemas.openxmlformats.org/officeDocument/2006/relationships" id="259" r:id="R2ef09d284a2f47c1"/>
    <p:sldId xmlns:r="http://schemas.openxmlformats.org/officeDocument/2006/relationships" id="260" r:id="R47a910f56c24425a"/>
    <p:sldId xmlns:r="http://schemas.openxmlformats.org/officeDocument/2006/relationships" id="261" r:id="R933946f7113d4430"/>
    <p:sldId xmlns:r="http://schemas.openxmlformats.org/officeDocument/2006/relationships" id="262" r:id="R79ace0a2732146c6"/>
    <p:sldId xmlns:r="http://schemas.openxmlformats.org/officeDocument/2006/relationships" id="263" r:id="R591d9c3901b140a8"/>
    <p:sldId xmlns:r="http://schemas.openxmlformats.org/officeDocument/2006/relationships" id="264" r:id="R09c3f852262f46e3"/>
    <p:sldId xmlns:r="http://schemas.openxmlformats.org/officeDocument/2006/relationships" id="265" r:id="R46d665602a5e4846"/>
    <p:sldId xmlns:r="http://schemas.openxmlformats.org/officeDocument/2006/relationships" id="266" r:id="R178069f1cb2e4e9e"/>
    <p:sldId xmlns:r="http://schemas.openxmlformats.org/officeDocument/2006/relationships" id="267" r:id="Rd018cffb3d044e57"/>
    <p:sldId xmlns:r="http://schemas.openxmlformats.org/officeDocument/2006/relationships" id="268" r:id="Rbf2576b6012640e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9b727883d6f4013" /><Relationship Type="http://schemas.openxmlformats.org/officeDocument/2006/relationships/slideMaster" Target="/ppt/slideMasters/slideMaster1.xml" Id="Rb92d2e1d86204d03" /><Relationship Type="http://schemas.openxmlformats.org/officeDocument/2006/relationships/notesMaster" Target="/ppt/notesMasters/notesMaster1.xml" Id="Ra014d4a013174d86" /><Relationship Type="http://schemas.openxmlformats.org/officeDocument/2006/relationships/presProps" Target="/ppt/presProps.xml" Id="R64e9d1d6cc214c95" /><Relationship Type="http://schemas.openxmlformats.org/officeDocument/2006/relationships/tableStyles" Target="/ppt/tableStyles.xml" Id="R13cfa97e62704112" /><Relationship Type="http://schemas.openxmlformats.org/officeDocument/2006/relationships/slide" Target="/ppt/slides/slide1.xml" Id="Rc1301c6f81d2484d" /><Relationship Type="http://schemas.openxmlformats.org/officeDocument/2006/relationships/slide" Target="/ppt/slides/slide2.xml" Id="R1f5c96ca0c6c44fa" /><Relationship Type="http://schemas.openxmlformats.org/officeDocument/2006/relationships/slide" Target="/ppt/slides/slide3.xml" Id="R7a9b74d9cd1e426c" /><Relationship Type="http://schemas.openxmlformats.org/officeDocument/2006/relationships/slide" Target="/ppt/slides/slide4.xml" Id="R2ef09d284a2f47c1" /><Relationship Type="http://schemas.openxmlformats.org/officeDocument/2006/relationships/slide" Target="/ppt/slides/slide5.xml" Id="R47a910f56c24425a" /><Relationship Type="http://schemas.openxmlformats.org/officeDocument/2006/relationships/slide" Target="/ppt/slides/slide6.xml" Id="R933946f7113d4430" /><Relationship Type="http://schemas.openxmlformats.org/officeDocument/2006/relationships/slide" Target="/ppt/slides/slide7.xml" Id="R79ace0a2732146c6" /><Relationship Type="http://schemas.openxmlformats.org/officeDocument/2006/relationships/slide" Target="/ppt/slides/slide8.xml" Id="R591d9c3901b140a8" /><Relationship Type="http://schemas.openxmlformats.org/officeDocument/2006/relationships/slide" Target="/ppt/slides/slide9.xml" Id="R09c3f852262f46e3" /><Relationship Type="http://schemas.openxmlformats.org/officeDocument/2006/relationships/slide" Target="/ppt/slides/slide10.xml" Id="R46d665602a5e4846" /><Relationship Type="http://schemas.openxmlformats.org/officeDocument/2006/relationships/slide" Target="/ppt/slides/slide11.xml" Id="R178069f1cb2e4e9e" /><Relationship Type="http://schemas.openxmlformats.org/officeDocument/2006/relationships/slide" Target="/ppt/slides/slide12.xml" Id="Rd018cffb3d044e57" /><Relationship Type="http://schemas.openxmlformats.org/officeDocument/2006/relationships/slide" Target="/ppt/slides/slide13.xml" Id="Rbf2576b6012640e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1ae7ef9411c48a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83aca03143f47a3" /><Relationship Type="http://schemas.openxmlformats.org/officeDocument/2006/relationships/notesMaster" Target="/ppt/notesMasters/notesMaster1.xml" Id="Rb92a7dc0d10142ef" /></Relationships>
</file>

<file path=ppt/notesSlides/_rels/notesSlide2.xml.rels>&#65279;<?xml version="1.0" encoding="utf-8"?><Relationships xmlns="http://schemas.openxmlformats.org/package/2006/relationships"><Relationship Type="http://schemas.openxmlformats.org/officeDocument/2006/relationships/slide" Target="/ppt/slides/slide2.xml" Id="R8f3fcfff115d49bd" /><Relationship Type="http://schemas.openxmlformats.org/officeDocument/2006/relationships/notesMaster" Target="/ppt/notesMasters/notesMaster1.xml" Id="R86edb0e3f1b440c9" /></Relationships>
</file>

<file path=ppt/notesSlides/_rels/notesSlide3.xml.rels>&#65279;<?xml version="1.0" encoding="utf-8"?><Relationships xmlns="http://schemas.openxmlformats.org/package/2006/relationships"><Relationship Type="http://schemas.openxmlformats.org/officeDocument/2006/relationships/slide" Target="/ppt/slides/slide3.xml" Id="R982add0d0b524008" /><Relationship Type="http://schemas.openxmlformats.org/officeDocument/2006/relationships/notesMaster" Target="/ppt/notesMasters/notesMaster1.xml" Id="Ref49c537287444d9" /></Relationships>
</file>

<file path=ppt/notesSlides/_rels/notesSlide4.xml.rels>&#65279;<?xml version="1.0" encoding="utf-8"?><Relationships xmlns="http://schemas.openxmlformats.org/package/2006/relationships"><Relationship Type="http://schemas.openxmlformats.org/officeDocument/2006/relationships/slide" Target="/ppt/slides/slide4.xml" Id="R017e7145c6904a50" /><Relationship Type="http://schemas.openxmlformats.org/officeDocument/2006/relationships/notesMaster" Target="/ppt/notesMasters/notesMaster1.xml" Id="R45f751aee85b4b89" /></Relationships>
</file>

<file path=ppt/notesSlides/_rels/notesSlide5.xml.rels>&#65279;<?xml version="1.0" encoding="utf-8"?><Relationships xmlns="http://schemas.openxmlformats.org/package/2006/relationships"><Relationship Type="http://schemas.openxmlformats.org/officeDocument/2006/relationships/slide" Target="/ppt/slides/slide5.xml" Id="R628a52d163634899" /><Relationship Type="http://schemas.openxmlformats.org/officeDocument/2006/relationships/notesMaster" Target="/ppt/notesMasters/notesMaster1.xml" Id="R6ca2cb67484a4f64" /></Relationships>
</file>

<file path=ppt/notesSlides/_rels/notesSlide6.xml.rels>&#65279;<?xml version="1.0" encoding="utf-8"?><Relationships xmlns="http://schemas.openxmlformats.org/package/2006/relationships"><Relationship Type="http://schemas.openxmlformats.org/officeDocument/2006/relationships/slide" Target="/ppt/slides/slide6.xml" Id="R0e96e8eb50bd4beb" /><Relationship Type="http://schemas.openxmlformats.org/officeDocument/2006/relationships/notesMaster" Target="/ppt/notesMasters/notesMaster1.xml" Id="Rb7f67deae0854dbb"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ee0713fda14a38" /><Relationship Type="http://schemas.openxmlformats.org/officeDocument/2006/relationships/notesMaster" Target="/ppt/notesMasters/notesMaster1.xml" Id="R9cf2829bc1144abe" /></Relationships>
</file>

<file path=ppt/notesSlides/_rels/notesSlide8.xml.rels>&#65279;<?xml version="1.0" encoding="utf-8"?><Relationships xmlns="http://schemas.openxmlformats.org/package/2006/relationships"><Relationship Type="http://schemas.openxmlformats.org/officeDocument/2006/relationships/slide" Target="/ppt/slides/slide8.xml" Id="R22aa02a2a010419f" /><Relationship Type="http://schemas.openxmlformats.org/officeDocument/2006/relationships/notesMaster" Target="/ppt/notesMasters/notesMaster1.xml" Id="R42f9f79f84084939" /></Relationships>
</file>

<file path=ppt/notesSlides/_rels/notesSlide9.xml.rels>&#65279;<?xml version="1.0" encoding="utf-8"?><Relationships xmlns="http://schemas.openxmlformats.org/package/2006/relationships"><Relationship Type="http://schemas.openxmlformats.org/officeDocument/2006/relationships/slide" Target="/ppt/slides/slide9.xml" Id="R3e64f41423ef4714" /><Relationship Type="http://schemas.openxmlformats.org/officeDocument/2006/relationships/notesMaster" Target="/ppt/notesMasters/notesMaster1.xml" Id="R78fee74e479b42e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7e66e47ee584785" /><Relationship Type="http://schemas.openxmlformats.org/officeDocument/2006/relationships/notesMaster" Target="/ppt/notesMasters/notesMaster1.xml" Id="Rcc24378cb6b6401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e7aa93fc1774693" /><Relationship Type="http://schemas.openxmlformats.org/officeDocument/2006/relationships/notesMaster" Target="/ppt/notesMasters/notesMaster1.xml" Id="Rf24c353c7f8e4e4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3f7ef5f065744c1" /><Relationship Type="http://schemas.openxmlformats.org/officeDocument/2006/relationships/notesMaster" Target="/ppt/notesMasters/notesMaster1.xml" Id="R64ed0912e276456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814d4dd3ec54b9a" /><Relationship Type="http://schemas.openxmlformats.org/officeDocument/2006/relationships/notesMaster" Target="/ppt/notesMasters/notesMaster1.xml" Id="R808c82234758462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assigned String Processing Language topic. All front-end phases and preview execution run in JavaScript in the browser. Add actual group details before presenting.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examples/hello.str and docs/grammar.md. Identify both declaration forms, assignment, concatenation and print. The program is editable, and output is computed by the language engine.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compiler.js and app.js. The compiler is independent of the UI. compileSource returns tokens, AST, symbols, diagnostics, output and phase states. No backend executes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tokenize() in compiler.js and screenshots/results/02_tokens.json. The browser screenshot displays a portion of the scrollable token table. Explain raw lexemes, decoded literal values and clickable locations.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docs/grammar.md. Remove immediate left recursion from Expr and Program. Factor declarations. The expression parser loop preserves left associativity in the 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examples/ast_demo.str, parse() and the browser AST tab. The tree omits punctuation and grammar helpers. Expand and collapse nodes or download 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analyze() in compiler.js. Symbols use a Map, so prototype-like identifier names are safe. Declarations are inserted uninitialized before their initializer is checked. No preview runs if any check fails.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examples/escapes.str and compiler tests. Decode escapes exactly once. Reject raw line breaks, unsupported escapes, NUL and unterminated literals. Unicode string content remains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actual browser capture screenshots/01_success.png. Edit the source and show stale results becoming invalid until compilation. Use Ctrl or Command plus Enter. Switch through Output, Tokens, AST and Symbols.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actual browser capture and screenshots/results/07_semantic_errors.json. The example collects three semantic errors. Also demonstrate the lexical and syntax error examples. Click a diagnostic location to select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tests/compiler.test.cjs, browser verification and docs/verification.md. There are 29 core tests. Browser checks cover file imports, exports, tabs, examples, AST controls, keyboard navigation, safe text rendering, stale-state handling, mobile and direct file opening.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 opens from index.html with adjacent local files. npm run build is optional and copies files into dist. No installation or backend is needed to run the app. The README cites official static hosting instructions. Download the folder for guaranteed offline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the names, roll numbers, actual work and evidence. The rows are a template, not invented student contributions. Adjust to real group size. Review and understand assistant-prepared materials and follow institutional disclosure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301c13fcab54e8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be849b3c8434d5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af0295a83b0413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7ad96b2cb114d8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9747d2d67614b1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1c2b167deba488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8AE5F1D-9089-4EDE-89E0-059503E06F6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8FFAAF4-3F5B-4558-A7F9-49B7398B26F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086ABFA-82F7-4432-9EF9-2736A1590B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65969D8-BFBB-4C3B-97BC-525BB82A7A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7D40D69-55E1-4611-A066-205482D9C8B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E579AF6-22ED-4EB7-9A8E-EB439F69B3C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C4D92C9-0AF6-46F4-9910-C421C65DF77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306DF19-2C8E-42F5-9D45-62B03E39111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04DC5FF-C25F-4311-9E65-B844F6D735F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D6A4D18-E745-4AFA-B202-F73EB4B648A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582480984904939" /><Relationship Type="http://schemas.openxmlformats.org/officeDocument/2006/relationships/slideLayout" Target="/ppt/slideLayouts/slideLayout1.xml" Id="Rb31971453b954abb" /><Relationship Type="http://schemas.openxmlformats.org/officeDocument/2006/relationships/slideLayout" Target="/ppt/slideLayouts/slideLayout2.xml" Id="Rf4436225083b4332" /><Relationship Type="http://schemas.openxmlformats.org/officeDocument/2006/relationships/slideLayout" Target="/ppt/slideLayouts/slideLayout3.xml" Id="R533048a6a9814c5b" /><Relationship Type="http://schemas.openxmlformats.org/officeDocument/2006/relationships/slideLayout" Target="/ppt/slideLayouts/slideLayout4.xml" Id="R49d3e3f618e7414f" /><Relationship Type="http://schemas.openxmlformats.org/officeDocument/2006/relationships/slideLayout" Target="/ppt/slideLayouts/slideLayout5.xml" Id="R6cc686ab6f3c486a" /><Relationship Type="http://schemas.openxmlformats.org/officeDocument/2006/relationships/slideLayout" Target="/ppt/slideLayouts/slideLayout6.xml" Id="R458d5950ef0b496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1971453b954abb"/>
    <p:sldLayoutId xmlns:r="http://schemas.openxmlformats.org/officeDocument/2006/relationships" id="2147483650" r:id="Rf4436225083b4332"/>
    <p:sldLayoutId xmlns:r="http://schemas.openxmlformats.org/officeDocument/2006/relationships" id="2147483651" r:id="R533048a6a9814c5b"/>
    <p:sldLayoutId xmlns:r="http://schemas.openxmlformats.org/officeDocument/2006/relationships" id="2147483652" r:id="R49d3e3f618e7414f"/>
    <p:sldLayoutId xmlns:r="http://schemas.openxmlformats.org/officeDocument/2006/relationships" id="2147483653" r:id="R6cc686ab6f3c486a"/>
    <p:sldLayoutId xmlns:r="http://schemas.openxmlformats.org/officeDocument/2006/relationships" id="2147483654" r:id="R458d5950ef0b496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07cc413d6c14a25" /><Relationship Type="http://schemas.openxmlformats.org/officeDocument/2006/relationships/notesSlide" Target="/ppt/notesSlides/notesSlide1.xml" Id="R11e51254a039420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ed354638ae441ec" /><Relationship Type="http://schemas.openxmlformats.org/officeDocument/2006/relationships/notesSlide" Target="/ppt/notesSlides/notesSlide2.xml" Id="R8911b8bcabff480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caaf06d0f8d4808" /><Relationship Type="http://schemas.openxmlformats.org/officeDocument/2006/relationships/notesSlide" Target="/ppt/notesSlides/notesSlide3.xml" Id="R59810794d73b4d2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0fcc1f10a1048aa" /><Relationship Type="http://schemas.openxmlformats.org/officeDocument/2006/relationships/image" Target="/ppt/media/image.png" Id="R07ac1001c84743d9" /><Relationship Type="http://schemas.openxmlformats.org/officeDocument/2006/relationships/notesSlide" Target="/ppt/notesSlides/notesSlide4.xml" Id="Rdc3a949ea2f2443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8fad5c01a564f72" /><Relationship Type="http://schemas.openxmlformats.org/officeDocument/2006/relationships/notesSlide" Target="/ppt/notesSlides/notesSlide5.xml" Id="R01506f2ea2d348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2835924b4b742b6" /><Relationship Type="http://schemas.openxmlformats.org/officeDocument/2006/relationships/image" Target="/ppt/media/image2.png" Id="R4935194003ca4b47" /><Relationship Type="http://schemas.openxmlformats.org/officeDocument/2006/relationships/notesSlide" Target="/ppt/notesSlides/notesSlide6.xml" Id="R7982b20390434d2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6c07dda4be34ebe" /><Relationship Type="http://schemas.openxmlformats.org/officeDocument/2006/relationships/notesSlide" Target="/ppt/notesSlides/notesSlide7.xml" Id="R3ae680277b9d47c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000449fb29943a5" /><Relationship Type="http://schemas.openxmlformats.org/officeDocument/2006/relationships/notesSlide" Target="/ppt/notesSlides/notesSlide8.xml" Id="R9fc4bc710e72436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fa08fde70a04f70" /><Relationship Type="http://schemas.openxmlformats.org/officeDocument/2006/relationships/image" Target="/ppt/media/image3.png" Id="R27f940736b214fa7" /><Relationship Type="http://schemas.openxmlformats.org/officeDocument/2006/relationships/notesSlide" Target="/ppt/notesSlides/notesSlide9.xml" Id="R4e9e3530ba2c47e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0a5c67e90184a33" /><Relationship Type="http://schemas.openxmlformats.org/officeDocument/2006/relationships/image" Target="/ppt/media/image4.png" Id="Ra18797d17191478c" /><Relationship Type="http://schemas.openxmlformats.org/officeDocument/2006/relationships/notesSlide" Target="/ppt/notesSlides/notesSlide10.xml" Id="Rfe2fc27a82b848e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0eb0bfe83c348cb" /><Relationship Type="http://schemas.openxmlformats.org/officeDocument/2006/relationships/notesSlide" Target="/ppt/notesSlides/notesSlide11.xml" Id="Rffbf7e4d40284da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aac149774bd482f" /><Relationship Type="http://schemas.openxmlformats.org/officeDocument/2006/relationships/notesSlide" Target="/ppt/notesSlides/notesSlide12.xml" Id="Rd7478cd55b1e4ca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580f29fa8b24c7f" /><Relationship Type="http://schemas.openxmlformats.org/officeDocument/2006/relationships/notesSlide" Target="/ppt/notesSlides/notesSlide13.xml" Id="R1645c7ac029042f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MPILER DESIGN">
            <a:extLst xmlns:a="http://schemas.openxmlformats.org/drawingml/2006/main">
              <a:ext uri="{FF2B5EF4-FFF2-40B4-BE49-F238E27FC236}">
                <a16:creationId xmlns:a16="http://schemas.microsoft.com/office/drawing/2014/main" id="{3BFD47E0-5E34-4988-B587-977B55D0F7A2}"/>
              </a:ext>
            </a:extLst>
          </p:cNvPr>
          <p:cNvSpPr>
            <a:spLocks xmlns:a="http://schemas.openxmlformats.org/drawingml/2006/main" noGrp="1"/>
          </p:cNvSpPr>
          <p:nvPr/>
        </p:nvSpPr>
        <p:spPr>
          <a:xfrm xmlns:a="http://schemas.openxmlformats.org/drawingml/2006/main">
            <a:off x="685800" y="2857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DF6948"/>
                </a:solidFill>
                <a:latin typeface="Arial"/>
                <a:ea typeface="Arial"/>
                <a:cs typeface="Arial"/>
              </a:defRPr>
            </a:defPPr>
            <a:lvl1pPr>
              <a:defRPr sz="1125" b="1">
                <a:solidFill>
                  <a:srgbClr val="DF6948"/>
                </a:solidFill>
                <a:latin typeface="Arial"/>
                <a:ea typeface="Arial"/>
                <a:cs typeface="Arial"/>
              </a:defRPr>
            </a:lvl1pPr>
            <a:lvl2pPr>
              <a:defRPr sz="1125" b="1">
                <a:solidFill>
                  <a:srgbClr val="DF6948"/>
                </a:solidFill>
                <a:latin typeface="Arial"/>
                <a:ea typeface="Arial"/>
                <a:cs typeface="Arial"/>
              </a:defRPr>
            </a:lvl2pPr>
            <a:lvl3pPr>
              <a:defRPr sz="1125" b="1">
                <a:solidFill>
                  <a:srgbClr val="DF6948"/>
                </a:solidFill>
                <a:latin typeface="Arial"/>
                <a:ea typeface="Arial"/>
                <a:cs typeface="Arial"/>
              </a:defRPr>
            </a:lvl3pPr>
            <a:lvl4pPr>
              <a:defRPr sz="1125" b="1">
                <a:solidFill>
                  <a:srgbClr val="DF6948"/>
                </a:solidFill>
                <a:latin typeface="Arial"/>
                <a:ea typeface="Arial"/>
                <a:cs typeface="Arial"/>
              </a:defRPr>
            </a:lvl4pPr>
            <a:lvl5pPr>
              <a:defRPr sz="1125" b="1">
                <a:solidFill>
                  <a:srgbClr val="DF6948"/>
                </a:solidFill>
                <a:latin typeface="Arial"/>
                <a:ea typeface="Arial"/>
                <a:cs typeface="Arial"/>
              </a:defRPr>
            </a:lvl5pPr>
            <a:lvl6pPr>
              <a:defRPr sz="1125" b="1">
                <a:solidFill>
                  <a:srgbClr val="DF6948"/>
                </a:solidFill>
                <a:latin typeface="Arial"/>
                <a:ea typeface="Arial"/>
                <a:cs typeface="Arial"/>
              </a:defRPr>
            </a:lvl6pPr>
            <a:lvl7pPr>
              <a:defRPr sz="1125" b="1">
                <a:solidFill>
                  <a:srgbClr val="DF6948"/>
                </a:solidFill>
                <a:latin typeface="Arial"/>
                <a:ea typeface="Arial"/>
                <a:cs typeface="Arial"/>
              </a:defRPr>
            </a:lvl7pPr>
            <a:lvl8pPr>
              <a:defRPr sz="1125" b="1">
                <a:solidFill>
                  <a:srgbClr val="DF6948"/>
                </a:solidFill>
                <a:latin typeface="Arial"/>
                <a:ea typeface="Arial"/>
                <a:cs typeface="Arial"/>
              </a:defRPr>
            </a:lvl8pPr>
            <a:lvl9pPr>
              <a:defRPr sz="1125" b="1">
                <a:solidFill>
                  <a:srgbClr val="DF6948"/>
                </a:solidFill>
                <a:latin typeface="Arial"/>
                <a:ea typeface="Arial"/>
                <a:cs typeface="Arial"/>
              </a:defRPr>
            </a:lvl9pPr>
          </a:lstStyle>
          <a:p xmlns:a="http://schemas.openxmlformats.org/drawingml/2006/main">
            <a:pPr>
              <a:defRPr sz="1125" b="1">
                <a:solidFill>
                  <a:srgbClr val="DF6948"/>
                </a:solidFill>
                <a:latin typeface="Arial"/>
                <a:ea typeface="Arial"/>
                <a:cs typeface="Arial"/>
              </a:defRPr>
            </a:pPr>
            <a:r>
              <a:rPr sz="1125" b="1">
                <a:solidFill>
                  <a:srgbClr val="DF6948"/>
                </a:solidFill>
                <a:latin typeface="Arial"/>
                <a:ea typeface="Arial"/>
                <a:cs typeface="Arial"/>
              </a:rPr>
              <a:t>COMPILER DESIGN</a:t>
            </a:r>
          </a:p>
        </p:txBody>
      </p:sp>
      <p:sp>
        <p:nvSpPr>
          <p:cNvPr id="2" name="Slide title">
            <a:extLst xmlns:a="http://schemas.openxmlformats.org/drawingml/2006/main">
              <a:ext uri="{FF2B5EF4-FFF2-40B4-BE49-F238E27FC236}">
                <a16:creationId xmlns:a16="http://schemas.microsoft.com/office/drawing/2014/main" id="{436BD0D8-E68C-428A-B3CD-1EE8F874D725}"/>
              </a:ext>
            </a:extLst>
          </p:cNvPr>
          <p:cNvSpPr>
            <a:spLocks xmlns:a="http://schemas.openxmlformats.org/drawingml/2006/main" noGrp="1"/>
          </p:cNvSpPr>
          <p:nvPr/>
        </p:nvSpPr>
        <p:spPr>
          <a:xfrm xmlns:a="http://schemas.openxmlformats.org/drawingml/2006/main">
            <a:off x="685800" y="7620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42B43"/>
                </a:solidFill>
                <a:latin typeface="Arial"/>
                <a:ea typeface="Arial"/>
                <a:cs typeface="Arial"/>
              </a:defRPr>
            </a:defPPr>
            <a:lvl1pPr>
              <a:defRPr sz="3450" b="1">
                <a:solidFill>
                  <a:srgbClr val="142B43"/>
                </a:solidFill>
                <a:latin typeface="Arial"/>
                <a:ea typeface="Arial"/>
                <a:cs typeface="Arial"/>
              </a:defRPr>
            </a:lvl1pPr>
            <a:lvl2pPr>
              <a:defRPr sz="3450" b="1">
                <a:solidFill>
                  <a:srgbClr val="142B43"/>
                </a:solidFill>
                <a:latin typeface="Arial"/>
                <a:ea typeface="Arial"/>
                <a:cs typeface="Arial"/>
              </a:defRPr>
            </a:lvl2pPr>
            <a:lvl3pPr>
              <a:defRPr sz="3450" b="1">
                <a:solidFill>
                  <a:srgbClr val="142B43"/>
                </a:solidFill>
                <a:latin typeface="Arial"/>
                <a:ea typeface="Arial"/>
                <a:cs typeface="Arial"/>
              </a:defRPr>
            </a:lvl3pPr>
            <a:lvl4pPr>
              <a:defRPr sz="3450" b="1">
                <a:solidFill>
                  <a:srgbClr val="142B43"/>
                </a:solidFill>
                <a:latin typeface="Arial"/>
                <a:ea typeface="Arial"/>
                <a:cs typeface="Arial"/>
              </a:defRPr>
            </a:lvl4pPr>
            <a:lvl5pPr>
              <a:defRPr sz="3450" b="1">
                <a:solidFill>
                  <a:srgbClr val="142B43"/>
                </a:solidFill>
                <a:latin typeface="Arial"/>
                <a:ea typeface="Arial"/>
                <a:cs typeface="Arial"/>
              </a:defRPr>
            </a:lvl5pPr>
            <a:lvl6pPr>
              <a:defRPr sz="3450" b="1">
                <a:solidFill>
                  <a:srgbClr val="142B43"/>
                </a:solidFill>
                <a:latin typeface="Arial"/>
                <a:ea typeface="Arial"/>
                <a:cs typeface="Arial"/>
              </a:defRPr>
            </a:lvl6pPr>
            <a:lvl7pPr>
              <a:defRPr sz="3450" b="1">
                <a:solidFill>
                  <a:srgbClr val="142B43"/>
                </a:solidFill>
                <a:latin typeface="Arial"/>
                <a:ea typeface="Arial"/>
                <a:cs typeface="Arial"/>
              </a:defRPr>
            </a:lvl7pPr>
            <a:lvl8pPr>
              <a:defRPr sz="3450" b="1">
                <a:solidFill>
                  <a:srgbClr val="142B43"/>
                </a:solidFill>
                <a:latin typeface="Arial"/>
                <a:ea typeface="Arial"/>
                <a:cs typeface="Arial"/>
              </a:defRPr>
            </a:lvl8pPr>
            <a:lvl9pPr>
              <a:defRPr sz="3450" b="1">
                <a:solidFill>
                  <a:srgbClr val="142B43"/>
                </a:solidFill>
                <a:latin typeface="Arial"/>
                <a:ea typeface="Arial"/>
                <a:cs typeface="Arial"/>
              </a:defRPr>
            </a:lvl9pPr>
          </a:lstStyle>
          <a:p xmlns:a="http://schemas.openxmlformats.org/drawingml/2006/main">
            <a:pPr>
              <a:defRPr sz="3450" b="1">
                <a:solidFill>
                  <a:srgbClr val="142B43"/>
                </a:solidFill>
                <a:latin typeface="Arial"/>
                <a:ea typeface="Arial"/>
                <a:cs typeface="Arial"/>
              </a:defRPr>
            </a:pPr>
            <a:r>
              <a:rPr sz="3450" b="1">
                <a:solidFill>
                  <a:srgbClr val="142B43"/>
                </a:solidFill>
                <a:latin typeface="Arial"/>
                <a:ea typeface="Arial"/>
                <a:cs typeface="Arial"/>
              </a:rPr>
              <a:t>StringLab</a:t>
            </a:r>
          </a:p>
        </p:txBody>
      </p:sp>
      <p:sp>
        <p:nvSpPr>
          <p:cNvPr id="3" name="StringLab Browser Compiler Front En">
            <a:extLst xmlns:a="http://schemas.openxmlformats.org/drawingml/2006/main">
              <a:ext uri="{FF2B5EF4-FFF2-40B4-BE49-F238E27FC236}">
                <a16:creationId xmlns:a16="http://schemas.microsoft.com/office/drawing/2014/main" id="{7DE169B0-8963-4604-8F93-8E4DB14AF6B4}"/>
              </a:ext>
            </a:extLst>
          </p:cNvPr>
          <p:cNvSpPr>
            <a:spLocks xmlns:a="http://schemas.openxmlformats.org/drawingml/2006/main" noGrp="1"/>
          </p:cNvSpPr>
          <p:nvPr/>
        </p:nvSpPr>
        <p:spPr>
          <a:xfrm xmlns:a="http://schemas.openxmlformats.org/drawingml/2006/main">
            <a:off x="685800" y="64008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StringLab Browser Compiler Front End</a:t>
            </a:r>
          </a:p>
        </p:txBody>
      </p:sp>
      <p:sp>
        <p:nvSpPr>
          <p:cNvPr id="4" name="01">
            <a:extLst xmlns:a="http://schemas.openxmlformats.org/drawingml/2006/main">
              <a:ext uri="{FF2B5EF4-FFF2-40B4-BE49-F238E27FC236}">
                <a16:creationId xmlns:a16="http://schemas.microsoft.com/office/drawing/2014/main" id="{5E669A9C-FAD1-410D-BD37-7D53183D159D}"/>
              </a:ext>
            </a:extLst>
          </p:cNvPr>
          <p:cNvSpPr>
            <a:spLocks xmlns:a="http://schemas.openxmlformats.org/drawingml/2006/main" noGrp="1"/>
          </p:cNvSpPr>
          <p:nvPr/>
        </p:nvSpPr>
        <p:spPr>
          <a:xfrm xmlns:a="http://schemas.openxmlformats.org/drawingml/2006/main">
            <a:off x="11001375" y="6400800"/>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01</a:t>
            </a:r>
          </a:p>
        </p:txBody>
      </p:sp>
      <p:sp>
        <p:nvSpPr>
          <p:cNvPr id="5" name="A compiler front end&#10;in your browse">
            <a:extLst xmlns:a="http://schemas.openxmlformats.org/drawingml/2006/main">
              <a:ext uri="{FF2B5EF4-FFF2-40B4-BE49-F238E27FC236}">
                <a16:creationId xmlns:a16="http://schemas.microsoft.com/office/drawing/2014/main" id="{36578BBA-68B6-48D9-A8CC-D8C69CD20C5E}"/>
              </a:ext>
            </a:extLst>
          </p:cNvPr>
          <p:cNvSpPr>
            <a:spLocks xmlns:a="http://schemas.openxmlformats.org/drawingml/2006/main" noGrp="1"/>
          </p:cNvSpPr>
          <p:nvPr/>
        </p:nvSpPr>
        <p:spPr>
          <a:xfrm xmlns:a="http://schemas.openxmlformats.org/drawingml/2006/main">
            <a:off x="685800" y="2114550"/>
            <a:ext cx="108204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142B43"/>
                </a:solidFill>
                <a:latin typeface="Arial"/>
                <a:ea typeface="Arial"/>
                <a:cs typeface="Arial"/>
              </a:defRPr>
            </a:defPPr>
            <a:lvl1pPr>
              <a:defRPr sz="4350" b="1">
                <a:solidFill>
                  <a:srgbClr val="142B43"/>
                </a:solidFill>
                <a:latin typeface="Arial"/>
                <a:ea typeface="Arial"/>
                <a:cs typeface="Arial"/>
              </a:defRPr>
            </a:lvl1pPr>
            <a:lvl2pPr>
              <a:defRPr sz="4350" b="1">
                <a:solidFill>
                  <a:srgbClr val="142B43"/>
                </a:solidFill>
                <a:latin typeface="Arial"/>
                <a:ea typeface="Arial"/>
                <a:cs typeface="Arial"/>
              </a:defRPr>
            </a:lvl2pPr>
            <a:lvl3pPr>
              <a:defRPr sz="4350" b="1">
                <a:solidFill>
                  <a:srgbClr val="142B43"/>
                </a:solidFill>
                <a:latin typeface="Arial"/>
                <a:ea typeface="Arial"/>
                <a:cs typeface="Arial"/>
              </a:defRPr>
            </a:lvl3pPr>
            <a:lvl4pPr>
              <a:defRPr sz="4350" b="1">
                <a:solidFill>
                  <a:srgbClr val="142B43"/>
                </a:solidFill>
                <a:latin typeface="Arial"/>
                <a:ea typeface="Arial"/>
                <a:cs typeface="Arial"/>
              </a:defRPr>
            </a:lvl4pPr>
            <a:lvl5pPr>
              <a:defRPr sz="4350" b="1">
                <a:solidFill>
                  <a:srgbClr val="142B43"/>
                </a:solidFill>
                <a:latin typeface="Arial"/>
                <a:ea typeface="Arial"/>
                <a:cs typeface="Arial"/>
              </a:defRPr>
            </a:lvl5pPr>
            <a:lvl6pPr>
              <a:defRPr sz="4350" b="1">
                <a:solidFill>
                  <a:srgbClr val="142B43"/>
                </a:solidFill>
                <a:latin typeface="Arial"/>
                <a:ea typeface="Arial"/>
                <a:cs typeface="Arial"/>
              </a:defRPr>
            </a:lvl6pPr>
            <a:lvl7pPr>
              <a:defRPr sz="4350" b="1">
                <a:solidFill>
                  <a:srgbClr val="142B43"/>
                </a:solidFill>
                <a:latin typeface="Arial"/>
                <a:ea typeface="Arial"/>
                <a:cs typeface="Arial"/>
              </a:defRPr>
            </a:lvl7pPr>
            <a:lvl8pPr>
              <a:defRPr sz="4350" b="1">
                <a:solidFill>
                  <a:srgbClr val="142B43"/>
                </a:solidFill>
                <a:latin typeface="Arial"/>
                <a:ea typeface="Arial"/>
                <a:cs typeface="Arial"/>
              </a:defRPr>
            </a:lvl8pPr>
            <a:lvl9pPr>
              <a:defRPr sz="4350" b="1">
                <a:solidFill>
                  <a:srgbClr val="142B43"/>
                </a:solidFill>
                <a:latin typeface="Arial"/>
                <a:ea typeface="Arial"/>
                <a:cs typeface="Arial"/>
              </a:defRPr>
            </a:lvl9pPr>
          </a:lstStyle>
          <a:p xmlns:a="http://schemas.openxmlformats.org/drawingml/2006/main">
            <a:pPr>
              <a:defRPr sz="4350" b="1">
                <a:solidFill>
                  <a:srgbClr val="142B43"/>
                </a:solidFill>
                <a:latin typeface="Arial"/>
                <a:ea typeface="Arial"/>
                <a:cs typeface="Arial"/>
              </a:defRPr>
            </a:pPr>
            <a:r>
              <a:rPr sz="4350" b="1">
                <a:solidFill>
                  <a:srgbClr val="142B43"/>
                </a:solidFill>
                <a:latin typeface="Arial"/>
                <a:ea typeface="Arial"/>
                <a:cs typeface="Arial"/>
              </a:rPr>
              <a:t>A compiler front end</a:t>
            </a:r>
          </a:p>
          <a:p xmlns:a="http://schemas.openxmlformats.org/drawingml/2006/main">
            <a:pPr>
              <a:defRPr sz="4350" b="1">
                <a:solidFill>
                  <a:srgbClr val="142B43"/>
                </a:solidFill>
                <a:latin typeface="Arial"/>
                <a:ea typeface="Arial"/>
                <a:cs typeface="Arial"/>
              </a:defRPr>
            </a:pPr>
            <a:r>
              <a:rPr sz="4350" b="1">
                <a:solidFill>
                  <a:srgbClr val="142B43"/>
                </a:solidFill>
                <a:latin typeface="Arial"/>
                <a:ea typeface="Arial"/>
                <a:cs typeface="Arial"/>
              </a:rPr>
              <a:t>in your browser</a:t>
            </a:r>
          </a:p>
        </p:txBody>
      </p:sp>
      <p:sp>
        <p:nvSpPr>
          <p:cNvPr id="6" name="String Processing Language">
            <a:extLst xmlns:a="http://schemas.openxmlformats.org/drawingml/2006/main">
              <a:ext uri="{FF2B5EF4-FFF2-40B4-BE49-F238E27FC236}">
                <a16:creationId xmlns:a16="http://schemas.microsoft.com/office/drawing/2014/main" id="{940BD767-5CE6-422B-BC28-C483BF55507C}"/>
              </a:ext>
            </a:extLst>
          </p:cNvPr>
          <p:cNvSpPr>
            <a:spLocks xmlns:a="http://schemas.openxmlformats.org/drawingml/2006/main" noGrp="1"/>
          </p:cNvSpPr>
          <p:nvPr/>
        </p:nvSpPr>
        <p:spPr>
          <a:xfrm xmlns:a="http://schemas.openxmlformats.org/drawingml/2006/main">
            <a:off x="723900" y="406717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52667B"/>
                </a:solidFill>
                <a:latin typeface="Arial"/>
                <a:ea typeface="Arial"/>
                <a:cs typeface="Arial"/>
              </a:defRPr>
            </a:defPPr>
            <a:lvl1pPr>
              <a:defRPr sz="2325" b="0">
                <a:solidFill>
                  <a:srgbClr val="52667B"/>
                </a:solidFill>
                <a:latin typeface="Arial"/>
                <a:ea typeface="Arial"/>
                <a:cs typeface="Arial"/>
              </a:defRPr>
            </a:lvl1pPr>
            <a:lvl2pPr>
              <a:defRPr sz="2325" b="0">
                <a:solidFill>
                  <a:srgbClr val="52667B"/>
                </a:solidFill>
                <a:latin typeface="Arial"/>
                <a:ea typeface="Arial"/>
                <a:cs typeface="Arial"/>
              </a:defRPr>
            </a:lvl2pPr>
            <a:lvl3pPr>
              <a:defRPr sz="2325" b="0">
                <a:solidFill>
                  <a:srgbClr val="52667B"/>
                </a:solidFill>
                <a:latin typeface="Arial"/>
                <a:ea typeface="Arial"/>
                <a:cs typeface="Arial"/>
              </a:defRPr>
            </a:lvl3pPr>
            <a:lvl4pPr>
              <a:defRPr sz="2325" b="0">
                <a:solidFill>
                  <a:srgbClr val="52667B"/>
                </a:solidFill>
                <a:latin typeface="Arial"/>
                <a:ea typeface="Arial"/>
                <a:cs typeface="Arial"/>
              </a:defRPr>
            </a:lvl4pPr>
            <a:lvl5pPr>
              <a:defRPr sz="2325" b="0">
                <a:solidFill>
                  <a:srgbClr val="52667B"/>
                </a:solidFill>
                <a:latin typeface="Arial"/>
                <a:ea typeface="Arial"/>
                <a:cs typeface="Arial"/>
              </a:defRPr>
            </a:lvl5pPr>
            <a:lvl6pPr>
              <a:defRPr sz="2325" b="0">
                <a:solidFill>
                  <a:srgbClr val="52667B"/>
                </a:solidFill>
                <a:latin typeface="Arial"/>
                <a:ea typeface="Arial"/>
                <a:cs typeface="Arial"/>
              </a:defRPr>
            </a:lvl6pPr>
            <a:lvl7pPr>
              <a:defRPr sz="2325" b="0">
                <a:solidFill>
                  <a:srgbClr val="52667B"/>
                </a:solidFill>
                <a:latin typeface="Arial"/>
                <a:ea typeface="Arial"/>
                <a:cs typeface="Arial"/>
              </a:defRPr>
            </a:lvl7pPr>
            <a:lvl8pPr>
              <a:defRPr sz="2325" b="0">
                <a:solidFill>
                  <a:srgbClr val="52667B"/>
                </a:solidFill>
                <a:latin typeface="Arial"/>
                <a:ea typeface="Arial"/>
                <a:cs typeface="Arial"/>
              </a:defRPr>
            </a:lvl8pPr>
            <a:lvl9pPr>
              <a:defRPr sz="2325" b="0">
                <a:solidFill>
                  <a:srgbClr val="52667B"/>
                </a:solidFill>
                <a:latin typeface="Arial"/>
                <a:ea typeface="Arial"/>
                <a:cs typeface="Arial"/>
              </a:defRPr>
            </a:lvl9pPr>
          </a:lstStyle>
          <a:p xmlns:a="http://schemas.openxmlformats.org/drawingml/2006/main">
            <a:pPr>
              <a:defRPr sz="2325" b="0">
                <a:solidFill>
                  <a:srgbClr val="52667B"/>
                </a:solidFill>
                <a:latin typeface="Arial"/>
                <a:ea typeface="Arial"/>
                <a:cs typeface="Arial"/>
              </a:defRPr>
            </a:pPr>
            <a:r>
              <a:rPr sz="2325" b="0">
                <a:solidFill>
                  <a:srgbClr val="52667B"/>
                </a:solidFill>
                <a:latin typeface="Arial"/>
                <a:ea typeface="Arial"/>
                <a:cs typeface="Arial"/>
              </a:rPr>
              <a:t>String Processing Language</a:t>
            </a:r>
          </a:p>
        </p:txBody>
      </p:sp>
      <p:sp>
        <p:nvSpPr>
          <p:cNvPr id="7" name="Presentation and demonstration   23">
            <a:extLst xmlns:a="http://schemas.openxmlformats.org/drawingml/2006/main">
              <a:ext uri="{FF2B5EF4-FFF2-40B4-BE49-F238E27FC236}">
                <a16:creationId xmlns:a16="http://schemas.microsoft.com/office/drawing/2014/main" id="{44AFDEA4-0E41-4EC6-87A8-24B314C5C165}"/>
              </a:ext>
            </a:extLst>
          </p:cNvPr>
          <p:cNvSpPr>
            <a:spLocks xmlns:a="http://schemas.openxmlformats.org/drawingml/2006/main" noGrp="1"/>
          </p:cNvSpPr>
          <p:nvPr/>
        </p:nvSpPr>
        <p:spPr>
          <a:xfrm xmlns:a="http://schemas.openxmlformats.org/drawingml/2006/main">
            <a:off x="723900" y="48577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B43"/>
                </a:solidFill>
                <a:latin typeface="Arial"/>
                <a:ea typeface="Arial"/>
                <a:cs typeface="Arial"/>
              </a:defRPr>
            </a:defPPr>
            <a:lvl1pPr>
              <a:defRPr sz="2025" b="0">
                <a:solidFill>
                  <a:srgbClr val="142B43"/>
                </a:solidFill>
                <a:latin typeface="Arial"/>
                <a:ea typeface="Arial"/>
                <a:cs typeface="Arial"/>
              </a:defRPr>
            </a:lvl1pPr>
            <a:lvl2pPr>
              <a:defRPr sz="2025" b="0">
                <a:solidFill>
                  <a:srgbClr val="142B43"/>
                </a:solidFill>
                <a:latin typeface="Arial"/>
                <a:ea typeface="Arial"/>
                <a:cs typeface="Arial"/>
              </a:defRPr>
            </a:lvl2pPr>
            <a:lvl3pPr>
              <a:defRPr sz="2025" b="0">
                <a:solidFill>
                  <a:srgbClr val="142B43"/>
                </a:solidFill>
                <a:latin typeface="Arial"/>
                <a:ea typeface="Arial"/>
                <a:cs typeface="Arial"/>
              </a:defRPr>
            </a:lvl3pPr>
            <a:lvl4pPr>
              <a:defRPr sz="2025" b="0">
                <a:solidFill>
                  <a:srgbClr val="142B43"/>
                </a:solidFill>
                <a:latin typeface="Arial"/>
                <a:ea typeface="Arial"/>
                <a:cs typeface="Arial"/>
              </a:defRPr>
            </a:lvl4pPr>
            <a:lvl5pPr>
              <a:defRPr sz="2025" b="0">
                <a:solidFill>
                  <a:srgbClr val="142B43"/>
                </a:solidFill>
                <a:latin typeface="Arial"/>
                <a:ea typeface="Arial"/>
                <a:cs typeface="Arial"/>
              </a:defRPr>
            </a:lvl5pPr>
            <a:lvl6pPr>
              <a:defRPr sz="2025" b="0">
                <a:solidFill>
                  <a:srgbClr val="142B43"/>
                </a:solidFill>
                <a:latin typeface="Arial"/>
                <a:ea typeface="Arial"/>
                <a:cs typeface="Arial"/>
              </a:defRPr>
            </a:lvl6pPr>
            <a:lvl7pPr>
              <a:defRPr sz="2025" b="0">
                <a:solidFill>
                  <a:srgbClr val="142B43"/>
                </a:solidFill>
                <a:latin typeface="Arial"/>
                <a:ea typeface="Arial"/>
                <a:cs typeface="Arial"/>
              </a:defRPr>
            </a:lvl7pPr>
            <a:lvl8pPr>
              <a:defRPr sz="2025" b="0">
                <a:solidFill>
                  <a:srgbClr val="142B43"/>
                </a:solidFill>
                <a:latin typeface="Arial"/>
                <a:ea typeface="Arial"/>
                <a:cs typeface="Arial"/>
              </a:defRPr>
            </a:lvl8pPr>
            <a:lvl9pPr>
              <a:defRPr sz="2025" b="0">
                <a:solidFill>
                  <a:srgbClr val="142B43"/>
                </a:solidFill>
                <a:latin typeface="Arial"/>
                <a:ea typeface="Arial"/>
                <a:cs typeface="Arial"/>
              </a:defRPr>
            </a:lvl9pPr>
          </a:lstStyle>
          <a:p xmlns:a="http://schemas.openxmlformats.org/drawingml/2006/main">
            <a:pPr>
              <a:defRPr sz="2025" b="0">
                <a:solidFill>
                  <a:srgbClr val="142B43"/>
                </a:solidFill>
                <a:latin typeface="Arial"/>
                <a:ea typeface="Arial"/>
                <a:cs typeface="Arial"/>
              </a:defRPr>
            </a:pPr>
            <a:r>
              <a:rPr sz="2025" b="0">
                <a:solidFill>
                  <a:srgbClr val="142B43"/>
                </a:solidFill>
                <a:latin typeface="Arial"/>
                <a:ea typeface="Arial"/>
                <a:cs typeface="Arial"/>
              </a:rPr>
              <a:t>Presentation and demonstration   23 October 2026</a:t>
            </a:r>
          </a:p>
        </p:txBody>
      </p:sp>
      <p:sp>
        <p:nvSpPr>
          <p:cNvPr id="8" name="Group names and roll numbers to be ">
            <a:extLst xmlns:a="http://schemas.openxmlformats.org/drawingml/2006/main">
              <a:ext uri="{FF2B5EF4-FFF2-40B4-BE49-F238E27FC236}">
                <a16:creationId xmlns:a16="http://schemas.microsoft.com/office/drawing/2014/main" id="{3EF1C469-3AA9-444C-9E9B-43E9A5F5A404}"/>
              </a:ext>
            </a:extLst>
          </p:cNvPr>
          <p:cNvSpPr>
            <a:spLocks xmlns:a="http://schemas.openxmlformats.org/drawingml/2006/main" noGrp="1"/>
          </p:cNvSpPr>
          <p:nvPr/>
        </p:nvSpPr>
        <p:spPr>
          <a:xfrm xmlns:a="http://schemas.openxmlformats.org/drawingml/2006/main">
            <a:off x="723900" y="55721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52667B"/>
                </a:solidFill>
                <a:latin typeface="Arial"/>
                <a:ea typeface="Arial"/>
                <a:cs typeface="Arial"/>
              </a:defRPr>
            </a:defPPr>
            <a:lvl1pPr>
              <a:defRPr sz="1650" b="0">
                <a:solidFill>
                  <a:srgbClr val="52667B"/>
                </a:solidFill>
                <a:latin typeface="Arial"/>
                <a:ea typeface="Arial"/>
                <a:cs typeface="Arial"/>
              </a:defRPr>
            </a:lvl1pPr>
            <a:lvl2pPr>
              <a:defRPr sz="1650" b="0">
                <a:solidFill>
                  <a:srgbClr val="52667B"/>
                </a:solidFill>
                <a:latin typeface="Arial"/>
                <a:ea typeface="Arial"/>
                <a:cs typeface="Arial"/>
              </a:defRPr>
            </a:lvl2pPr>
            <a:lvl3pPr>
              <a:defRPr sz="1650" b="0">
                <a:solidFill>
                  <a:srgbClr val="52667B"/>
                </a:solidFill>
                <a:latin typeface="Arial"/>
                <a:ea typeface="Arial"/>
                <a:cs typeface="Arial"/>
              </a:defRPr>
            </a:lvl3pPr>
            <a:lvl4pPr>
              <a:defRPr sz="1650" b="0">
                <a:solidFill>
                  <a:srgbClr val="52667B"/>
                </a:solidFill>
                <a:latin typeface="Arial"/>
                <a:ea typeface="Arial"/>
                <a:cs typeface="Arial"/>
              </a:defRPr>
            </a:lvl4pPr>
            <a:lvl5pPr>
              <a:defRPr sz="1650" b="0">
                <a:solidFill>
                  <a:srgbClr val="52667B"/>
                </a:solidFill>
                <a:latin typeface="Arial"/>
                <a:ea typeface="Arial"/>
                <a:cs typeface="Arial"/>
              </a:defRPr>
            </a:lvl5pPr>
            <a:lvl6pPr>
              <a:defRPr sz="1650" b="0">
                <a:solidFill>
                  <a:srgbClr val="52667B"/>
                </a:solidFill>
                <a:latin typeface="Arial"/>
                <a:ea typeface="Arial"/>
                <a:cs typeface="Arial"/>
              </a:defRPr>
            </a:lvl6pPr>
            <a:lvl7pPr>
              <a:defRPr sz="1650" b="0">
                <a:solidFill>
                  <a:srgbClr val="52667B"/>
                </a:solidFill>
                <a:latin typeface="Arial"/>
                <a:ea typeface="Arial"/>
                <a:cs typeface="Arial"/>
              </a:defRPr>
            </a:lvl7pPr>
            <a:lvl8pPr>
              <a:defRPr sz="1650" b="0">
                <a:solidFill>
                  <a:srgbClr val="52667B"/>
                </a:solidFill>
                <a:latin typeface="Arial"/>
                <a:ea typeface="Arial"/>
                <a:cs typeface="Arial"/>
              </a:defRPr>
            </a:lvl8pPr>
            <a:lvl9pPr>
              <a:defRPr sz="1650" b="0">
                <a:solidFill>
                  <a:srgbClr val="52667B"/>
                </a:solidFill>
                <a:latin typeface="Arial"/>
                <a:ea typeface="Arial"/>
                <a:cs typeface="Arial"/>
              </a:defRPr>
            </a:lvl9pPr>
          </a:lstStyle>
          <a:p xmlns:a="http://schemas.openxmlformats.org/drawingml/2006/main">
            <a:pPr>
              <a:defRPr sz="1650" b="0">
                <a:solidFill>
                  <a:srgbClr val="52667B"/>
                </a:solidFill>
                <a:latin typeface="Arial"/>
                <a:ea typeface="Arial"/>
                <a:cs typeface="Arial"/>
              </a:defRPr>
            </a:pPr>
            <a:r>
              <a:rPr sz="1650" b="0">
                <a:solidFill>
                  <a:srgbClr val="52667B"/>
                </a:solidFill>
                <a:latin typeface="Arial"/>
                <a:ea typeface="Arial"/>
                <a:cs typeface="Arial"/>
              </a:rPr>
              <a:t>Group names and roll numbers to be completed</a:t>
            </a:r>
          </a:p>
        </p:txBody>
      </p:sp>
    </p:spTree>
    <p:extLst>
      <p:ext uri="{BB962C8B-B14F-4D97-AF65-F5344CB8AC3E}">
        <p14:creationId xmlns:p14="http://schemas.microsoft.com/office/powerpoint/2010/main" val="29113646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MPILER DESIGN">
            <a:extLst xmlns:a="http://schemas.openxmlformats.org/drawingml/2006/main">
              <a:ext uri="{FF2B5EF4-FFF2-40B4-BE49-F238E27FC236}">
                <a16:creationId xmlns:a16="http://schemas.microsoft.com/office/drawing/2014/main" id="{F2730660-F734-44C2-A52D-78F45A451900}"/>
              </a:ext>
            </a:extLst>
          </p:cNvPr>
          <p:cNvSpPr>
            <a:spLocks xmlns:a="http://schemas.openxmlformats.org/drawingml/2006/main" noGrp="1"/>
          </p:cNvSpPr>
          <p:nvPr/>
        </p:nvSpPr>
        <p:spPr>
          <a:xfrm xmlns:a="http://schemas.openxmlformats.org/drawingml/2006/main">
            <a:off x="685800" y="2857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DF6948"/>
                </a:solidFill>
                <a:latin typeface="Arial"/>
                <a:ea typeface="Arial"/>
                <a:cs typeface="Arial"/>
              </a:defRPr>
            </a:defPPr>
            <a:lvl1pPr>
              <a:defRPr sz="1125" b="1">
                <a:solidFill>
                  <a:srgbClr val="DF6948"/>
                </a:solidFill>
                <a:latin typeface="Arial"/>
                <a:ea typeface="Arial"/>
                <a:cs typeface="Arial"/>
              </a:defRPr>
            </a:lvl1pPr>
            <a:lvl2pPr>
              <a:defRPr sz="1125" b="1">
                <a:solidFill>
                  <a:srgbClr val="DF6948"/>
                </a:solidFill>
                <a:latin typeface="Arial"/>
                <a:ea typeface="Arial"/>
                <a:cs typeface="Arial"/>
              </a:defRPr>
            </a:lvl2pPr>
            <a:lvl3pPr>
              <a:defRPr sz="1125" b="1">
                <a:solidFill>
                  <a:srgbClr val="DF6948"/>
                </a:solidFill>
                <a:latin typeface="Arial"/>
                <a:ea typeface="Arial"/>
                <a:cs typeface="Arial"/>
              </a:defRPr>
            </a:lvl3pPr>
            <a:lvl4pPr>
              <a:defRPr sz="1125" b="1">
                <a:solidFill>
                  <a:srgbClr val="DF6948"/>
                </a:solidFill>
                <a:latin typeface="Arial"/>
                <a:ea typeface="Arial"/>
                <a:cs typeface="Arial"/>
              </a:defRPr>
            </a:lvl4pPr>
            <a:lvl5pPr>
              <a:defRPr sz="1125" b="1">
                <a:solidFill>
                  <a:srgbClr val="DF6948"/>
                </a:solidFill>
                <a:latin typeface="Arial"/>
                <a:ea typeface="Arial"/>
                <a:cs typeface="Arial"/>
              </a:defRPr>
            </a:lvl5pPr>
            <a:lvl6pPr>
              <a:defRPr sz="1125" b="1">
                <a:solidFill>
                  <a:srgbClr val="DF6948"/>
                </a:solidFill>
                <a:latin typeface="Arial"/>
                <a:ea typeface="Arial"/>
                <a:cs typeface="Arial"/>
              </a:defRPr>
            </a:lvl6pPr>
            <a:lvl7pPr>
              <a:defRPr sz="1125" b="1">
                <a:solidFill>
                  <a:srgbClr val="DF6948"/>
                </a:solidFill>
                <a:latin typeface="Arial"/>
                <a:ea typeface="Arial"/>
                <a:cs typeface="Arial"/>
              </a:defRPr>
            </a:lvl7pPr>
            <a:lvl8pPr>
              <a:defRPr sz="1125" b="1">
                <a:solidFill>
                  <a:srgbClr val="DF6948"/>
                </a:solidFill>
                <a:latin typeface="Arial"/>
                <a:ea typeface="Arial"/>
                <a:cs typeface="Arial"/>
              </a:defRPr>
            </a:lvl8pPr>
            <a:lvl9pPr>
              <a:defRPr sz="1125" b="1">
                <a:solidFill>
                  <a:srgbClr val="DF6948"/>
                </a:solidFill>
                <a:latin typeface="Arial"/>
                <a:ea typeface="Arial"/>
                <a:cs typeface="Arial"/>
              </a:defRPr>
            </a:lvl9pPr>
          </a:lstStyle>
          <a:p xmlns:a="http://schemas.openxmlformats.org/drawingml/2006/main">
            <a:pPr>
              <a:defRPr sz="1125" b="1">
                <a:solidFill>
                  <a:srgbClr val="DF6948"/>
                </a:solidFill>
                <a:latin typeface="Arial"/>
                <a:ea typeface="Arial"/>
                <a:cs typeface="Arial"/>
              </a:defRPr>
            </a:pPr>
            <a:r>
              <a:rPr sz="1125" b="1">
                <a:solidFill>
                  <a:srgbClr val="DF6948"/>
                </a:solidFill>
                <a:latin typeface="Arial"/>
                <a:ea typeface="Arial"/>
                <a:cs typeface="Arial"/>
              </a:rPr>
              <a:t>COMPILER DESIGN</a:t>
            </a:r>
          </a:p>
        </p:txBody>
      </p:sp>
      <p:sp>
        <p:nvSpPr>
          <p:cNvPr id="2" name="Slide title">
            <a:extLst xmlns:a="http://schemas.openxmlformats.org/drawingml/2006/main">
              <a:ext uri="{FF2B5EF4-FFF2-40B4-BE49-F238E27FC236}">
                <a16:creationId xmlns:a16="http://schemas.microsoft.com/office/drawing/2014/main" id="{CA34B9F5-718B-447C-B57B-9F62251698ED}"/>
              </a:ext>
            </a:extLst>
          </p:cNvPr>
          <p:cNvSpPr>
            <a:spLocks xmlns:a="http://schemas.openxmlformats.org/drawingml/2006/main" noGrp="1"/>
          </p:cNvSpPr>
          <p:nvPr/>
        </p:nvSpPr>
        <p:spPr>
          <a:xfrm xmlns:a="http://schemas.openxmlformats.org/drawingml/2006/main">
            <a:off x="685800" y="7620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42B43"/>
                </a:solidFill>
                <a:latin typeface="Arial"/>
                <a:ea typeface="Arial"/>
                <a:cs typeface="Arial"/>
              </a:defRPr>
            </a:defPPr>
            <a:lvl1pPr>
              <a:defRPr sz="3450" b="1">
                <a:solidFill>
                  <a:srgbClr val="142B43"/>
                </a:solidFill>
                <a:latin typeface="Arial"/>
                <a:ea typeface="Arial"/>
                <a:cs typeface="Arial"/>
              </a:defRPr>
            </a:lvl1pPr>
            <a:lvl2pPr>
              <a:defRPr sz="3450" b="1">
                <a:solidFill>
                  <a:srgbClr val="142B43"/>
                </a:solidFill>
                <a:latin typeface="Arial"/>
                <a:ea typeface="Arial"/>
                <a:cs typeface="Arial"/>
              </a:defRPr>
            </a:lvl2pPr>
            <a:lvl3pPr>
              <a:defRPr sz="3450" b="1">
                <a:solidFill>
                  <a:srgbClr val="142B43"/>
                </a:solidFill>
                <a:latin typeface="Arial"/>
                <a:ea typeface="Arial"/>
                <a:cs typeface="Arial"/>
              </a:defRPr>
            </a:lvl3pPr>
            <a:lvl4pPr>
              <a:defRPr sz="3450" b="1">
                <a:solidFill>
                  <a:srgbClr val="142B43"/>
                </a:solidFill>
                <a:latin typeface="Arial"/>
                <a:ea typeface="Arial"/>
                <a:cs typeface="Arial"/>
              </a:defRPr>
            </a:lvl4pPr>
            <a:lvl5pPr>
              <a:defRPr sz="3450" b="1">
                <a:solidFill>
                  <a:srgbClr val="142B43"/>
                </a:solidFill>
                <a:latin typeface="Arial"/>
                <a:ea typeface="Arial"/>
                <a:cs typeface="Arial"/>
              </a:defRPr>
            </a:lvl5pPr>
            <a:lvl6pPr>
              <a:defRPr sz="3450" b="1">
                <a:solidFill>
                  <a:srgbClr val="142B43"/>
                </a:solidFill>
                <a:latin typeface="Arial"/>
                <a:ea typeface="Arial"/>
                <a:cs typeface="Arial"/>
              </a:defRPr>
            </a:lvl6pPr>
            <a:lvl7pPr>
              <a:defRPr sz="3450" b="1">
                <a:solidFill>
                  <a:srgbClr val="142B43"/>
                </a:solidFill>
                <a:latin typeface="Arial"/>
                <a:ea typeface="Arial"/>
                <a:cs typeface="Arial"/>
              </a:defRPr>
            </a:lvl7pPr>
            <a:lvl8pPr>
              <a:defRPr sz="3450" b="1">
                <a:solidFill>
                  <a:srgbClr val="142B43"/>
                </a:solidFill>
                <a:latin typeface="Arial"/>
                <a:ea typeface="Arial"/>
                <a:cs typeface="Arial"/>
              </a:defRPr>
            </a:lvl8pPr>
            <a:lvl9pPr>
              <a:defRPr sz="3450" b="1">
                <a:solidFill>
                  <a:srgbClr val="142B43"/>
                </a:solidFill>
                <a:latin typeface="Arial"/>
                <a:ea typeface="Arial"/>
                <a:cs typeface="Arial"/>
              </a:defRPr>
            </a:lvl9pPr>
          </a:lstStyle>
          <a:p xmlns:a="http://schemas.openxmlformats.org/drawingml/2006/main">
            <a:pPr>
              <a:defRPr sz="3450" b="1">
                <a:solidFill>
                  <a:srgbClr val="142B43"/>
                </a:solidFill>
                <a:latin typeface="Arial"/>
                <a:ea typeface="Arial"/>
                <a:cs typeface="Arial"/>
              </a:defRPr>
            </a:pPr>
            <a:r>
              <a:rPr sz="3450" b="1">
                <a:solidFill>
                  <a:srgbClr val="142B43"/>
                </a:solidFill>
                <a:latin typeface="Arial"/>
                <a:ea typeface="Arial"/>
                <a:cs typeface="Arial"/>
              </a:rPr>
              <a:t>The string language</a:t>
            </a:r>
          </a:p>
        </p:txBody>
      </p:sp>
      <p:sp>
        <p:nvSpPr>
          <p:cNvPr id="3" name="StringLab Browser Compiler Front En">
            <a:extLst xmlns:a="http://schemas.openxmlformats.org/drawingml/2006/main">
              <a:ext uri="{FF2B5EF4-FFF2-40B4-BE49-F238E27FC236}">
                <a16:creationId xmlns:a16="http://schemas.microsoft.com/office/drawing/2014/main" id="{0E14A46D-52A0-4561-BD6E-7C8E68EBD0AD}"/>
              </a:ext>
            </a:extLst>
          </p:cNvPr>
          <p:cNvSpPr>
            <a:spLocks xmlns:a="http://schemas.openxmlformats.org/drawingml/2006/main" noGrp="1"/>
          </p:cNvSpPr>
          <p:nvPr/>
        </p:nvSpPr>
        <p:spPr>
          <a:xfrm xmlns:a="http://schemas.openxmlformats.org/drawingml/2006/main">
            <a:off x="685800" y="64008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StringLab Browser Compiler Front End</a:t>
            </a:r>
          </a:p>
        </p:txBody>
      </p:sp>
      <p:sp>
        <p:nvSpPr>
          <p:cNvPr id="4" name="02">
            <a:extLst xmlns:a="http://schemas.openxmlformats.org/drawingml/2006/main">
              <a:ext uri="{FF2B5EF4-FFF2-40B4-BE49-F238E27FC236}">
                <a16:creationId xmlns:a16="http://schemas.microsoft.com/office/drawing/2014/main" id="{7CDEBFB5-79CA-47F8-99DB-4DFDBD579AA9}"/>
              </a:ext>
            </a:extLst>
          </p:cNvPr>
          <p:cNvSpPr>
            <a:spLocks xmlns:a="http://schemas.openxmlformats.org/drawingml/2006/main" noGrp="1"/>
          </p:cNvSpPr>
          <p:nvPr/>
        </p:nvSpPr>
        <p:spPr>
          <a:xfrm xmlns:a="http://schemas.openxmlformats.org/drawingml/2006/main">
            <a:off x="11001375" y="6400800"/>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02</a:t>
            </a:r>
          </a:p>
        </p:txBody>
      </p:sp>
      <p:sp>
        <p:nvSpPr>
          <p:cNvPr id="5" name="string name = &quot;World&quot;;&#10;string greet">
            <a:extLst xmlns:a="http://schemas.openxmlformats.org/drawingml/2006/main">
              <a:ext uri="{FF2B5EF4-FFF2-40B4-BE49-F238E27FC236}">
                <a16:creationId xmlns:a16="http://schemas.microsoft.com/office/drawing/2014/main" id="{741556CD-E6D6-49CD-910C-089C06C3E04D}"/>
              </a:ext>
            </a:extLst>
          </p:cNvPr>
          <p:cNvSpPr>
            <a:spLocks xmlns:a="http://schemas.openxmlformats.org/drawingml/2006/main" noGrp="1"/>
          </p:cNvSpPr>
          <p:nvPr/>
        </p:nvSpPr>
        <p:spPr>
          <a:xfrm xmlns:a="http://schemas.openxmlformats.org/drawingml/2006/main">
            <a:off x="685800" y="2000250"/>
            <a:ext cx="108204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142B43"/>
                </a:solidFill>
                <a:latin typeface="Consolas"/>
                <a:ea typeface="Consolas"/>
                <a:cs typeface="Consolas"/>
              </a:defRPr>
            </a:defPPr>
            <a:lvl1pPr>
              <a:defRPr sz="2400" b="0">
                <a:solidFill>
                  <a:srgbClr val="142B43"/>
                </a:solidFill>
                <a:latin typeface="Consolas"/>
                <a:ea typeface="Consolas"/>
                <a:cs typeface="Consolas"/>
              </a:defRPr>
            </a:lvl1pPr>
            <a:lvl2pPr>
              <a:defRPr sz="2400" b="0">
                <a:solidFill>
                  <a:srgbClr val="142B43"/>
                </a:solidFill>
                <a:latin typeface="Consolas"/>
                <a:ea typeface="Consolas"/>
                <a:cs typeface="Consolas"/>
              </a:defRPr>
            </a:lvl2pPr>
            <a:lvl3pPr>
              <a:defRPr sz="2400" b="0">
                <a:solidFill>
                  <a:srgbClr val="142B43"/>
                </a:solidFill>
                <a:latin typeface="Consolas"/>
                <a:ea typeface="Consolas"/>
                <a:cs typeface="Consolas"/>
              </a:defRPr>
            </a:lvl3pPr>
            <a:lvl4pPr>
              <a:defRPr sz="2400" b="0">
                <a:solidFill>
                  <a:srgbClr val="142B43"/>
                </a:solidFill>
                <a:latin typeface="Consolas"/>
                <a:ea typeface="Consolas"/>
                <a:cs typeface="Consolas"/>
              </a:defRPr>
            </a:lvl4pPr>
            <a:lvl5pPr>
              <a:defRPr sz="2400" b="0">
                <a:solidFill>
                  <a:srgbClr val="142B43"/>
                </a:solidFill>
                <a:latin typeface="Consolas"/>
                <a:ea typeface="Consolas"/>
                <a:cs typeface="Consolas"/>
              </a:defRPr>
            </a:lvl5pPr>
            <a:lvl6pPr>
              <a:defRPr sz="2400" b="0">
                <a:solidFill>
                  <a:srgbClr val="142B43"/>
                </a:solidFill>
                <a:latin typeface="Consolas"/>
                <a:ea typeface="Consolas"/>
                <a:cs typeface="Consolas"/>
              </a:defRPr>
            </a:lvl6pPr>
            <a:lvl7pPr>
              <a:defRPr sz="2400" b="0">
                <a:solidFill>
                  <a:srgbClr val="142B43"/>
                </a:solidFill>
                <a:latin typeface="Consolas"/>
                <a:ea typeface="Consolas"/>
                <a:cs typeface="Consolas"/>
              </a:defRPr>
            </a:lvl7pPr>
            <a:lvl8pPr>
              <a:defRPr sz="2400" b="0">
                <a:solidFill>
                  <a:srgbClr val="142B43"/>
                </a:solidFill>
                <a:latin typeface="Consolas"/>
                <a:ea typeface="Consolas"/>
                <a:cs typeface="Consolas"/>
              </a:defRPr>
            </a:lvl8pPr>
            <a:lvl9pPr>
              <a:defRPr sz="2400" b="0">
                <a:solidFill>
                  <a:srgbClr val="142B43"/>
                </a:solidFill>
                <a:latin typeface="Consolas"/>
                <a:ea typeface="Consolas"/>
                <a:cs typeface="Consolas"/>
              </a:defRPr>
            </a:lvl9pPr>
          </a:lstStyle>
          <a:p xmlns:a="http://schemas.openxmlformats.org/drawingml/2006/main">
            <a:pPr>
              <a:defRPr sz="2400" b="0">
                <a:solidFill>
                  <a:srgbClr val="142B43"/>
                </a:solidFill>
                <a:latin typeface="Consolas"/>
                <a:ea typeface="Consolas"/>
                <a:cs typeface="Consolas"/>
              </a:defRPr>
            </a:pPr>
            <a:r>
              <a:rPr sz="2400" b="0">
                <a:solidFill>
                  <a:srgbClr val="142B43"/>
                </a:solidFill>
                <a:latin typeface="Consolas"/>
                <a:ea typeface="Consolas"/>
                <a:cs typeface="Consolas"/>
              </a:rPr>
              <a:t>string name = "World";</a:t>
            </a:r>
          </a:p>
          <a:p xmlns:a="http://schemas.openxmlformats.org/drawingml/2006/main">
            <a:pPr>
              <a:defRPr sz="2400" b="0">
                <a:solidFill>
                  <a:srgbClr val="142B43"/>
                </a:solidFill>
                <a:latin typeface="Consolas"/>
                <a:ea typeface="Consolas"/>
                <a:cs typeface="Consolas"/>
              </a:defRPr>
            </a:pPr>
            <a:r>
              <a:rPr sz="2400" b="0">
                <a:solidFill>
                  <a:srgbClr val="142B43"/>
                </a:solidFill>
                <a:latin typeface="Consolas"/>
                <a:ea typeface="Consolas"/>
                <a:cs typeface="Consolas"/>
              </a:rPr>
              <a:t>string greeting;</a:t>
            </a:r>
          </a:p>
          <a:p xmlns:a="http://schemas.openxmlformats.org/drawingml/2006/main">
            <a:pPr>
              <a:defRPr sz="2400" b="0">
                <a:solidFill>
                  <a:srgbClr val="142B43"/>
                </a:solidFill>
                <a:latin typeface="Consolas"/>
                <a:ea typeface="Consolas"/>
                <a:cs typeface="Consolas"/>
              </a:defRPr>
            </a:pPr>
            <a:r>
              <a:rPr sz="2400" b="0">
                <a:solidFill>
                  <a:srgbClr val="142B43"/>
                </a:solidFill>
                <a:latin typeface="Consolas"/>
                <a:ea typeface="Consolas"/>
                <a:cs typeface="Consolas"/>
              </a:rPr>
              <a:t>greeting = "Hello, " + name + "!";</a:t>
            </a:r>
          </a:p>
          <a:p xmlns:a="http://schemas.openxmlformats.org/drawingml/2006/main">
            <a:pPr>
              <a:defRPr sz="2400" b="0">
                <a:solidFill>
                  <a:srgbClr val="142B43"/>
                </a:solidFill>
                <a:latin typeface="Consolas"/>
                <a:ea typeface="Consolas"/>
                <a:cs typeface="Consolas"/>
              </a:defRPr>
            </a:pPr>
            <a:r>
              <a:rPr sz="2400" b="0">
                <a:solidFill>
                  <a:srgbClr val="142B43"/>
                </a:solidFill>
                <a:latin typeface="Consolas"/>
                <a:ea typeface="Consolas"/>
                <a:cs typeface="Consolas"/>
              </a:rPr>
              <a:t>print(greeting);</a:t>
            </a:r>
          </a:p>
        </p:txBody>
      </p:sp>
      <p:sp>
        <p:nvSpPr>
          <p:cNvPr id="6" name="One string type. One global scope.">
            <a:extLst xmlns:a="http://schemas.openxmlformats.org/drawingml/2006/main">
              <a:ext uri="{FF2B5EF4-FFF2-40B4-BE49-F238E27FC236}">
                <a16:creationId xmlns:a16="http://schemas.microsoft.com/office/drawing/2014/main" id="{C1B880E1-E556-4270-85C1-D38E2AE9F348}"/>
              </a:ext>
            </a:extLst>
          </p:cNvPr>
          <p:cNvSpPr>
            <a:spLocks xmlns:a="http://schemas.openxmlformats.org/drawingml/2006/main" noGrp="1"/>
          </p:cNvSpPr>
          <p:nvPr/>
        </p:nvSpPr>
        <p:spPr>
          <a:xfrm xmlns:a="http://schemas.openxmlformats.org/drawingml/2006/main">
            <a:off x="685800" y="46958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B43"/>
                </a:solidFill>
                <a:latin typeface="Arial"/>
                <a:ea typeface="Arial"/>
                <a:cs typeface="Arial"/>
              </a:defRPr>
            </a:defPPr>
            <a:lvl1pPr>
              <a:defRPr sz="2250" b="0">
                <a:solidFill>
                  <a:srgbClr val="142B43"/>
                </a:solidFill>
                <a:latin typeface="Arial"/>
                <a:ea typeface="Arial"/>
                <a:cs typeface="Arial"/>
              </a:defRPr>
            </a:lvl1pPr>
            <a:lvl2pPr>
              <a:defRPr sz="2250" b="0">
                <a:solidFill>
                  <a:srgbClr val="142B43"/>
                </a:solidFill>
                <a:latin typeface="Arial"/>
                <a:ea typeface="Arial"/>
                <a:cs typeface="Arial"/>
              </a:defRPr>
            </a:lvl2pPr>
            <a:lvl3pPr>
              <a:defRPr sz="2250" b="0">
                <a:solidFill>
                  <a:srgbClr val="142B43"/>
                </a:solidFill>
                <a:latin typeface="Arial"/>
                <a:ea typeface="Arial"/>
                <a:cs typeface="Arial"/>
              </a:defRPr>
            </a:lvl3pPr>
            <a:lvl4pPr>
              <a:defRPr sz="2250" b="0">
                <a:solidFill>
                  <a:srgbClr val="142B43"/>
                </a:solidFill>
                <a:latin typeface="Arial"/>
                <a:ea typeface="Arial"/>
                <a:cs typeface="Arial"/>
              </a:defRPr>
            </a:lvl4pPr>
            <a:lvl5pPr>
              <a:defRPr sz="2250" b="0">
                <a:solidFill>
                  <a:srgbClr val="142B43"/>
                </a:solidFill>
                <a:latin typeface="Arial"/>
                <a:ea typeface="Arial"/>
                <a:cs typeface="Arial"/>
              </a:defRPr>
            </a:lvl5pPr>
            <a:lvl6pPr>
              <a:defRPr sz="2250" b="0">
                <a:solidFill>
                  <a:srgbClr val="142B43"/>
                </a:solidFill>
                <a:latin typeface="Arial"/>
                <a:ea typeface="Arial"/>
                <a:cs typeface="Arial"/>
              </a:defRPr>
            </a:lvl6pPr>
            <a:lvl7pPr>
              <a:defRPr sz="2250" b="0">
                <a:solidFill>
                  <a:srgbClr val="142B43"/>
                </a:solidFill>
                <a:latin typeface="Arial"/>
                <a:ea typeface="Arial"/>
                <a:cs typeface="Arial"/>
              </a:defRPr>
            </a:lvl7pPr>
            <a:lvl8pPr>
              <a:defRPr sz="2250" b="0">
                <a:solidFill>
                  <a:srgbClr val="142B43"/>
                </a:solidFill>
                <a:latin typeface="Arial"/>
                <a:ea typeface="Arial"/>
                <a:cs typeface="Arial"/>
              </a:defRPr>
            </a:lvl8pPr>
            <a:lvl9pPr>
              <a:defRPr sz="2250" b="0">
                <a:solidFill>
                  <a:srgbClr val="142B43"/>
                </a:solidFill>
                <a:latin typeface="Arial"/>
                <a:ea typeface="Arial"/>
                <a:cs typeface="Arial"/>
              </a:defRPr>
            </a:lvl9pPr>
          </a:lstStyle>
          <a:p xmlns:a="http://schemas.openxmlformats.org/drawingml/2006/main">
            <a:pPr>
              <a:defRPr sz="2250" b="0">
                <a:solidFill>
                  <a:srgbClr val="142B43"/>
                </a:solidFill>
                <a:latin typeface="Arial"/>
                <a:ea typeface="Arial"/>
                <a:cs typeface="Arial"/>
              </a:defRPr>
            </a:pPr>
            <a:r>
              <a:rPr sz="2250" b="0">
                <a:solidFill>
                  <a:srgbClr val="142B43"/>
                </a:solidFill>
                <a:latin typeface="Arial"/>
                <a:ea typeface="Arial"/>
                <a:cs typeface="Arial"/>
              </a:rPr>
              <a:t>One string type. One global scope.</a:t>
            </a:r>
          </a:p>
        </p:txBody>
      </p:sp>
      <p:sp>
        <p:nvSpPr>
          <p:cNvPr id="7" name="Double quotes, semicolons, parenthe">
            <a:extLst xmlns:a="http://schemas.openxmlformats.org/drawingml/2006/main">
              <a:ext uri="{FF2B5EF4-FFF2-40B4-BE49-F238E27FC236}">
                <a16:creationId xmlns:a16="http://schemas.microsoft.com/office/drawing/2014/main" id="{2CC1E4E3-ED5E-49C9-A8A3-B3803EE1C4D7}"/>
              </a:ext>
            </a:extLst>
          </p:cNvPr>
          <p:cNvSpPr>
            <a:spLocks xmlns:a="http://schemas.openxmlformats.org/drawingml/2006/main" noGrp="1"/>
          </p:cNvSpPr>
          <p:nvPr/>
        </p:nvSpPr>
        <p:spPr>
          <a:xfrm xmlns:a="http://schemas.openxmlformats.org/drawingml/2006/main">
            <a:off x="685800" y="5324475"/>
            <a:ext cx="1082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2667B"/>
                </a:solidFill>
                <a:latin typeface="Arial"/>
                <a:ea typeface="Arial"/>
                <a:cs typeface="Arial"/>
              </a:defRPr>
            </a:defPPr>
            <a:lvl1pPr>
              <a:defRPr sz="2025" b="0">
                <a:solidFill>
                  <a:srgbClr val="52667B"/>
                </a:solidFill>
                <a:latin typeface="Arial"/>
                <a:ea typeface="Arial"/>
                <a:cs typeface="Arial"/>
              </a:defRPr>
            </a:lvl1pPr>
            <a:lvl2pPr>
              <a:defRPr sz="2025" b="0">
                <a:solidFill>
                  <a:srgbClr val="52667B"/>
                </a:solidFill>
                <a:latin typeface="Arial"/>
                <a:ea typeface="Arial"/>
                <a:cs typeface="Arial"/>
              </a:defRPr>
            </a:lvl2pPr>
            <a:lvl3pPr>
              <a:defRPr sz="2025" b="0">
                <a:solidFill>
                  <a:srgbClr val="52667B"/>
                </a:solidFill>
                <a:latin typeface="Arial"/>
                <a:ea typeface="Arial"/>
                <a:cs typeface="Arial"/>
              </a:defRPr>
            </a:lvl3pPr>
            <a:lvl4pPr>
              <a:defRPr sz="2025" b="0">
                <a:solidFill>
                  <a:srgbClr val="52667B"/>
                </a:solidFill>
                <a:latin typeface="Arial"/>
                <a:ea typeface="Arial"/>
                <a:cs typeface="Arial"/>
              </a:defRPr>
            </a:lvl4pPr>
            <a:lvl5pPr>
              <a:defRPr sz="2025" b="0">
                <a:solidFill>
                  <a:srgbClr val="52667B"/>
                </a:solidFill>
                <a:latin typeface="Arial"/>
                <a:ea typeface="Arial"/>
                <a:cs typeface="Arial"/>
              </a:defRPr>
            </a:lvl5pPr>
            <a:lvl6pPr>
              <a:defRPr sz="2025" b="0">
                <a:solidFill>
                  <a:srgbClr val="52667B"/>
                </a:solidFill>
                <a:latin typeface="Arial"/>
                <a:ea typeface="Arial"/>
                <a:cs typeface="Arial"/>
              </a:defRPr>
            </a:lvl6pPr>
            <a:lvl7pPr>
              <a:defRPr sz="2025" b="0">
                <a:solidFill>
                  <a:srgbClr val="52667B"/>
                </a:solidFill>
                <a:latin typeface="Arial"/>
                <a:ea typeface="Arial"/>
                <a:cs typeface="Arial"/>
              </a:defRPr>
            </a:lvl7pPr>
            <a:lvl8pPr>
              <a:defRPr sz="2025" b="0">
                <a:solidFill>
                  <a:srgbClr val="52667B"/>
                </a:solidFill>
                <a:latin typeface="Arial"/>
                <a:ea typeface="Arial"/>
                <a:cs typeface="Arial"/>
              </a:defRPr>
            </a:lvl8pPr>
            <a:lvl9pPr>
              <a:defRPr sz="2025" b="0">
                <a:solidFill>
                  <a:srgbClr val="52667B"/>
                </a:solidFill>
                <a:latin typeface="Arial"/>
                <a:ea typeface="Arial"/>
                <a:cs typeface="Arial"/>
              </a:defRPr>
            </a:lvl9pPr>
          </a:lstStyle>
          <a:p xmlns:a="http://schemas.openxmlformats.org/drawingml/2006/main">
            <a:pPr>
              <a:defRPr sz="2025" b="0">
                <a:solidFill>
                  <a:srgbClr val="52667B"/>
                </a:solidFill>
                <a:latin typeface="Arial"/>
                <a:ea typeface="Arial"/>
                <a:cs typeface="Arial"/>
              </a:defRPr>
            </a:pPr>
            <a:r>
              <a:rPr sz="2025" b="0">
                <a:solidFill>
                  <a:srgbClr val="52667B"/>
                </a:solidFill>
                <a:latin typeface="Arial"/>
                <a:ea typeface="Arial"/>
                <a:cs typeface="Arial"/>
              </a:rPr>
              <a:t>Double quotes, semicolons, parentheses and // comments.</a:t>
            </a:r>
          </a:p>
        </p:txBody>
      </p:sp>
    </p:spTree>
    <p:extLst>
      <p:ext uri="{BB962C8B-B14F-4D97-AF65-F5344CB8AC3E}">
        <p14:creationId xmlns:p14="http://schemas.microsoft.com/office/powerpoint/2010/main" val="203035841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MPILER DESIGN">
            <a:extLst xmlns:a="http://schemas.openxmlformats.org/drawingml/2006/main">
              <a:ext uri="{FF2B5EF4-FFF2-40B4-BE49-F238E27FC236}">
                <a16:creationId xmlns:a16="http://schemas.microsoft.com/office/drawing/2014/main" id="{CDFE833B-DE1A-4A32-AC82-B6DCF50D28FB}"/>
              </a:ext>
            </a:extLst>
          </p:cNvPr>
          <p:cNvSpPr>
            <a:spLocks xmlns:a="http://schemas.openxmlformats.org/drawingml/2006/main" noGrp="1"/>
          </p:cNvSpPr>
          <p:nvPr/>
        </p:nvSpPr>
        <p:spPr>
          <a:xfrm xmlns:a="http://schemas.openxmlformats.org/drawingml/2006/main">
            <a:off x="685800" y="2857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DF6948"/>
                </a:solidFill>
                <a:latin typeface="Arial"/>
                <a:ea typeface="Arial"/>
                <a:cs typeface="Arial"/>
              </a:defRPr>
            </a:defPPr>
            <a:lvl1pPr>
              <a:defRPr sz="1125" b="1">
                <a:solidFill>
                  <a:srgbClr val="DF6948"/>
                </a:solidFill>
                <a:latin typeface="Arial"/>
                <a:ea typeface="Arial"/>
                <a:cs typeface="Arial"/>
              </a:defRPr>
            </a:lvl1pPr>
            <a:lvl2pPr>
              <a:defRPr sz="1125" b="1">
                <a:solidFill>
                  <a:srgbClr val="DF6948"/>
                </a:solidFill>
                <a:latin typeface="Arial"/>
                <a:ea typeface="Arial"/>
                <a:cs typeface="Arial"/>
              </a:defRPr>
            </a:lvl2pPr>
            <a:lvl3pPr>
              <a:defRPr sz="1125" b="1">
                <a:solidFill>
                  <a:srgbClr val="DF6948"/>
                </a:solidFill>
                <a:latin typeface="Arial"/>
                <a:ea typeface="Arial"/>
                <a:cs typeface="Arial"/>
              </a:defRPr>
            </a:lvl3pPr>
            <a:lvl4pPr>
              <a:defRPr sz="1125" b="1">
                <a:solidFill>
                  <a:srgbClr val="DF6948"/>
                </a:solidFill>
                <a:latin typeface="Arial"/>
                <a:ea typeface="Arial"/>
                <a:cs typeface="Arial"/>
              </a:defRPr>
            </a:lvl4pPr>
            <a:lvl5pPr>
              <a:defRPr sz="1125" b="1">
                <a:solidFill>
                  <a:srgbClr val="DF6948"/>
                </a:solidFill>
                <a:latin typeface="Arial"/>
                <a:ea typeface="Arial"/>
                <a:cs typeface="Arial"/>
              </a:defRPr>
            </a:lvl5pPr>
            <a:lvl6pPr>
              <a:defRPr sz="1125" b="1">
                <a:solidFill>
                  <a:srgbClr val="DF6948"/>
                </a:solidFill>
                <a:latin typeface="Arial"/>
                <a:ea typeface="Arial"/>
                <a:cs typeface="Arial"/>
              </a:defRPr>
            </a:lvl6pPr>
            <a:lvl7pPr>
              <a:defRPr sz="1125" b="1">
                <a:solidFill>
                  <a:srgbClr val="DF6948"/>
                </a:solidFill>
                <a:latin typeface="Arial"/>
                <a:ea typeface="Arial"/>
                <a:cs typeface="Arial"/>
              </a:defRPr>
            </a:lvl7pPr>
            <a:lvl8pPr>
              <a:defRPr sz="1125" b="1">
                <a:solidFill>
                  <a:srgbClr val="DF6948"/>
                </a:solidFill>
                <a:latin typeface="Arial"/>
                <a:ea typeface="Arial"/>
                <a:cs typeface="Arial"/>
              </a:defRPr>
            </a:lvl8pPr>
            <a:lvl9pPr>
              <a:defRPr sz="1125" b="1">
                <a:solidFill>
                  <a:srgbClr val="DF6948"/>
                </a:solidFill>
                <a:latin typeface="Arial"/>
                <a:ea typeface="Arial"/>
                <a:cs typeface="Arial"/>
              </a:defRPr>
            </a:lvl9pPr>
          </a:lstStyle>
          <a:p xmlns:a="http://schemas.openxmlformats.org/drawingml/2006/main">
            <a:pPr>
              <a:defRPr sz="1125" b="1">
                <a:solidFill>
                  <a:srgbClr val="DF6948"/>
                </a:solidFill>
                <a:latin typeface="Arial"/>
                <a:ea typeface="Arial"/>
                <a:cs typeface="Arial"/>
              </a:defRPr>
            </a:pPr>
            <a:r>
              <a:rPr sz="1125" b="1">
                <a:solidFill>
                  <a:srgbClr val="DF6948"/>
                </a:solidFill>
                <a:latin typeface="Arial"/>
                <a:ea typeface="Arial"/>
                <a:cs typeface="Arial"/>
              </a:rPr>
              <a:t>COMPILER DESIGN</a:t>
            </a:r>
          </a:p>
        </p:txBody>
      </p:sp>
      <p:sp>
        <p:nvSpPr>
          <p:cNvPr id="2" name="Slide title">
            <a:extLst xmlns:a="http://schemas.openxmlformats.org/drawingml/2006/main">
              <a:ext uri="{FF2B5EF4-FFF2-40B4-BE49-F238E27FC236}">
                <a16:creationId xmlns:a16="http://schemas.microsoft.com/office/drawing/2014/main" id="{D9B73162-9748-4909-ABE3-3DE55F4E9002}"/>
              </a:ext>
            </a:extLst>
          </p:cNvPr>
          <p:cNvSpPr>
            <a:spLocks xmlns:a="http://schemas.openxmlformats.org/drawingml/2006/main" noGrp="1"/>
          </p:cNvSpPr>
          <p:nvPr/>
        </p:nvSpPr>
        <p:spPr>
          <a:xfrm xmlns:a="http://schemas.openxmlformats.org/drawingml/2006/main">
            <a:off x="685800" y="7620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42B43"/>
                </a:solidFill>
                <a:latin typeface="Arial"/>
                <a:ea typeface="Arial"/>
                <a:cs typeface="Arial"/>
              </a:defRPr>
            </a:defPPr>
            <a:lvl1pPr>
              <a:defRPr sz="3450" b="1">
                <a:solidFill>
                  <a:srgbClr val="142B43"/>
                </a:solidFill>
                <a:latin typeface="Arial"/>
                <a:ea typeface="Arial"/>
                <a:cs typeface="Arial"/>
              </a:defRPr>
            </a:lvl1pPr>
            <a:lvl2pPr>
              <a:defRPr sz="3450" b="1">
                <a:solidFill>
                  <a:srgbClr val="142B43"/>
                </a:solidFill>
                <a:latin typeface="Arial"/>
                <a:ea typeface="Arial"/>
                <a:cs typeface="Arial"/>
              </a:defRPr>
            </a:lvl2pPr>
            <a:lvl3pPr>
              <a:defRPr sz="3450" b="1">
                <a:solidFill>
                  <a:srgbClr val="142B43"/>
                </a:solidFill>
                <a:latin typeface="Arial"/>
                <a:ea typeface="Arial"/>
                <a:cs typeface="Arial"/>
              </a:defRPr>
            </a:lvl3pPr>
            <a:lvl4pPr>
              <a:defRPr sz="3450" b="1">
                <a:solidFill>
                  <a:srgbClr val="142B43"/>
                </a:solidFill>
                <a:latin typeface="Arial"/>
                <a:ea typeface="Arial"/>
                <a:cs typeface="Arial"/>
              </a:defRPr>
            </a:lvl4pPr>
            <a:lvl5pPr>
              <a:defRPr sz="3450" b="1">
                <a:solidFill>
                  <a:srgbClr val="142B43"/>
                </a:solidFill>
                <a:latin typeface="Arial"/>
                <a:ea typeface="Arial"/>
                <a:cs typeface="Arial"/>
              </a:defRPr>
            </a:lvl5pPr>
            <a:lvl6pPr>
              <a:defRPr sz="3450" b="1">
                <a:solidFill>
                  <a:srgbClr val="142B43"/>
                </a:solidFill>
                <a:latin typeface="Arial"/>
                <a:ea typeface="Arial"/>
                <a:cs typeface="Arial"/>
              </a:defRPr>
            </a:lvl6pPr>
            <a:lvl7pPr>
              <a:defRPr sz="3450" b="1">
                <a:solidFill>
                  <a:srgbClr val="142B43"/>
                </a:solidFill>
                <a:latin typeface="Arial"/>
                <a:ea typeface="Arial"/>
                <a:cs typeface="Arial"/>
              </a:defRPr>
            </a:lvl7pPr>
            <a:lvl8pPr>
              <a:defRPr sz="3450" b="1">
                <a:solidFill>
                  <a:srgbClr val="142B43"/>
                </a:solidFill>
                <a:latin typeface="Arial"/>
                <a:ea typeface="Arial"/>
                <a:cs typeface="Arial"/>
              </a:defRPr>
            </a:lvl8pPr>
            <a:lvl9pPr>
              <a:defRPr sz="3450" b="1">
                <a:solidFill>
                  <a:srgbClr val="142B43"/>
                </a:solidFill>
                <a:latin typeface="Arial"/>
                <a:ea typeface="Arial"/>
                <a:cs typeface="Arial"/>
              </a:defRPr>
            </a:lvl9pPr>
          </a:lstStyle>
          <a:p xmlns:a="http://schemas.openxmlformats.org/drawingml/2006/main">
            <a:pPr>
              <a:defRPr sz="3450" b="1">
                <a:solidFill>
                  <a:srgbClr val="142B43"/>
                </a:solidFill>
                <a:latin typeface="Arial"/>
                <a:ea typeface="Arial"/>
                <a:cs typeface="Arial"/>
              </a:defRPr>
            </a:pPr>
            <a:r>
              <a:rPr sz="3450" b="1">
                <a:solidFill>
                  <a:srgbClr val="142B43"/>
                </a:solidFill>
                <a:latin typeface="Arial"/>
                <a:ea typeface="Arial"/>
                <a:cs typeface="Arial"/>
              </a:rPr>
              <a:t>The browser compiler pipeline</a:t>
            </a:r>
          </a:p>
        </p:txBody>
      </p:sp>
      <p:sp>
        <p:nvSpPr>
          <p:cNvPr id="3" name="StringLab Browser Compiler Front En">
            <a:extLst xmlns:a="http://schemas.openxmlformats.org/drawingml/2006/main">
              <a:ext uri="{FF2B5EF4-FFF2-40B4-BE49-F238E27FC236}">
                <a16:creationId xmlns:a16="http://schemas.microsoft.com/office/drawing/2014/main" id="{6FDD23C2-2A5D-4C9D-872D-35E91C698794}"/>
              </a:ext>
            </a:extLst>
          </p:cNvPr>
          <p:cNvSpPr>
            <a:spLocks xmlns:a="http://schemas.openxmlformats.org/drawingml/2006/main" noGrp="1"/>
          </p:cNvSpPr>
          <p:nvPr/>
        </p:nvSpPr>
        <p:spPr>
          <a:xfrm xmlns:a="http://schemas.openxmlformats.org/drawingml/2006/main">
            <a:off x="685800" y="64008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StringLab Browser Compiler Front End</a:t>
            </a:r>
          </a:p>
        </p:txBody>
      </p:sp>
      <p:sp>
        <p:nvSpPr>
          <p:cNvPr id="4" name="03">
            <a:extLst xmlns:a="http://schemas.openxmlformats.org/drawingml/2006/main">
              <a:ext uri="{FF2B5EF4-FFF2-40B4-BE49-F238E27FC236}">
                <a16:creationId xmlns:a16="http://schemas.microsoft.com/office/drawing/2014/main" id="{648A6FA8-FF8F-4545-AE7C-0727795FEF44}"/>
              </a:ext>
            </a:extLst>
          </p:cNvPr>
          <p:cNvSpPr>
            <a:spLocks xmlns:a="http://schemas.openxmlformats.org/drawingml/2006/main" noGrp="1"/>
          </p:cNvSpPr>
          <p:nvPr/>
        </p:nvSpPr>
        <p:spPr>
          <a:xfrm xmlns:a="http://schemas.openxmlformats.org/drawingml/2006/main">
            <a:off x="11001375" y="6400800"/>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03</a:t>
            </a:r>
          </a:p>
        </p:txBody>
      </p:sp>
      <p:sp>
        <p:nvSpPr>
          <p:cNvPr id="5" name="01   Source and lexical analysis&#10;02">
            <a:extLst xmlns:a="http://schemas.openxmlformats.org/drawingml/2006/main">
              <a:ext uri="{FF2B5EF4-FFF2-40B4-BE49-F238E27FC236}">
                <a16:creationId xmlns:a16="http://schemas.microsoft.com/office/drawing/2014/main" id="{01369C2D-D909-4469-8090-6114B14FB873}"/>
              </a:ext>
            </a:extLst>
          </p:cNvPr>
          <p:cNvSpPr>
            <a:spLocks xmlns:a="http://schemas.openxmlformats.org/drawingml/2006/main" noGrp="1"/>
          </p:cNvSpPr>
          <p:nvPr/>
        </p:nvSpPr>
        <p:spPr>
          <a:xfrm xmlns:a="http://schemas.openxmlformats.org/drawingml/2006/main">
            <a:off x="685800" y="1895475"/>
            <a:ext cx="10820400" cy="2905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42B43"/>
                </a:solidFill>
                <a:latin typeface="Arial"/>
                <a:ea typeface="Arial"/>
                <a:cs typeface="Arial"/>
              </a:defRPr>
            </a:defPPr>
            <a:lvl1pPr>
              <a:defRPr sz="2550" b="0">
                <a:solidFill>
                  <a:srgbClr val="142B43"/>
                </a:solidFill>
                <a:latin typeface="Arial"/>
                <a:ea typeface="Arial"/>
                <a:cs typeface="Arial"/>
              </a:defRPr>
            </a:lvl1pPr>
            <a:lvl2pPr>
              <a:defRPr sz="2550" b="0">
                <a:solidFill>
                  <a:srgbClr val="142B43"/>
                </a:solidFill>
                <a:latin typeface="Arial"/>
                <a:ea typeface="Arial"/>
                <a:cs typeface="Arial"/>
              </a:defRPr>
            </a:lvl2pPr>
            <a:lvl3pPr>
              <a:defRPr sz="2550" b="0">
                <a:solidFill>
                  <a:srgbClr val="142B43"/>
                </a:solidFill>
                <a:latin typeface="Arial"/>
                <a:ea typeface="Arial"/>
                <a:cs typeface="Arial"/>
              </a:defRPr>
            </a:lvl3pPr>
            <a:lvl4pPr>
              <a:defRPr sz="2550" b="0">
                <a:solidFill>
                  <a:srgbClr val="142B43"/>
                </a:solidFill>
                <a:latin typeface="Arial"/>
                <a:ea typeface="Arial"/>
                <a:cs typeface="Arial"/>
              </a:defRPr>
            </a:lvl4pPr>
            <a:lvl5pPr>
              <a:defRPr sz="2550" b="0">
                <a:solidFill>
                  <a:srgbClr val="142B43"/>
                </a:solidFill>
                <a:latin typeface="Arial"/>
                <a:ea typeface="Arial"/>
                <a:cs typeface="Arial"/>
              </a:defRPr>
            </a:lvl5pPr>
            <a:lvl6pPr>
              <a:defRPr sz="2550" b="0">
                <a:solidFill>
                  <a:srgbClr val="142B43"/>
                </a:solidFill>
                <a:latin typeface="Arial"/>
                <a:ea typeface="Arial"/>
                <a:cs typeface="Arial"/>
              </a:defRPr>
            </a:lvl6pPr>
            <a:lvl7pPr>
              <a:defRPr sz="2550" b="0">
                <a:solidFill>
                  <a:srgbClr val="142B43"/>
                </a:solidFill>
                <a:latin typeface="Arial"/>
                <a:ea typeface="Arial"/>
                <a:cs typeface="Arial"/>
              </a:defRPr>
            </a:lvl7pPr>
            <a:lvl8pPr>
              <a:defRPr sz="2550" b="0">
                <a:solidFill>
                  <a:srgbClr val="142B43"/>
                </a:solidFill>
                <a:latin typeface="Arial"/>
                <a:ea typeface="Arial"/>
                <a:cs typeface="Arial"/>
              </a:defRPr>
            </a:lvl8pPr>
            <a:lvl9pPr>
              <a:defRPr sz="2550" b="0">
                <a:solidFill>
                  <a:srgbClr val="142B43"/>
                </a:solidFill>
                <a:latin typeface="Arial"/>
                <a:ea typeface="Arial"/>
                <a:cs typeface="Arial"/>
              </a:defRPr>
            </a:lvl9pPr>
          </a:lstStyle>
          <a:p xmlns:a="http://schemas.openxmlformats.org/drawingml/2006/main">
            <a:pPr>
              <a:defRPr sz="2550" b="0">
                <a:solidFill>
                  <a:srgbClr val="142B43"/>
                </a:solidFill>
                <a:latin typeface="Arial"/>
                <a:ea typeface="Arial"/>
                <a:cs typeface="Arial"/>
              </a:defRPr>
            </a:pPr>
            <a:r>
              <a:rPr sz="2550" b="0">
                <a:solidFill>
                  <a:srgbClr val="142B43"/>
                </a:solidFill>
                <a:latin typeface="Arial"/>
                <a:ea typeface="Arial"/>
                <a:cs typeface="Arial"/>
              </a:rPr>
              <a:t>01   Source and lexical analysis</a:t>
            </a:r>
          </a:p>
          <a:p xmlns:a="http://schemas.openxmlformats.org/drawingml/2006/main">
            <a:pPr>
              <a:defRPr sz="2550" b="0">
                <a:solidFill>
                  <a:srgbClr val="142B43"/>
                </a:solidFill>
                <a:latin typeface="Arial"/>
                <a:ea typeface="Arial"/>
                <a:cs typeface="Arial"/>
              </a:defRPr>
            </a:pPr>
            <a:r>
              <a:rPr sz="2550" b="0">
                <a:solidFill>
                  <a:srgbClr val="142B43"/>
                </a:solidFill>
                <a:latin typeface="Arial"/>
                <a:ea typeface="Arial"/>
                <a:cs typeface="Arial"/>
              </a:rPr>
              <a:t>02   Tokens and recursive-descent parsing</a:t>
            </a:r>
          </a:p>
          <a:p xmlns:a="http://schemas.openxmlformats.org/drawingml/2006/main">
            <a:pPr>
              <a:defRPr sz="2550" b="0">
                <a:solidFill>
                  <a:srgbClr val="142B43"/>
                </a:solidFill>
                <a:latin typeface="Arial"/>
                <a:ea typeface="Arial"/>
                <a:cs typeface="Arial"/>
              </a:defRPr>
            </a:pPr>
            <a:r>
              <a:rPr sz="2550" b="0">
                <a:solidFill>
                  <a:srgbClr val="142B43"/>
                </a:solidFill>
                <a:latin typeface="Arial"/>
                <a:ea typeface="Arial"/>
                <a:cs typeface="Arial"/>
              </a:rPr>
              <a:t>03   AST and semantic analysis</a:t>
            </a:r>
          </a:p>
          <a:p xmlns:a="http://schemas.openxmlformats.org/drawingml/2006/main">
            <a:pPr>
              <a:defRPr sz="2550" b="0">
                <a:solidFill>
                  <a:srgbClr val="142B43"/>
                </a:solidFill>
                <a:latin typeface="Arial"/>
                <a:ea typeface="Arial"/>
                <a:cs typeface="Arial"/>
              </a:defRPr>
            </a:pPr>
            <a:r>
              <a:rPr sz="2550" b="0">
                <a:solidFill>
                  <a:srgbClr val="142B43"/>
                </a:solidFill>
                <a:latin typeface="Arial"/>
                <a:ea typeface="Arial"/>
                <a:cs typeface="Arial"/>
              </a:rPr>
              <a:t>04   Accepted program and output preview</a:t>
            </a:r>
          </a:p>
        </p:txBody>
      </p:sp>
      <p:sp>
        <p:nvSpPr>
          <p:cNvPr id="6" name="The interface makes every phase ins">
            <a:extLst xmlns:a="http://schemas.openxmlformats.org/drawingml/2006/main">
              <a:ext uri="{FF2B5EF4-FFF2-40B4-BE49-F238E27FC236}">
                <a16:creationId xmlns:a16="http://schemas.microsoft.com/office/drawing/2014/main" id="{01FA6612-A38E-48EC-A5A8-F4F85F7CE923}"/>
              </a:ext>
            </a:extLst>
          </p:cNvPr>
          <p:cNvSpPr>
            <a:spLocks xmlns:a="http://schemas.openxmlformats.org/drawingml/2006/main" noGrp="1"/>
          </p:cNvSpPr>
          <p:nvPr/>
        </p:nvSpPr>
        <p:spPr>
          <a:xfrm xmlns:a="http://schemas.openxmlformats.org/drawingml/2006/main">
            <a:off x="685800" y="5305425"/>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52667B"/>
                </a:solidFill>
                <a:latin typeface="Arial"/>
                <a:ea typeface="Arial"/>
                <a:cs typeface="Arial"/>
              </a:defRPr>
            </a:defPPr>
            <a:lvl1pPr>
              <a:defRPr sz="2100" b="0">
                <a:solidFill>
                  <a:srgbClr val="52667B"/>
                </a:solidFill>
                <a:latin typeface="Arial"/>
                <a:ea typeface="Arial"/>
                <a:cs typeface="Arial"/>
              </a:defRPr>
            </a:lvl1pPr>
            <a:lvl2pPr>
              <a:defRPr sz="2100" b="0">
                <a:solidFill>
                  <a:srgbClr val="52667B"/>
                </a:solidFill>
                <a:latin typeface="Arial"/>
                <a:ea typeface="Arial"/>
                <a:cs typeface="Arial"/>
              </a:defRPr>
            </a:lvl2pPr>
            <a:lvl3pPr>
              <a:defRPr sz="2100" b="0">
                <a:solidFill>
                  <a:srgbClr val="52667B"/>
                </a:solidFill>
                <a:latin typeface="Arial"/>
                <a:ea typeface="Arial"/>
                <a:cs typeface="Arial"/>
              </a:defRPr>
            </a:lvl3pPr>
            <a:lvl4pPr>
              <a:defRPr sz="2100" b="0">
                <a:solidFill>
                  <a:srgbClr val="52667B"/>
                </a:solidFill>
                <a:latin typeface="Arial"/>
                <a:ea typeface="Arial"/>
                <a:cs typeface="Arial"/>
              </a:defRPr>
            </a:lvl4pPr>
            <a:lvl5pPr>
              <a:defRPr sz="2100" b="0">
                <a:solidFill>
                  <a:srgbClr val="52667B"/>
                </a:solidFill>
                <a:latin typeface="Arial"/>
                <a:ea typeface="Arial"/>
                <a:cs typeface="Arial"/>
              </a:defRPr>
            </a:lvl5pPr>
            <a:lvl6pPr>
              <a:defRPr sz="2100" b="0">
                <a:solidFill>
                  <a:srgbClr val="52667B"/>
                </a:solidFill>
                <a:latin typeface="Arial"/>
                <a:ea typeface="Arial"/>
                <a:cs typeface="Arial"/>
              </a:defRPr>
            </a:lvl6pPr>
            <a:lvl7pPr>
              <a:defRPr sz="2100" b="0">
                <a:solidFill>
                  <a:srgbClr val="52667B"/>
                </a:solidFill>
                <a:latin typeface="Arial"/>
                <a:ea typeface="Arial"/>
                <a:cs typeface="Arial"/>
              </a:defRPr>
            </a:lvl7pPr>
            <a:lvl8pPr>
              <a:defRPr sz="2100" b="0">
                <a:solidFill>
                  <a:srgbClr val="52667B"/>
                </a:solidFill>
                <a:latin typeface="Arial"/>
                <a:ea typeface="Arial"/>
                <a:cs typeface="Arial"/>
              </a:defRPr>
            </a:lvl8pPr>
            <a:lvl9pPr>
              <a:defRPr sz="2100" b="0">
                <a:solidFill>
                  <a:srgbClr val="52667B"/>
                </a:solidFill>
                <a:latin typeface="Arial"/>
                <a:ea typeface="Arial"/>
                <a:cs typeface="Arial"/>
              </a:defRPr>
            </a:lvl9pPr>
          </a:lstStyle>
          <a:p xmlns:a="http://schemas.openxmlformats.org/drawingml/2006/main">
            <a:pPr>
              <a:defRPr sz="2100" b="0">
                <a:solidFill>
                  <a:srgbClr val="52667B"/>
                </a:solidFill>
                <a:latin typeface="Arial"/>
                <a:ea typeface="Arial"/>
                <a:cs typeface="Arial"/>
              </a:defRPr>
            </a:pPr>
            <a:r>
              <a:rPr sz="2100" b="0">
                <a:solidFill>
                  <a:srgbClr val="52667B"/>
                </a:solidFill>
                <a:latin typeface="Arial"/>
                <a:ea typeface="Arial"/>
                <a:cs typeface="Arial"/>
              </a:rPr>
              <a:t>The interface makes every phase inspectable.</a:t>
            </a:r>
          </a:p>
        </p:txBody>
      </p:sp>
    </p:spTree>
    <p:extLst>
      <p:ext uri="{BB962C8B-B14F-4D97-AF65-F5344CB8AC3E}">
        <p14:creationId xmlns:p14="http://schemas.microsoft.com/office/powerpoint/2010/main" val="39484159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MPILER DESIGN">
            <a:extLst xmlns:a="http://schemas.openxmlformats.org/drawingml/2006/main">
              <a:ext uri="{FF2B5EF4-FFF2-40B4-BE49-F238E27FC236}">
                <a16:creationId xmlns:a16="http://schemas.microsoft.com/office/drawing/2014/main" id="{FFA0DBAC-25EA-44EE-AF94-12EEC8C13522}"/>
              </a:ext>
            </a:extLst>
          </p:cNvPr>
          <p:cNvSpPr>
            <a:spLocks xmlns:a="http://schemas.openxmlformats.org/drawingml/2006/main" noGrp="1"/>
          </p:cNvSpPr>
          <p:nvPr/>
        </p:nvSpPr>
        <p:spPr>
          <a:xfrm xmlns:a="http://schemas.openxmlformats.org/drawingml/2006/main">
            <a:off x="685800" y="2857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DF6948"/>
                </a:solidFill>
                <a:latin typeface="Arial"/>
                <a:ea typeface="Arial"/>
                <a:cs typeface="Arial"/>
              </a:defRPr>
            </a:defPPr>
            <a:lvl1pPr>
              <a:defRPr sz="1125" b="1">
                <a:solidFill>
                  <a:srgbClr val="DF6948"/>
                </a:solidFill>
                <a:latin typeface="Arial"/>
                <a:ea typeface="Arial"/>
                <a:cs typeface="Arial"/>
              </a:defRPr>
            </a:lvl1pPr>
            <a:lvl2pPr>
              <a:defRPr sz="1125" b="1">
                <a:solidFill>
                  <a:srgbClr val="DF6948"/>
                </a:solidFill>
                <a:latin typeface="Arial"/>
                <a:ea typeface="Arial"/>
                <a:cs typeface="Arial"/>
              </a:defRPr>
            </a:lvl2pPr>
            <a:lvl3pPr>
              <a:defRPr sz="1125" b="1">
                <a:solidFill>
                  <a:srgbClr val="DF6948"/>
                </a:solidFill>
                <a:latin typeface="Arial"/>
                <a:ea typeface="Arial"/>
                <a:cs typeface="Arial"/>
              </a:defRPr>
            </a:lvl3pPr>
            <a:lvl4pPr>
              <a:defRPr sz="1125" b="1">
                <a:solidFill>
                  <a:srgbClr val="DF6948"/>
                </a:solidFill>
                <a:latin typeface="Arial"/>
                <a:ea typeface="Arial"/>
                <a:cs typeface="Arial"/>
              </a:defRPr>
            </a:lvl4pPr>
            <a:lvl5pPr>
              <a:defRPr sz="1125" b="1">
                <a:solidFill>
                  <a:srgbClr val="DF6948"/>
                </a:solidFill>
                <a:latin typeface="Arial"/>
                <a:ea typeface="Arial"/>
                <a:cs typeface="Arial"/>
              </a:defRPr>
            </a:lvl5pPr>
            <a:lvl6pPr>
              <a:defRPr sz="1125" b="1">
                <a:solidFill>
                  <a:srgbClr val="DF6948"/>
                </a:solidFill>
                <a:latin typeface="Arial"/>
                <a:ea typeface="Arial"/>
                <a:cs typeface="Arial"/>
              </a:defRPr>
            </a:lvl6pPr>
            <a:lvl7pPr>
              <a:defRPr sz="1125" b="1">
                <a:solidFill>
                  <a:srgbClr val="DF6948"/>
                </a:solidFill>
                <a:latin typeface="Arial"/>
                <a:ea typeface="Arial"/>
                <a:cs typeface="Arial"/>
              </a:defRPr>
            </a:lvl7pPr>
            <a:lvl8pPr>
              <a:defRPr sz="1125" b="1">
                <a:solidFill>
                  <a:srgbClr val="DF6948"/>
                </a:solidFill>
                <a:latin typeface="Arial"/>
                <a:ea typeface="Arial"/>
                <a:cs typeface="Arial"/>
              </a:defRPr>
            </a:lvl8pPr>
            <a:lvl9pPr>
              <a:defRPr sz="1125" b="1">
                <a:solidFill>
                  <a:srgbClr val="DF6948"/>
                </a:solidFill>
                <a:latin typeface="Arial"/>
                <a:ea typeface="Arial"/>
                <a:cs typeface="Arial"/>
              </a:defRPr>
            </a:lvl9pPr>
          </a:lstStyle>
          <a:p xmlns:a="http://schemas.openxmlformats.org/drawingml/2006/main">
            <a:pPr>
              <a:defRPr sz="1125" b="1">
                <a:solidFill>
                  <a:srgbClr val="DF6948"/>
                </a:solidFill>
                <a:latin typeface="Arial"/>
                <a:ea typeface="Arial"/>
                <a:cs typeface="Arial"/>
              </a:defRPr>
            </a:pPr>
            <a:r>
              <a:rPr sz="1125" b="1">
                <a:solidFill>
                  <a:srgbClr val="DF6948"/>
                </a:solidFill>
                <a:latin typeface="Arial"/>
                <a:ea typeface="Arial"/>
                <a:cs typeface="Arial"/>
              </a:rPr>
              <a:t>COMPILER DESIGN</a:t>
            </a:r>
          </a:p>
        </p:txBody>
      </p:sp>
      <p:sp>
        <p:nvSpPr>
          <p:cNvPr id="2" name="Slide title">
            <a:extLst xmlns:a="http://schemas.openxmlformats.org/drawingml/2006/main">
              <a:ext uri="{FF2B5EF4-FFF2-40B4-BE49-F238E27FC236}">
                <a16:creationId xmlns:a16="http://schemas.microsoft.com/office/drawing/2014/main" id="{8C37A6F0-0CFC-4D5A-B64C-7E5862DD9DBE}"/>
              </a:ext>
            </a:extLst>
          </p:cNvPr>
          <p:cNvSpPr>
            <a:spLocks xmlns:a="http://schemas.openxmlformats.org/drawingml/2006/main" noGrp="1"/>
          </p:cNvSpPr>
          <p:nvPr/>
        </p:nvSpPr>
        <p:spPr>
          <a:xfrm xmlns:a="http://schemas.openxmlformats.org/drawingml/2006/main">
            <a:off x="685800" y="7620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42B43"/>
                </a:solidFill>
                <a:latin typeface="Arial"/>
                <a:ea typeface="Arial"/>
                <a:cs typeface="Arial"/>
              </a:defRPr>
            </a:defPPr>
            <a:lvl1pPr>
              <a:defRPr sz="3450" b="1">
                <a:solidFill>
                  <a:srgbClr val="142B43"/>
                </a:solidFill>
                <a:latin typeface="Arial"/>
                <a:ea typeface="Arial"/>
                <a:cs typeface="Arial"/>
              </a:defRPr>
            </a:lvl1pPr>
            <a:lvl2pPr>
              <a:defRPr sz="3450" b="1">
                <a:solidFill>
                  <a:srgbClr val="142B43"/>
                </a:solidFill>
                <a:latin typeface="Arial"/>
                <a:ea typeface="Arial"/>
                <a:cs typeface="Arial"/>
              </a:defRPr>
            </a:lvl2pPr>
            <a:lvl3pPr>
              <a:defRPr sz="3450" b="1">
                <a:solidFill>
                  <a:srgbClr val="142B43"/>
                </a:solidFill>
                <a:latin typeface="Arial"/>
                <a:ea typeface="Arial"/>
                <a:cs typeface="Arial"/>
              </a:defRPr>
            </a:lvl3pPr>
            <a:lvl4pPr>
              <a:defRPr sz="3450" b="1">
                <a:solidFill>
                  <a:srgbClr val="142B43"/>
                </a:solidFill>
                <a:latin typeface="Arial"/>
                <a:ea typeface="Arial"/>
                <a:cs typeface="Arial"/>
              </a:defRPr>
            </a:lvl4pPr>
            <a:lvl5pPr>
              <a:defRPr sz="3450" b="1">
                <a:solidFill>
                  <a:srgbClr val="142B43"/>
                </a:solidFill>
                <a:latin typeface="Arial"/>
                <a:ea typeface="Arial"/>
                <a:cs typeface="Arial"/>
              </a:defRPr>
            </a:lvl5pPr>
            <a:lvl6pPr>
              <a:defRPr sz="3450" b="1">
                <a:solidFill>
                  <a:srgbClr val="142B43"/>
                </a:solidFill>
                <a:latin typeface="Arial"/>
                <a:ea typeface="Arial"/>
                <a:cs typeface="Arial"/>
              </a:defRPr>
            </a:lvl6pPr>
            <a:lvl7pPr>
              <a:defRPr sz="3450" b="1">
                <a:solidFill>
                  <a:srgbClr val="142B43"/>
                </a:solidFill>
                <a:latin typeface="Arial"/>
                <a:ea typeface="Arial"/>
                <a:cs typeface="Arial"/>
              </a:defRPr>
            </a:lvl7pPr>
            <a:lvl8pPr>
              <a:defRPr sz="3450" b="1">
                <a:solidFill>
                  <a:srgbClr val="142B43"/>
                </a:solidFill>
                <a:latin typeface="Arial"/>
                <a:ea typeface="Arial"/>
                <a:cs typeface="Arial"/>
              </a:defRPr>
            </a:lvl8pPr>
            <a:lvl9pPr>
              <a:defRPr sz="3450" b="1">
                <a:solidFill>
                  <a:srgbClr val="142B43"/>
                </a:solidFill>
                <a:latin typeface="Arial"/>
                <a:ea typeface="Arial"/>
                <a:cs typeface="Arial"/>
              </a:defRPr>
            </a:lvl9pPr>
          </a:lstStyle>
          <a:p xmlns:a="http://schemas.openxmlformats.org/drawingml/2006/main">
            <a:pPr>
              <a:defRPr sz="3450" b="1">
                <a:solidFill>
                  <a:srgbClr val="142B43"/>
                </a:solidFill>
                <a:latin typeface="Arial"/>
                <a:ea typeface="Arial"/>
                <a:cs typeface="Arial"/>
              </a:defRPr>
            </a:pPr>
            <a:r>
              <a:rPr sz="3450" b="1">
                <a:solidFill>
                  <a:srgbClr val="142B43"/>
                </a:solidFill>
                <a:latin typeface="Arial"/>
                <a:ea typeface="Arial"/>
                <a:cs typeface="Arial"/>
              </a:rPr>
              <a:t>Lexical analysis</a:t>
            </a:r>
          </a:p>
        </p:txBody>
      </p:sp>
      <p:sp>
        <p:nvSpPr>
          <p:cNvPr id="3" name="StringLab Browser Compiler Front En">
            <a:extLst xmlns:a="http://schemas.openxmlformats.org/drawingml/2006/main">
              <a:ext uri="{FF2B5EF4-FFF2-40B4-BE49-F238E27FC236}">
                <a16:creationId xmlns:a16="http://schemas.microsoft.com/office/drawing/2014/main" id="{A6B0F10B-B156-4977-98C3-349349DEFAAC}"/>
              </a:ext>
            </a:extLst>
          </p:cNvPr>
          <p:cNvSpPr>
            <a:spLocks xmlns:a="http://schemas.openxmlformats.org/drawingml/2006/main" noGrp="1"/>
          </p:cNvSpPr>
          <p:nvPr/>
        </p:nvSpPr>
        <p:spPr>
          <a:xfrm xmlns:a="http://schemas.openxmlformats.org/drawingml/2006/main">
            <a:off x="685800" y="64008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StringLab Browser Compiler Front End</a:t>
            </a:r>
          </a:p>
        </p:txBody>
      </p:sp>
      <p:sp>
        <p:nvSpPr>
          <p:cNvPr id="4" name="04">
            <a:extLst xmlns:a="http://schemas.openxmlformats.org/drawingml/2006/main">
              <a:ext uri="{FF2B5EF4-FFF2-40B4-BE49-F238E27FC236}">
                <a16:creationId xmlns:a16="http://schemas.microsoft.com/office/drawing/2014/main" id="{550954C3-332F-4C86-9EF3-E50B94A65A09}"/>
              </a:ext>
            </a:extLst>
          </p:cNvPr>
          <p:cNvSpPr>
            <a:spLocks xmlns:a="http://schemas.openxmlformats.org/drawingml/2006/main" noGrp="1"/>
          </p:cNvSpPr>
          <p:nvPr/>
        </p:nvSpPr>
        <p:spPr>
          <a:xfrm xmlns:a="http://schemas.openxmlformats.org/drawingml/2006/main">
            <a:off x="11001375" y="6400800"/>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04</a:t>
            </a:r>
          </a:p>
        </p:txBody>
      </p:sp>
      <p:pic>
        <p:nvPicPr>
          <p:cNvPr id="5" name="">
            <a:extLst xmlns:a="http://schemas.openxmlformats.org/drawingml/2006/main">
              <a:ext uri="{FF2B5EF4-FFF2-40B4-BE49-F238E27FC236}">
                <a16:creationId xmlns:a16="http://schemas.microsoft.com/office/drawing/2014/main" id="{54F5C599-E2E4-41CE-B3C0-38C12EBDFC77}"/>
              </a:ext>
            </a:extLst>
          </p:cNvPr>
          <p:cNvPicPr>
            <a:picLocks xmlns:a="http://schemas.openxmlformats.org/drawingml/2006/main" noChangeAspect="1"/>
          </p:cNvPicPr>
          <p:nvPr/>
        </p:nvPicPr>
        <p:blipFill>
          <a:blip xmlns:r="http://schemas.openxmlformats.org/officeDocument/2006/relationships" xmlns:a="http://schemas.openxmlformats.org/drawingml/2006/main" r:embed="R07ac1001c84743d9"/>
          <a:stretch xmlns:a="http://schemas.openxmlformats.org/drawingml/2006/main"/>
        </p:blipFill>
        <p:spPr>
          <a:xfrm xmlns:a="http://schemas.openxmlformats.org/drawingml/2006/main">
            <a:off x="1295032" y="1762125"/>
            <a:ext cx="5687161" cy="4191000"/>
          </a:xfrm>
          <a:prstGeom xmlns:a="http://schemas.openxmlformats.org/drawingml/2006/main" prst="rect">
            <a:avLst/>
          </a:prstGeom>
        </p:spPr>
      </p:pic>
      <p:sp>
        <p:nvSpPr>
          <p:cNvPr id="6" name="Positioned tokens&#10;&#10;Raw lexemes&#10;&#10;Dec">
            <a:extLst xmlns:a="http://schemas.openxmlformats.org/drawingml/2006/main">
              <a:ext uri="{FF2B5EF4-FFF2-40B4-BE49-F238E27FC236}">
                <a16:creationId xmlns:a16="http://schemas.microsoft.com/office/drawing/2014/main" id="{77ABDC49-3E97-407D-A82E-A7F719567D30}"/>
              </a:ext>
            </a:extLst>
          </p:cNvPr>
          <p:cNvSpPr>
            <a:spLocks xmlns:a="http://schemas.openxmlformats.org/drawingml/2006/main" noGrp="1"/>
          </p:cNvSpPr>
          <p:nvPr/>
        </p:nvSpPr>
        <p:spPr>
          <a:xfrm xmlns:a="http://schemas.openxmlformats.org/drawingml/2006/main">
            <a:off x="8039100" y="2047875"/>
            <a:ext cx="3476625"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B43"/>
                </a:solidFill>
                <a:latin typeface="Arial"/>
                <a:ea typeface="Arial"/>
                <a:cs typeface="Arial"/>
              </a:defRPr>
            </a:defPPr>
            <a:lvl1pPr>
              <a:defRPr sz="2100" b="0">
                <a:solidFill>
                  <a:srgbClr val="142B43"/>
                </a:solidFill>
                <a:latin typeface="Arial"/>
                <a:ea typeface="Arial"/>
                <a:cs typeface="Arial"/>
              </a:defRPr>
            </a:lvl1pPr>
            <a:lvl2pPr>
              <a:defRPr sz="2100" b="0">
                <a:solidFill>
                  <a:srgbClr val="142B43"/>
                </a:solidFill>
                <a:latin typeface="Arial"/>
                <a:ea typeface="Arial"/>
                <a:cs typeface="Arial"/>
              </a:defRPr>
            </a:lvl2pPr>
            <a:lvl3pPr>
              <a:defRPr sz="2100" b="0">
                <a:solidFill>
                  <a:srgbClr val="142B43"/>
                </a:solidFill>
                <a:latin typeface="Arial"/>
                <a:ea typeface="Arial"/>
                <a:cs typeface="Arial"/>
              </a:defRPr>
            </a:lvl3pPr>
            <a:lvl4pPr>
              <a:defRPr sz="2100" b="0">
                <a:solidFill>
                  <a:srgbClr val="142B43"/>
                </a:solidFill>
                <a:latin typeface="Arial"/>
                <a:ea typeface="Arial"/>
                <a:cs typeface="Arial"/>
              </a:defRPr>
            </a:lvl4pPr>
            <a:lvl5pPr>
              <a:defRPr sz="2100" b="0">
                <a:solidFill>
                  <a:srgbClr val="142B43"/>
                </a:solidFill>
                <a:latin typeface="Arial"/>
                <a:ea typeface="Arial"/>
                <a:cs typeface="Arial"/>
              </a:defRPr>
            </a:lvl5pPr>
            <a:lvl6pPr>
              <a:defRPr sz="2100" b="0">
                <a:solidFill>
                  <a:srgbClr val="142B43"/>
                </a:solidFill>
                <a:latin typeface="Arial"/>
                <a:ea typeface="Arial"/>
                <a:cs typeface="Arial"/>
              </a:defRPr>
            </a:lvl6pPr>
            <a:lvl7pPr>
              <a:defRPr sz="2100" b="0">
                <a:solidFill>
                  <a:srgbClr val="142B43"/>
                </a:solidFill>
                <a:latin typeface="Arial"/>
                <a:ea typeface="Arial"/>
                <a:cs typeface="Arial"/>
              </a:defRPr>
            </a:lvl7pPr>
            <a:lvl8pPr>
              <a:defRPr sz="2100" b="0">
                <a:solidFill>
                  <a:srgbClr val="142B43"/>
                </a:solidFill>
                <a:latin typeface="Arial"/>
                <a:ea typeface="Arial"/>
                <a:cs typeface="Arial"/>
              </a:defRPr>
            </a:lvl8pPr>
            <a:lvl9pPr>
              <a:defRPr sz="2100" b="0">
                <a:solidFill>
                  <a:srgbClr val="142B43"/>
                </a:solidFill>
                <a:latin typeface="Arial"/>
                <a:ea typeface="Arial"/>
                <a:cs typeface="Arial"/>
              </a:defRPr>
            </a:lvl9pPr>
          </a:lstStyle>
          <a:p xmlns:a="http://schemas.openxmlformats.org/drawingml/2006/main">
            <a:pPr>
              <a:defRPr sz="2100" b="0">
                <a:solidFill>
                  <a:srgbClr val="142B43"/>
                </a:solidFill>
                <a:latin typeface="Arial"/>
                <a:ea typeface="Arial"/>
                <a:cs typeface="Arial"/>
              </a:defRPr>
            </a:pPr>
            <a:r>
              <a:rPr sz="2100" b="0">
                <a:solidFill>
                  <a:srgbClr val="142B43"/>
                </a:solidFill>
                <a:latin typeface="Arial"/>
                <a:ea typeface="Arial"/>
                <a:cs typeface="Arial"/>
              </a:rPr>
              <a:t>Positioned tokens</a:t>
            </a:r>
          </a:p>
          <a:p xmlns:a="http://schemas.openxmlformats.org/drawingml/2006/main">
            <a:r>
              <a:t/>
            </a:r>
          </a:p>
          <a:p xmlns:a="http://schemas.openxmlformats.org/drawingml/2006/main">
            <a:pPr>
              <a:defRPr sz="2100" b="0">
                <a:solidFill>
                  <a:srgbClr val="142B43"/>
                </a:solidFill>
                <a:latin typeface="Arial"/>
                <a:ea typeface="Arial"/>
                <a:cs typeface="Arial"/>
              </a:defRPr>
            </a:pPr>
            <a:r>
              <a:rPr sz="2100" b="0">
                <a:solidFill>
                  <a:srgbClr val="142B43"/>
                </a:solidFill>
                <a:latin typeface="Arial"/>
                <a:ea typeface="Arial"/>
                <a:cs typeface="Arial"/>
              </a:rPr>
              <a:t>Raw lexemes</a:t>
            </a:r>
          </a:p>
          <a:p xmlns:a="http://schemas.openxmlformats.org/drawingml/2006/main">
            <a:r>
              <a:t/>
            </a:r>
          </a:p>
          <a:p xmlns:a="http://schemas.openxmlformats.org/drawingml/2006/main">
            <a:pPr>
              <a:defRPr sz="2100" b="0">
                <a:solidFill>
                  <a:srgbClr val="142B43"/>
                </a:solidFill>
                <a:latin typeface="Arial"/>
                <a:ea typeface="Arial"/>
                <a:cs typeface="Arial"/>
              </a:defRPr>
            </a:pPr>
            <a:r>
              <a:rPr sz="2100" b="0">
                <a:solidFill>
                  <a:srgbClr val="142B43"/>
                </a:solidFill>
                <a:latin typeface="Arial"/>
                <a:ea typeface="Arial"/>
                <a:cs typeface="Arial"/>
              </a:rPr>
              <a:t>Decoded literals</a:t>
            </a:r>
          </a:p>
          <a:p xmlns:a="http://schemas.openxmlformats.org/drawingml/2006/main">
            <a:r>
              <a:t/>
            </a:r>
          </a:p>
          <a:p xmlns:a="http://schemas.openxmlformats.org/drawingml/2006/main">
            <a:pPr>
              <a:defRPr sz="2100" b="0">
                <a:solidFill>
                  <a:srgbClr val="142B43"/>
                </a:solidFill>
                <a:latin typeface="Arial"/>
                <a:ea typeface="Arial"/>
                <a:cs typeface="Arial"/>
              </a:defRPr>
            </a:pPr>
            <a:r>
              <a:rPr sz="2100" b="0">
                <a:solidFill>
                  <a:srgbClr val="142B43"/>
                </a:solidFill>
                <a:latin typeface="Arial"/>
                <a:ea typeface="Arial"/>
                <a:cs typeface="Arial"/>
              </a:rPr>
              <a:t>Validated escapes</a:t>
            </a:r>
          </a:p>
        </p:txBody>
      </p:sp>
    </p:spTree>
    <p:extLst>
      <p:ext uri="{BB962C8B-B14F-4D97-AF65-F5344CB8AC3E}">
        <p14:creationId xmlns:p14="http://schemas.microsoft.com/office/powerpoint/2010/main" val="134705138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MPILER DESIGN">
            <a:extLst xmlns:a="http://schemas.openxmlformats.org/drawingml/2006/main">
              <a:ext uri="{FF2B5EF4-FFF2-40B4-BE49-F238E27FC236}">
                <a16:creationId xmlns:a16="http://schemas.microsoft.com/office/drawing/2014/main" id="{C1505330-8984-42F2-B28B-FECF61C94143}"/>
              </a:ext>
            </a:extLst>
          </p:cNvPr>
          <p:cNvSpPr>
            <a:spLocks xmlns:a="http://schemas.openxmlformats.org/drawingml/2006/main" noGrp="1"/>
          </p:cNvSpPr>
          <p:nvPr/>
        </p:nvSpPr>
        <p:spPr>
          <a:xfrm xmlns:a="http://schemas.openxmlformats.org/drawingml/2006/main">
            <a:off x="685800" y="2857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DF6948"/>
                </a:solidFill>
                <a:latin typeface="Arial"/>
                <a:ea typeface="Arial"/>
                <a:cs typeface="Arial"/>
              </a:defRPr>
            </a:defPPr>
            <a:lvl1pPr>
              <a:defRPr sz="1125" b="1">
                <a:solidFill>
                  <a:srgbClr val="DF6948"/>
                </a:solidFill>
                <a:latin typeface="Arial"/>
                <a:ea typeface="Arial"/>
                <a:cs typeface="Arial"/>
              </a:defRPr>
            </a:lvl1pPr>
            <a:lvl2pPr>
              <a:defRPr sz="1125" b="1">
                <a:solidFill>
                  <a:srgbClr val="DF6948"/>
                </a:solidFill>
                <a:latin typeface="Arial"/>
                <a:ea typeface="Arial"/>
                <a:cs typeface="Arial"/>
              </a:defRPr>
            </a:lvl2pPr>
            <a:lvl3pPr>
              <a:defRPr sz="1125" b="1">
                <a:solidFill>
                  <a:srgbClr val="DF6948"/>
                </a:solidFill>
                <a:latin typeface="Arial"/>
                <a:ea typeface="Arial"/>
                <a:cs typeface="Arial"/>
              </a:defRPr>
            </a:lvl3pPr>
            <a:lvl4pPr>
              <a:defRPr sz="1125" b="1">
                <a:solidFill>
                  <a:srgbClr val="DF6948"/>
                </a:solidFill>
                <a:latin typeface="Arial"/>
                <a:ea typeface="Arial"/>
                <a:cs typeface="Arial"/>
              </a:defRPr>
            </a:lvl4pPr>
            <a:lvl5pPr>
              <a:defRPr sz="1125" b="1">
                <a:solidFill>
                  <a:srgbClr val="DF6948"/>
                </a:solidFill>
                <a:latin typeface="Arial"/>
                <a:ea typeface="Arial"/>
                <a:cs typeface="Arial"/>
              </a:defRPr>
            </a:lvl5pPr>
            <a:lvl6pPr>
              <a:defRPr sz="1125" b="1">
                <a:solidFill>
                  <a:srgbClr val="DF6948"/>
                </a:solidFill>
                <a:latin typeface="Arial"/>
                <a:ea typeface="Arial"/>
                <a:cs typeface="Arial"/>
              </a:defRPr>
            </a:lvl6pPr>
            <a:lvl7pPr>
              <a:defRPr sz="1125" b="1">
                <a:solidFill>
                  <a:srgbClr val="DF6948"/>
                </a:solidFill>
                <a:latin typeface="Arial"/>
                <a:ea typeface="Arial"/>
                <a:cs typeface="Arial"/>
              </a:defRPr>
            </a:lvl7pPr>
            <a:lvl8pPr>
              <a:defRPr sz="1125" b="1">
                <a:solidFill>
                  <a:srgbClr val="DF6948"/>
                </a:solidFill>
                <a:latin typeface="Arial"/>
                <a:ea typeface="Arial"/>
                <a:cs typeface="Arial"/>
              </a:defRPr>
            </a:lvl8pPr>
            <a:lvl9pPr>
              <a:defRPr sz="1125" b="1">
                <a:solidFill>
                  <a:srgbClr val="DF6948"/>
                </a:solidFill>
                <a:latin typeface="Arial"/>
                <a:ea typeface="Arial"/>
                <a:cs typeface="Arial"/>
              </a:defRPr>
            </a:lvl9pPr>
          </a:lstStyle>
          <a:p xmlns:a="http://schemas.openxmlformats.org/drawingml/2006/main">
            <a:pPr>
              <a:defRPr sz="1125" b="1">
                <a:solidFill>
                  <a:srgbClr val="DF6948"/>
                </a:solidFill>
                <a:latin typeface="Arial"/>
                <a:ea typeface="Arial"/>
                <a:cs typeface="Arial"/>
              </a:defRPr>
            </a:pPr>
            <a:r>
              <a:rPr sz="1125" b="1">
                <a:solidFill>
                  <a:srgbClr val="DF6948"/>
                </a:solidFill>
                <a:latin typeface="Arial"/>
                <a:ea typeface="Arial"/>
                <a:cs typeface="Arial"/>
              </a:rPr>
              <a:t>COMPILER DESIGN</a:t>
            </a:r>
          </a:p>
        </p:txBody>
      </p:sp>
      <p:sp>
        <p:nvSpPr>
          <p:cNvPr id="2" name="Slide title">
            <a:extLst xmlns:a="http://schemas.openxmlformats.org/drawingml/2006/main">
              <a:ext uri="{FF2B5EF4-FFF2-40B4-BE49-F238E27FC236}">
                <a16:creationId xmlns:a16="http://schemas.microsoft.com/office/drawing/2014/main" id="{68163B9D-E779-4099-8BA8-FA491939747D}"/>
              </a:ext>
            </a:extLst>
          </p:cNvPr>
          <p:cNvSpPr>
            <a:spLocks xmlns:a="http://schemas.openxmlformats.org/drawingml/2006/main" noGrp="1"/>
          </p:cNvSpPr>
          <p:nvPr/>
        </p:nvSpPr>
        <p:spPr>
          <a:xfrm xmlns:a="http://schemas.openxmlformats.org/drawingml/2006/main">
            <a:off x="685800" y="7620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42B43"/>
                </a:solidFill>
                <a:latin typeface="Arial"/>
                <a:ea typeface="Arial"/>
                <a:cs typeface="Arial"/>
              </a:defRPr>
            </a:defPPr>
            <a:lvl1pPr>
              <a:defRPr sz="3450" b="1">
                <a:solidFill>
                  <a:srgbClr val="142B43"/>
                </a:solidFill>
                <a:latin typeface="Arial"/>
                <a:ea typeface="Arial"/>
                <a:cs typeface="Arial"/>
              </a:defRPr>
            </a:lvl1pPr>
            <a:lvl2pPr>
              <a:defRPr sz="3450" b="1">
                <a:solidFill>
                  <a:srgbClr val="142B43"/>
                </a:solidFill>
                <a:latin typeface="Arial"/>
                <a:ea typeface="Arial"/>
                <a:cs typeface="Arial"/>
              </a:defRPr>
            </a:lvl2pPr>
            <a:lvl3pPr>
              <a:defRPr sz="3450" b="1">
                <a:solidFill>
                  <a:srgbClr val="142B43"/>
                </a:solidFill>
                <a:latin typeface="Arial"/>
                <a:ea typeface="Arial"/>
                <a:cs typeface="Arial"/>
              </a:defRPr>
            </a:lvl3pPr>
            <a:lvl4pPr>
              <a:defRPr sz="3450" b="1">
                <a:solidFill>
                  <a:srgbClr val="142B43"/>
                </a:solidFill>
                <a:latin typeface="Arial"/>
                <a:ea typeface="Arial"/>
                <a:cs typeface="Arial"/>
              </a:defRPr>
            </a:lvl4pPr>
            <a:lvl5pPr>
              <a:defRPr sz="3450" b="1">
                <a:solidFill>
                  <a:srgbClr val="142B43"/>
                </a:solidFill>
                <a:latin typeface="Arial"/>
                <a:ea typeface="Arial"/>
                <a:cs typeface="Arial"/>
              </a:defRPr>
            </a:lvl5pPr>
            <a:lvl6pPr>
              <a:defRPr sz="3450" b="1">
                <a:solidFill>
                  <a:srgbClr val="142B43"/>
                </a:solidFill>
                <a:latin typeface="Arial"/>
                <a:ea typeface="Arial"/>
                <a:cs typeface="Arial"/>
              </a:defRPr>
            </a:lvl6pPr>
            <a:lvl7pPr>
              <a:defRPr sz="3450" b="1">
                <a:solidFill>
                  <a:srgbClr val="142B43"/>
                </a:solidFill>
                <a:latin typeface="Arial"/>
                <a:ea typeface="Arial"/>
                <a:cs typeface="Arial"/>
              </a:defRPr>
            </a:lvl7pPr>
            <a:lvl8pPr>
              <a:defRPr sz="3450" b="1">
                <a:solidFill>
                  <a:srgbClr val="142B43"/>
                </a:solidFill>
                <a:latin typeface="Arial"/>
                <a:ea typeface="Arial"/>
                <a:cs typeface="Arial"/>
              </a:defRPr>
            </a:lvl8pPr>
            <a:lvl9pPr>
              <a:defRPr sz="3450" b="1">
                <a:solidFill>
                  <a:srgbClr val="142B43"/>
                </a:solidFill>
                <a:latin typeface="Arial"/>
                <a:ea typeface="Arial"/>
                <a:cs typeface="Arial"/>
              </a:defRPr>
            </a:lvl9pPr>
          </a:lstStyle>
          <a:p xmlns:a="http://schemas.openxmlformats.org/drawingml/2006/main">
            <a:pPr>
              <a:defRPr sz="3450" b="1">
                <a:solidFill>
                  <a:srgbClr val="142B43"/>
                </a:solidFill>
                <a:latin typeface="Arial"/>
                <a:ea typeface="Arial"/>
                <a:cs typeface="Arial"/>
              </a:defRPr>
            </a:pPr>
            <a:r>
              <a:rPr sz="3450" b="1">
                <a:solidFill>
                  <a:srgbClr val="142B43"/>
                </a:solidFill>
                <a:latin typeface="Arial"/>
                <a:ea typeface="Arial"/>
                <a:cs typeface="Arial"/>
              </a:rPr>
              <a:t>Grammar transformations</a:t>
            </a:r>
          </a:p>
        </p:txBody>
      </p:sp>
      <p:sp>
        <p:nvSpPr>
          <p:cNvPr id="3" name="StringLab Browser Compiler Front En">
            <a:extLst xmlns:a="http://schemas.openxmlformats.org/drawingml/2006/main">
              <a:ext uri="{FF2B5EF4-FFF2-40B4-BE49-F238E27FC236}">
                <a16:creationId xmlns:a16="http://schemas.microsoft.com/office/drawing/2014/main" id="{3E638C38-12D1-476D-B3E9-75925BC44FF8}"/>
              </a:ext>
            </a:extLst>
          </p:cNvPr>
          <p:cNvSpPr>
            <a:spLocks xmlns:a="http://schemas.openxmlformats.org/drawingml/2006/main" noGrp="1"/>
          </p:cNvSpPr>
          <p:nvPr/>
        </p:nvSpPr>
        <p:spPr>
          <a:xfrm xmlns:a="http://schemas.openxmlformats.org/drawingml/2006/main">
            <a:off x="685800" y="64008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StringLab Browser Compiler Front End</a:t>
            </a:r>
          </a:p>
        </p:txBody>
      </p:sp>
      <p:sp>
        <p:nvSpPr>
          <p:cNvPr id="4" name="05">
            <a:extLst xmlns:a="http://schemas.openxmlformats.org/drawingml/2006/main">
              <a:ext uri="{FF2B5EF4-FFF2-40B4-BE49-F238E27FC236}">
                <a16:creationId xmlns:a16="http://schemas.microsoft.com/office/drawing/2014/main" id="{16F32B6A-3220-4EA6-8177-0DD9D10F7F74}"/>
              </a:ext>
            </a:extLst>
          </p:cNvPr>
          <p:cNvSpPr>
            <a:spLocks xmlns:a="http://schemas.openxmlformats.org/drawingml/2006/main" noGrp="1"/>
          </p:cNvSpPr>
          <p:nvPr/>
        </p:nvSpPr>
        <p:spPr>
          <a:xfrm xmlns:a="http://schemas.openxmlformats.org/drawingml/2006/main">
            <a:off x="11001375" y="6400800"/>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05</a:t>
            </a:r>
          </a:p>
        </p:txBody>
      </p:sp>
      <p:sp>
        <p:nvSpPr>
          <p:cNvPr id="5" name="Original expression">
            <a:extLst xmlns:a="http://schemas.openxmlformats.org/drawingml/2006/main">
              <a:ext uri="{FF2B5EF4-FFF2-40B4-BE49-F238E27FC236}">
                <a16:creationId xmlns:a16="http://schemas.microsoft.com/office/drawing/2014/main" id="{9B3E555E-1EEC-4F2D-9BAF-CD8DF78DBCA7}"/>
              </a:ext>
            </a:extLst>
          </p:cNvPr>
          <p:cNvSpPr>
            <a:spLocks xmlns:a="http://schemas.openxmlformats.org/drawingml/2006/main" noGrp="1"/>
          </p:cNvSpPr>
          <p:nvPr/>
        </p:nvSpPr>
        <p:spPr>
          <a:xfrm xmlns:a="http://schemas.openxmlformats.org/drawingml/2006/main">
            <a:off x="685800" y="180975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42B43"/>
                </a:solidFill>
                <a:latin typeface="Arial"/>
                <a:ea typeface="Arial"/>
                <a:cs typeface="Arial"/>
              </a:defRPr>
            </a:defPPr>
            <a:lvl1pPr>
              <a:defRPr sz="2100" b="1">
                <a:solidFill>
                  <a:srgbClr val="142B43"/>
                </a:solidFill>
                <a:latin typeface="Arial"/>
                <a:ea typeface="Arial"/>
                <a:cs typeface="Arial"/>
              </a:defRPr>
            </a:lvl1pPr>
            <a:lvl2pPr>
              <a:defRPr sz="2100" b="1">
                <a:solidFill>
                  <a:srgbClr val="142B43"/>
                </a:solidFill>
                <a:latin typeface="Arial"/>
                <a:ea typeface="Arial"/>
                <a:cs typeface="Arial"/>
              </a:defRPr>
            </a:lvl2pPr>
            <a:lvl3pPr>
              <a:defRPr sz="2100" b="1">
                <a:solidFill>
                  <a:srgbClr val="142B43"/>
                </a:solidFill>
                <a:latin typeface="Arial"/>
                <a:ea typeface="Arial"/>
                <a:cs typeface="Arial"/>
              </a:defRPr>
            </a:lvl3pPr>
            <a:lvl4pPr>
              <a:defRPr sz="2100" b="1">
                <a:solidFill>
                  <a:srgbClr val="142B43"/>
                </a:solidFill>
                <a:latin typeface="Arial"/>
                <a:ea typeface="Arial"/>
                <a:cs typeface="Arial"/>
              </a:defRPr>
            </a:lvl4pPr>
            <a:lvl5pPr>
              <a:defRPr sz="2100" b="1">
                <a:solidFill>
                  <a:srgbClr val="142B43"/>
                </a:solidFill>
                <a:latin typeface="Arial"/>
                <a:ea typeface="Arial"/>
                <a:cs typeface="Arial"/>
              </a:defRPr>
            </a:lvl5pPr>
            <a:lvl6pPr>
              <a:defRPr sz="2100" b="1">
                <a:solidFill>
                  <a:srgbClr val="142B43"/>
                </a:solidFill>
                <a:latin typeface="Arial"/>
                <a:ea typeface="Arial"/>
                <a:cs typeface="Arial"/>
              </a:defRPr>
            </a:lvl6pPr>
            <a:lvl7pPr>
              <a:defRPr sz="2100" b="1">
                <a:solidFill>
                  <a:srgbClr val="142B43"/>
                </a:solidFill>
                <a:latin typeface="Arial"/>
                <a:ea typeface="Arial"/>
                <a:cs typeface="Arial"/>
              </a:defRPr>
            </a:lvl7pPr>
            <a:lvl8pPr>
              <a:defRPr sz="2100" b="1">
                <a:solidFill>
                  <a:srgbClr val="142B43"/>
                </a:solidFill>
                <a:latin typeface="Arial"/>
                <a:ea typeface="Arial"/>
                <a:cs typeface="Arial"/>
              </a:defRPr>
            </a:lvl8pPr>
            <a:lvl9pPr>
              <a:defRPr sz="2100" b="1">
                <a:solidFill>
                  <a:srgbClr val="142B43"/>
                </a:solidFill>
                <a:latin typeface="Arial"/>
                <a:ea typeface="Arial"/>
                <a:cs typeface="Arial"/>
              </a:defRPr>
            </a:lvl9pPr>
          </a:lstStyle>
          <a:p xmlns:a="http://schemas.openxmlformats.org/drawingml/2006/main">
            <a:pPr>
              <a:defRPr sz="2100" b="1">
                <a:solidFill>
                  <a:srgbClr val="142B43"/>
                </a:solidFill>
                <a:latin typeface="Arial"/>
                <a:ea typeface="Arial"/>
                <a:cs typeface="Arial"/>
              </a:defRPr>
            </a:pPr>
            <a:r>
              <a:rPr sz="2100" b="1">
                <a:solidFill>
                  <a:srgbClr val="142B43"/>
                </a:solidFill>
                <a:latin typeface="Arial"/>
                <a:ea typeface="Arial"/>
                <a:cs typeface="Arial"/>
              </a:rPr>
              <a:t>Original expression</a:t>
            </a:r>
          </a:p>
        </p:txBody>
      </p:sp>
      <p:sp>
        <p:nvSpPr>
          <p:cNvPr id="6" name="Expr -&gt; Expr + Term&#10;      | Term">
            <a:extLst xmlns:a="http://schemas.openxmlformats.org/drawingml/2006/main">
              <a:ext uri="{FF2B5EF4-FFF2-40B4-BE49-F238E27FC236}">
                <a16:creationId xmlns:a16="http://schemas.microsoft.com/office/drawing/2014/main" id="{B6DD9189-298A-46CA-9818-18DB20D58F3E}"/>
              </a:ext>
            </a:extLst>
          </p:cNvPr>
          <p:cNvSpPr>
            <a:spLocks xmlns:a="http://schemas.openxmlformats.org/drawingml/2006/main" noGrp="1"/>
          </p:cNvSpPr>
          <p:nvPr/>
        </p:nvSpPr>
        <p:spPr>
          <a:xfrm xmlns:a="http://schemas.openxmlformats.org/drawingml/2006/main">
            <a:off x="685800" y="2381250"/>
            <a:ext cx="5143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B43"/>
                </a:solidFill>
                <a:latin typeface="Consolas"/>
                <a:ea typeface="Consolas"/>
                <a:cs typeface="Consolas"/>
              </a:defRPr>
            </a:defPPr>
            <a:lvl1pPr>
              <a:defRPr sz="2100" b="0">
                <a:solidFill>
                  <a:srgbClr val="142B43"/>
                </a:solidFill>
                <a:latin typeface="Consolas"/>
                <a:ea typeface="Consolas"/>
                <a:cs typeface="Consolas"/>
              </a:defRPr>
            </a:lvl1pPr>
            <a:lvl2pPr>
              <a:defRPr sz="2100" b="0">
                <a:solidFill>
                  <a:srgbClr val="142B43"/>
                </a:solidFill>
                <a:latin typeface="Consolas"/>
                <a:ea typeface="Consolas"/>
                <a:cs typeface="Consolas"/>
              </a:defRPr>
            </a:lvl2pPr>
            <a:lvl3pPr>
              <a:defRPr sz="2100" b="0">
                <a:solidFill>
                  <a:srgbClr val="142B43"/>
                </a:solidFill>
                <a:latin typeface="Consolas"/>
                <a:ea typeface="Consolas"/>
                <a:cs typeface="Consolas"/>
              </a:defRPr>
            </a:lvl3pPr>
            <a:lvl4pPr>
              <a:defRPr sz="2100" b="0">
                <a:solidFill>
                  <a:srgbClr val="142B43"/>
                </a:solidFill>
                <a:latin typeface="Consolas"/>
                <a:ea typeface="Consolas"/>
                <a:cs typeface="Consolas"/>
              </a:defRPr>
            </a:lvl4pPr>
            <a:lvl5pPr>
              <a:defRPr sz="2100" b="0">
                <a:solidFill>
                  <a:srgbClr val="142B43"/>
                </a:solidFill>
                <a:latin typeface="Consolas"/>
                <a:ea typeface="Consolas"/>
                <a:cs typeface="Consolas"/>
              </a:defRPr>
            </a:lvl5pPr>
            <a:lvl6pPr>
              <a:defRPr sz="2100" b="0">
                <a:solidFill>
                  <a:srgbClr val="142B43"/>
                </a:solidFill>
                <a:latin typeface="Consolas"/>
                <a:ea typeface="Consolas"/>
                <a:cs typeface="Consolas"/>
              </a:defRPr>
            </a:lvl6pPr>
            <a:lvl7pPr>
              <a:defRPr sz="2100" b="0">
                <a:solidFill>
                  <a:srgbClr val="142B43"/>
                </a:solidFill>
                <a:latin typeface="Consolas"/>
                <a:ea typeface="Consolas"/>
                <a:cs typeface="Consolas"/>
              </a:defRPr>
            </a:lvl7pPr>
            <a:lvl8pPr>
              <a:defRPr sz="2100" b="0">
                <a:solidFill>
                  <a:srgbClr val="142B43"/>
                </a:solidFill>
                <a:latin typeface="Consolas"/>
                <a:ea typeface="Consolas"/>
                <a:cs typeface="Consolas"/>
              </a:defRPr>
            </a:lvl8pPr>
            <a:lvl9pPr>
              <a:defRPr sz="2100" b="0">
                <a:solidFill>
                  <a:srgbClr val="142B43"/>
                </a:solidFill>
                <a:latin typeface="Consolas"/>
                <a:ea typeface="Consolas"/>
                <a:cs typeface="Consolas"/>
              </a:defRPr>
            </a:lvl9pPr>
          </a:lstStyle>
          <a:p xmlns:a="http://schemas.openxmlformats.org/drawingml/2006/main">
            <a:pPr>
              <a:defRPr sz="2100" b="0">
                <a:solidFill>
                  <a:srgbClr val="142B43"/>
                </a:solidFill>
                <a:latin typeface="Consolas"/>
                <a:ea typeface="Consolas"/>
                <a:cs typeface="Consolas"/>
              </a:defRPr>
            </a:pPr>
            <a:r>
              <a:rPr sz="2100" b="0">
                <a:solidFill>
                  <a:srgbClr val="142B43"/>
                </a:solidFill>
                <a:latin typeface="Consolas"/>
                <a:ea typeface="Consolas"/>
                <a:cs typeface="Consolas"/>
              </a:rPr>
              <a:t>Expr -&gt; Expr + Term</a:t>
            </a:r>
          </a:p>
          <a:p xmlns:a="http://schemas.openxmlformats.org/drawingml/2006/main">
            <a:pPr>
              <a:defRPr sz="2100" b="0">
                <a:solidFill>
                  <a:srgbClr val="142B43"/>
                </a:solidFill>
                <a:latin typeface="Consolas"/>
                <a:ea typeface="Consolas"/>
                <a:cs typeface="Consolas"/>
              </a:defRPr>
            </a:pPr>
            <a:r>
              <a:rPr sz="2100" b="0">
                <a:solidFill>
                  <a:srgbClr val="142B43"/>
                </a:solidFill>
                <a:latin typeface="Consolas"/>
                <a:ea typeface="Consolas"/>
                <a:cs typeface="Consolas"/>
              </a:rPr>
              <a:t>      | Term</a:t>
            </a:r>
          </a:p>
        </p:txBody>
      </p:sp>
      <p:sp>
        <p:nvSpPr>
          <p:cNvPr id="7" name="After removing left recursion">
            <a:extLst xmlns:a="http://schemas.openxmlformats.org/drawingml/2006/main">
              <a:ext uri="{FF2B5EF4-FFF2-40B4-BE49-F238E27FC236}">
                <a16:creationId xmlns:a16="http://schemas.microsoft.com/office/drawing/2014/main" id="{8D766BF5-8B99-469A-B107-5226C7DF33D5}"/>
              </a:ext>
            </a:extLst>
          </p:cNvPr>
          <p:cNvSpPr>
            <a:spLocks xmlns:a="http://schemas.openxmlformats.org/drawingml/2006/main" noGrp="1"/>
          </p:cNvSpPr>
          <p:nvPr/>
        </p:nvSpPr>
        <p:spPr>
          <a:xfrm xmlns:a="http://schemas.openxmlformats.org/drawingml/2006/main">
            <a:off x="6191250" y="180975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42B43"/>
                </a:solidFill>
                <a:latin typeface="Arial"/>
                <a:ea typeface="Arial"/>
                <a:cs typeface="Arial"/>
              </a:defRPr>
            </a:defPPr>
            <a:lvl1pPr>
              <a:defRPr sz="2100" b="1">
                <a:solidFill>
                  <a:srgbClr val="142B43"/>
                </a:solidFill>
                <a:latin typeface="Arial"/>
                <a:ea typeface="Arial"/>
                <a:cs typeface="Arial"/>
              </a:defRPr>
            </a:lvl1pPr>
            <a:lvl2pPr>
              <a:defRPr sz="2100" b="1">
                <a:solidFill>
                  <a:srgbClr val="142B43"/>
                </a:solidFill>
                <a:latin typeface="Arial"/>
                <a:ea typeface="Arial"/>
                <a:cs typeface="Arial"/>
              </a:defRPr>
            </a:lvl2pPr>
            <a:lvl3pPr>
              <a:defRPr sz="2100" b="1">
                <a:solidFill>
                  <a:srgbClr val="142B43"/>
                </a:solidFill>
                <a:latin typeface="Arial"/>
                <a:ea typeface="Arial"/>
                <a:cs typeface="Arial"/>
              </a:defRPr>
            </a:lvl3pPr>
            <a:lvl4pPr>
              <a:defRPr sz="2100" b="1">
                <a:solidFill>
                  <a:srgbClr val="142B43"/>
                </a:solidFill>
                <a:latin typeface="Arial"/>
                <a:ea typeface="Arial"/>
                <a:cs typeface="Arial"/>
              </a:defRPr>
            </a:lvl4pPr>
            <a:lvl5pPr>
              <a:defRPr sz="2100" b="1">
                <a:solidFill>
                  <a:srgbClr val="142B43"/>
                </a:solidFill>
                <a:latin typeface="Arial"/>
                <a:ea typeface="Arial"/>
                <a:cs typeface="Arial"/>
              </a:defRPr>
            </a:lvl5pPr>
            <a:lvl6pPr>
              <a:defRPr sz="2100" b="1">
                <a:solidFill>
                  <a:srgbClr val="142B43"/>
                </a:solidFill>
                <a:latin typeface="Arial"/>
                <a:ea typeface="Arial"/>
                <a:cs typeface="Arial"/>
              </a:defRPr>
            </a:lvl6pPr>
            <a:lvl7pPr>
              <a:defRPr sz="2100" b="1">
                <a:solidFill>
                  <a:srgbClr val="142B43"/>
                </a:solidFill>
                <a:latin typeface="Arial"/>
                <a:ea typeface="Arial"/>
                <a:cs typeface="Arial"/>
              </a:defRPr>
            </a:lvl7pPr>
            <a:lvl8pPr>
              <a:defRPr sz="2100" b="1">
                <a:solidFill>
                  <a:srgbClr val="142B43"/>
                </a:solidFill>
                <a:latin typeface="Arial"/>
                <a:ea typeface="Arial"/>
                <a:cs typeface="Arial"/>
              </a:defRPr>
            </a:lvl8pPr>
            <a:lvl9pPr>
              <a:defRPr sz="2100" b="1">
                <a:solidFill>
                  <a:srgbClr val="142B43"/>
                </a:solidFill>
                <a:latin typeface="Arial"/>
                <a:ea typeface="Arial"/>
                <a:cs typeface="Arial"/>
              </a:defRPr>
            </a:lvl9pPr>
          </a:lstStyle>
          <a:p xmlns:a="http://schemas.openxmlformats.org/drawingml/2006/main">
            <a:pPr>
              <a:defRPr sz="2100" b="1">
                <a:solidFill>
                  <a:srgbClr val="142B43"/>
                </a:solidFill>
                <a:latin typeface="Arial"/>
                <a:ea typeface="Arial"/>
                <a:cs typeface="Arial"/>
              </a:defRPr>
            </a:pPr>
            <a:r>
              <a:rPr sz="2100" b="1">
                <a:solidFill>
                  <a:srgbClr val="142B43"/>
                </a:solidFill>
                <a:latin typeface="Arial"/>
                <a:ea typeface="Arial"/>
                <a:cs typeface="Arial"/>
              </a:rPr>
              <a:t>After removing left recursion</a:t>
            </a:r>
          </a:p>
        </p:txBody>
      </p:sp>
      <p:sp>
        <p:nvSpPr>
          <p:cNvPr id="8" name="Expr -&gt; Term Tail&#10;Tail -&gt; + Term Ta">
            <a:extLst xmlns:a="http://schemas.openxmlformats.org/drawingml/2006/main">
              <a:ext uri="{FF2B5EF4-FFF2-40B4-BE49-F238E27FC236}">
                <a16:creationId xmlns:a16="http://schemas.microsoft.com/office/drawing/2014/main" id="{15AA1DAA-2D18-4FAE-87A3-5FA9E46FD2F8}"/>
              </a:ext>
            </a:extLst>
          </p:cNvPr>
          <p:cNvSpPr>
            <a:spLocks xmlns:a="http://schemas.openxmlformats.org/drawingml/2006/main" noGrp="1"/>
          </p:cNvSpPr>
          <p:nvPr/>
        </p:nvSpPr>
        <p:spPr>
          <a:xfrm xmlns:a="http://schemas.openxmlformats.org/drawingml/2006/main">
            <a:off x="6191250" y="2381250"/>
            <a:ext cx="5334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B43"/>
                </a:solidFill>
                <a:latin typeface="Consolas"/>
                <a:ea typeface="Consolas"/>
                <a:cs typeface="Consolas"/>
              </a:defRPr>
            </a:defPPr>
            <a:lvl1pPr>
              <a:defRPr sz="2100" b="0">
                <a:solidFill>
                  <a:srgbClr val="142B43"/>
                </a:solidFill>
                <a:latin typeface="Consolas"/>
                <a:ea typeface="Consolas"/>
                <a:cs typeface="Consolas"/>
              </a:defRPr>
            </a:lvl1pPr>
            <a:lvl2pPr>
              <a:defRPr sz="2100" b="0">
                <a:solidFill>
                  <a:srgbClr val="142B43"/>
                </a:solidFill>
                <a:latin typeface="Consolas"/>
                <a:ea typeface="Consolas"/>
                <a:cs typeface="Consolas"/>
              </a:defRPr>
            </a:lvl2pPr>
            <a:lvl3pPr>
              <a:defRPr sz="2100" b="0">
                <a:solidFill>
                  <a:srgbClr val="142B43"/>
                </a:solidFill>
                <a:latin typeface="Consolas"/>
                <a:ea typeface="Consolas"/>
                <a:cs typeface="Consolas"/>
              </a:defRPr>
            </a:lvl3pPr>
            <a:lvl4pPr>
              <a:defRPr sz="2100" b="0">
                <a:solidFill>
                  <a:srgbClr val="142B43"/>
                </a:solidFill>
                <a:latin typeface="Consolas"/>
                <a:ea typeface="Consolas"/>
                <a:cs typeface="Consolas"/>
              </a:defRPr>
            </a:lvl4pPr>
            <a:lvl5pPr>
              <a:defRPr sz="2100" b="0">
                <a:solidFill>
                  <a:srgbClr val="142B43"/>
                </a:solidFill>
                <a:latin typeface="Consolas"/>
                <a:ea typeface="Consolas"/>
                <a:cs typeface="Consolas"/>
              </a:defRPr>
            </a:lvl5pPr>
            <a:lvl6pPr>
              <a:defRPr sz="2100" b="0">
                <a:solidFill>
                  <a:srgbClr val="142B43"/>
                </a:solidFill>
                <a:latin typeface="Consolas"/>
                <a:ea typeface="Consolas"/>
                <a:cs typeface="Consolas"/>
              </a:defRPr>
            </a:lvl6pPr>
            <a:lvl7pPr>
              <a:defRPr sz="2100" b="0">
                <a:solidFill>
                  <a:srgbClr val="142B43"/>
                </a:solidFill>
                <a:latin typeface="Consolas"/>
                <a:ea typeface="Consolas"/>
                <a:cs typeface="Consolas"/>
              </a:defRPr>
            </a:lvl7pPr>
            <a:lvl8pPr>
              <a:defRPr sz="2100" b="0">
                <a:solidFill>
                  <a:srgbClr val="142B43"/>
                </a:solidFill>
                <a:latin typeface="Consolas"/>
                <a:ea typeface="Consolas"/>
                <a:cs typeface="Consolas"/>
              </a:defRPr>
            </a:lvl8pPr>
            <a:lvl9pPr>
              <a:defRPr sz="2100" b="0">
                <a:solidFill>
                  <a:srgbClr val="142B43"/>
                </a:solidFill>
                <a:latin typeface="Consolas"/>
                <a:ea typeface="Consolas"/>
                <a:cs typeface="Consolas"/>
              </a:defRPr>
            </a:lvl9pPr>
          </a:lstStyle>
          <a:p xmlns:a="http://schemas.openxmlformats.org/drawingml/2006/main">
            <a:pPr>
              <a:defRPr sz="2100" b="0">
                <a:solidFill>
                  <a:srgbClr val="142B43"/>
                </a:solidFill>
                <a:latin typeface="Consolas"/>
                <a:ea typeface="Consolas"/>
                <a:cs typeface="Consolas"/>
              </a:defRPr>
            </a:pPr>
            <a:r>
              <a:rPr sz="2100" b="0">
                <a:solidFill>
                  <a:srgbClr val="142B43"/>
                </a:solidFill>
                <a:latin typeface="Consolas"/>
                <a:ea typeface="Consolas"/>
                <a:cs typeface="Consolas"/>
              </a:rPr>
              <a:t>Expr -&gt; Term Tail</a:t>
            </a:r>
          </a:p>
          <a:p xmlns:a="http://schemas.openxmlformats.org/drawingml/2006/main">
            <a:pPr>
              <a:defRPr sz="2100" b="0">
                <a:solidFill>
                  <a:srgbClr val="142B43"/>
                </a:solidFill>
                <a:latin typeface="Consolas"/>
                <a:ea typeface="Consolas"/>
                <a:cs typeface="Consolas"/>
              </a:defRPr>
            </a:pPr>
            <a:r>
              <a:rPr sz="2100" b="0">
                <a:solidFill>
                  <a:srgbClr val="142B43"/>
                </a:solidFill>
                <a:latin typeface="Consolas"/>
                <a:ea typeface="Consolas"/>
                <a:cs typeface="Consolas"/>
              </a:rPr>
              <a:t>Tail -&gt; + Term Tail</a:t>
            </a:r>
          </a:p>
          <a:p xmlns:a="http://schemas.openxmlformats.org/drawingml/2006/main">
            <a:pPr>
              <a:defRPr sz="2100" b="0">
                <a:solidFill>
                  <a:srgbClr val="142B43"/>
                </a:solidFill>
                <a:latin typeface="Consolas"/>
                <a:ea typeface="Consolas"/>
                <a:cs typeface="Consolas"/>
              </a:defRPr>
            </a:pPr>
            <a:r>
              <a:rPr sz="2100" b="0">
                <a:solidFill>
                  <a:srgbClr val="142B43"/>
                </a:solidFill>
                <a:latin typeface="Consolas"/>
                <a:ea typeface="Consolas"/>
                <a:cs typeface="Consolas"/>
              </a:rPr>
              <a:t>      | epsilon</a:t>
            </a:r>
          </a:p>
        </p:txBody>
      </p:sp>
      <p:sp>
        <p:nvSpPr>
          <p:cNvPr id="9" name="Left-factored declaration">
            <a:extLst xmlns:a="http://schemas.openxmlformats.org/drawingml/2006/main">
              <a:ext uri="{FF2B5EF4-FFF2-40B4-BE49-F238E27FC236}">
                <a16:creationId xmlns:a16="http://schemas.microsoft.com/office/drawing/2014/main" id="{56B8FAB7-A6F8-45E3-BD4A-CBD520355816}"/>
              </a:ext>
            </a:extLst>
          </p:cNvPr>
          <p:cNvSpPr>
            <a:spLocks xmlns:a="http://schemas.openxmlformats.org/drawingml/2006/main" noGrp="1"/>
          </p:cNvSpPr>
          <p:nvPr/>
        </p:nvSpPr>
        <p:spPr>
          <a:xfrm xmlns:a="http://schemas.openxmlformats.org/drawingml/2006/main">
            <a:off x="685800" y="42672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42B43"/>
                </a:solidFill>
                <a:latin typeface="Arial"/>
                <a:ea typeface="Arial"/>
                <a:cs typeface="Arial"/>
              </a:defRPr>
            </a:defPPr>
            <a:lvl1pPr>
              <a:defRPr sz="2100" b="1">
                <a:solidFill>
                  <a:srgbClr val="142B43"/>
                </a:solidFill>
                <a:latin typeface="Arial"/>
                <a:ea typeface="Arial"/>
                <a:cs typeface="Arial"/>
              </a:defRPr>
            </a:lvl1pPr>
            <a:lvl2pPr>
              <a:defRPr sz="2100" b="1">
                <a:solidFill>
                  <a:srgbClr val="142B43"/>
                </a:solidFill>
                <a:latin typeface="Arial"/>
                <a:ea typeface="Arial"/>
                <a:cs typeface="Arial"/>
              </a:defRPr>
            </a:lvl2pPr>
            <a:lvl3pPr>
              <a:defRPr sz="2100" b="1">
                <a:solidFill>
                  <a:srgbClr val="142B43"/>
                </a:solidFill>
                <a:latin typeface="Arial"/>
                <a:ea typeface="Arial"/>
                <a:cs typeface="Arial"/>
              </a:defRPr>
            </a:lvl3pPr>
            <a:lvl4pPr>
              <a:defRPr sz="2100" b="1">
                <a:solidFill>
                  <a:srgbClr val="142B43"/>
                </a:solidFill>
                <a:latin typeface="Arial"/>
                <a:ea typeface="Arial"/>
                <a:cs typeface="Arial"/>
              </a:defRPr>
            </a:lvl4pPr>
            <a:lvl5pPr>
              <a:defRPr sz="2100" b="1">
                <a:solidFill>
                  <a:srgbClr val="142B43"/>
                </a:solidFill>
                <a:latin typeface="Arial"/>
                <a:ea typeface="Arial"/>
                <a:cs typeface="Arial"/>
              </a:defRPr>
            </a:lvl5pPr>
            <a:lvl6pPr>
              <a:defRPr sz="2100" b="1">
                <a:solidFill>
                  <a:srgbClr val="142B43"/>
                </a:solidFill>
                <a:latin typeface="Arial"/>
                <a:ea typeface="Arial"/>
                <a:cs typeface="Arial"/>
              </a:defRPr>
            </a:lvl6pPr>
            <a:lvl7pPr>
              <a:defRPr sz="2100" b="1">
                <a:solidFill>
                  <a:srgbClr val="142B43"/>
                </a:solidFill>
                <a:latin typeface="Arial"/>
                <a:ea typeface="Arial"/>
                <a:cs typeface="Arial"/>
              </a:defRPr>
            </a:lvl7pPr>
            <a:lvl8pPr>
              <a:defRPr sz="2100" b="1">
                <a:solidFill>
                  <a:srgbClr val="142B43"/>
                </a:solidFill>
                <a:latin typeface="Arial"/>
                <a:ea typeface="Arial"/>
                <a:cs typeface="Arial"/>
              </a:defRPr>
            </a:lvl8pPr>
            <a:lvl9pPr>
              <a:defRPr sz="2100" b="1">
                <a:solidFill>
                  <a:srgbClr val="142B43"/>
                </a:solidFill>
                <a:latin typeface="Arial"/>
                <a:ea typeface="Arial"/>
                <a:cs typeface="Arial"/>
              </a:defRPr>
            </a:lvl9pPr>
          </a:lstStyle>
          <a:p xmlns:a="http://schemas.openxmlformats.org/drawingml/2006/main">
            <a:pPr>
              <a:defRPr sz="2100" b="1">
                <a:solidFill>
                  <a:srgbClr val="142B43"/>
                </a:solidFill>
                <a:latin typeface="Arial"/>
                <a:ea typeface="Arial"/>
                <a:cs typeface="Arial"/>
              </a:defRPr>
            </a:pPr>
            <a:r>
              <a:rPr sz="2100" b="1">
                <a:solidFill>
                  <a:srgbClr val="142B43"/>
                </a:solidFill>
                <a:latin typeface="Arial"/>
                <a:ea typeface="Arial"/>
                <a:cs typeface="Arial"/>
              </a:rPr>
              <a:t>Left-factored declaration</a:t>
            </a:r>
          </a:p>
        </p:txBody>
      </p:sp>
      <p:sp>
        <p:nvSpPr>
          <p:cNvPr id="10" name="Decl -&gt; string id Init ;&#10;Init -&gt; = ">
            <a:extLst xmlns:a="http://schemas.openxmlformats.org/drawingml/2006/main">
              <a:ext uri="{FF2B5EF4-FFF2-40B4-BE49-F238E27FC236}">
                <a16:creationId xmlns:a16="http://schemas.microsoft.com/office/drawing/2014/main" id="{F0D20435-4608-46AD-B94E-297836B7D9B9}"/>
              </a:ext>
            </a:extLst>
          </p:cNvPr>
          <p:cNvSpPr>
            <a:spLocks xmlns:a="http://schemas.openxmlformats.org/drawingml/2006/main" noGrp="1"/>
          </p:cNvSpPr>
          <p:nvPr/>
        </p:nvSpPr>
        <p:spPr>
          <a:xfrm xmlns:a="http://schemas.openxmlformats.org/drawingml/2006/main">
            <a:off x="685800" y="4819650"/>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B43"/>
                </a:solidFill>
                <a:latin typeface="Consolas"/>
                <a:ea typeface="Consolas"/>
                <a:cs typeface="Consolas"/>
              </a:defRPr>
            </a:defPPr>
            <a:lvl1pPr>
              <a:defRPr sz="2175" b="0">
                <a:solidFill>
                  <a:srgbClr val="142B43"/>
                </a:solidFill>
                <a:latin typeface="Consolas"/>
                <a:ea typeface="Consolas"/>
                <a:cs typeface="Consolas"/>
              </a:defRPr>
            </a:lvl1pPr>
            <a:lvl2pPr>
              <a:defRPr sz="2175" b="0">
                <a:solidFill>
                  <a:srgbClr val="142B43"/>
                </a:solidFill>
                <a:latin typeface="Consolas"/>
                <a:ea typeface="Consolas"/>
                <a:cs typeface="Consolas"/>
              </a:defRPr>
            </a:lvl2pPr>
            <a:lvl3pPr>
              <a:defRPr sz="2175" b="0">
                <a:solidFill>
                  <a:srgbClr val="142B43"/>
                </a:solidFill>
                <a:latin typeface="Consolas"/>
                <a:ea typeface="Consolas"/>
                <a:cs typeface="Consolas"/>
              </a:defRPr>
            </a:lvl3pPr>
            <a:lvl4pPr>
              <a:defRPr sz="2175" b="0">
                <a:solidFill>
                  <a:srgbClr val="142B43"/>
                </a:solidFill>
                <a:latin typeface="Consolas"/>
                <a:ea typeface="Consolas"/>
                <a:cs typeface="Consolas"/>
              </a:defRPr>
            </a:lvl4pPr>
            <a:lvl5pPr>
              <a:defRPr sz="2175" b="0">
                <a:solidFill>
                  <a:srgbClr val="142B43"/>
                </a:solidFill>
                <a:latin typeface="Consolas"/>
                <a:ea typeface="Consolas"/>
                <a:cs typeface="Consolas"/>
              </a:defRPr>
            </a:lvl5pPr>
            <a:lvl6pPr>
              <a:defRPr sz="2175" b="0">
                <a:solidFill>
                  <a:srgbClr val="142B43"/>
                </a:solidFill>
                <a:latin typeface="Consolas"/>
                <a:ea typeface="Consolas"/>
                <a:cs typeface="Consolas"/>
              </a:defRPr>
            </a:lvl6pPr>
            <a:lvl7pPr>
              <a:defRPr sz="2175" b="0">
                <a:solidFill>
                  <a:srgbClr val="142B43"/>
                </a:solidFill>
                <a:latin typeface="Consolas"/>
                <a:ea typeface="Consolas"/>
                <a:cs typeface="Consolas"/>
              </a:defRPr>
            </a:lvl7pPr>
            <a:lvl8pPr>
              <a:defRPr sz="2175" b="0">
                <a:solidFill>
                  <a:srgbClr val="142B43"/>
                </a:solidFill>
                <a:latin typeface="Consolas"/>
                <a:ea typeface="Consolas"/>
                <a:cs typeface="Consolas"/>
              </a:defRPr>
            </a:lvl8pPr>
            <a:lvl9pPr>
              <a:defRPr sz="2175" b="0">
                <a:solidFill>
                  <a:srgbClr val="142B43"/>
                </a:solidFill>
                <a:latin typeface="Consolas"/>
                <a:ea typeface="Consolas"/>
                <a:cs typeface="Consolas"/>
              </a:defRPr>
            </a:lvl9pPr>
          </a:lstStyle>
          <a:p xmlns:a="http://schemas.openxmlformats.org/drawingml/2006/main">
            <a:pPr>
              <a:defRPr sz="2175" b="0">
                <a:solidFill>
                  <a:srgbClr val="142B43"/>
                </a:solidFill>
                <a:latin typeface="Consolas"/>
                <a:ea typeface="Consolas"/>
                <a:cs typeface="Consolas"/>
              </a:defRPr>
            </a:pPr>
            <a:r>
              <a:rPr sz="2175" b="0">
                <a:solidFill>
                  <a:srgbClr val="142B43"/>
                </a:solidFill>
                <a:latin typeface="Consolas"/>
                <a:ea typeface="Consolas"/>
                <a:cs typeface="Consolas"/>
              </a:rPr>
              <a:t>Decl -&gt; string id Init ;</a:t>
            </a:r>
          </a:p>
          <a:p xmlns:a="http://schemas.openxmlformats.org/drawingml/2006/main">
            <a:pPr>
              <a:defRPr sz="2175" b="0">
                <a:solidFill>
                  <a:srgbClr val="142B43"/>
                </a:solidFill>
                <a:latin typeface="Consolas"/>
                <a:ea typeface="Consolas"/>
                <a:cs typeface="Consolas"/>
              </a:defRPr>
            </a:pPr>
            <a:r>
              <a:rPr sz="2175" b="0">
                <a:solidFill>
                  <a:srgbClr val="142B43"/>
                </a:solidFill>
                <a:latin typeface="Consolas"/>
                <a:ea typeface="Consolas"/>
                <a:cs typeface="Consolas"/>
              </a:rPr>
              <a:t>Init -&gt; = Expr | epsilon</a:t>
            </a:r>
          </a:p>
        </p:txBody>
      </p:sp>
    </p:spTree>
    <p:extLst>
      <p:ext uri="{BB962C8B-B14F-4D97-AF65-F5344CB8AC3E}">
        <p14:creationId xmlns:p14="http://schemas.microsoft.com/office/powerpoint/2010/main" val="17366031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MPILER DESIGN">
            <a:extLst xmlns:a="http://schemas.openxmlformats.org/drawingml/2006/main">
              <a:ext uri="{FF2B5EF4-FFF2-40B4-BE49-F238E27FC236}">
                <a16:creationId xmlns:a16="http://schemas.microsoft.com/office/drawing/2014/main" id="{D8E9A0D2-3CC5-4DA5-A385-25E3C04212AA}"/>
              </a:ext>
            </a:extLst>
          </p:cNvPr>
          <p:cNvSpPr>
            <a:spLocks xmlns:a="http://schemas.openxmlformats.org/drawingml/2006/main" noGrp="1"/>
          </p:cNvSpPr>
          <p:nvPr/>
        </p:nvSpPr>
        <p:spPr>
          <a:xfrm xmlns:a="http://schemas.openxmlformats.org/drawingml/2006/main">
            <a:off x="685800" y="2857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DF6948"/>
                </a:solidFill>
                <a:latin typeface="Arial"/>
                <a:ea typeface="Arial"/>
                <a:cs typeface="Arial"/>
              </a:defRPr>
            </a:defPPr>
            <a:lvl1pPr>
              <a:defRPr sz="1125" b="1">
                <a:solidFill>
                  <a:srgbClr val="DF6948"/>
                </a:solidFill>
                <a:latin typeface="Arial"/>
                <a:ea typeface="Arial"/>
                <a:cs typeface="Arial"/>
              </a:defRPr>
            </a:lvl1pPr>
            <a:lvl2pPr>
              <a:defRPr sz="1125" b="1">
                <a:solidFill>
                  <a:srgbClr val="DF6948"/>
                </a:solidFill>
                <a:latin typeface="Arial"/>
                <a:ea typeface="Arial"/>
                <a:cs typeface="Arial"/>
              </a:defRPr>
            </a:lvl2pPr>
            <a:lvl3pPr>
              <a:defRPr sz="1125" b="1">
                <a:solidFill>
                  <a:srgbClr val="DF6948"/>
                </a:solidFill>
                <a:latin typeface="Arial"/>
                <a:ea typeface="Arial"/>
                <a:cs typeface="Arial"/>
              </a:defRPr>
            </a:lvl3pPr>
            <a:lvl4pPr>
              <a:defRPr sz="1125" b="1">
                <a:solidFill>
                  <a:srgbClr val="DF6948"/>
                </a:solidFill>
                <a:latin typeface="Arial"/>
                <a:ea typeface="Arial"/>
                <a:cs typeface="Arial"/>
              </a:defRPr>
            </a:lvl4pPr>
            <a:lvl5pPr>
              <a:defRPr sz="1125" b="1">
                <a:solidFill>
                  <a:srgbClr val="DF6948"/>
                </a:solidFill>
                <a:latin typeface="Arial"/>
                <a:ea typeface="Arial"/>
                <a:cs typeface="Arial"/>
              </a:defRPr>
            </a:lvl5pPr>
            <a:lvl6pPr>
              <a:defRPr sz="1125" b="1">
                <a:solidFill>
                  <a:srgbClr val="DF6948"/>
                </a:solidFill>
                <a:latin typeface="Arial"/>
                <a:ea typeface="Arial"/>
                <a:cs typeface="Arial"/>
              </a:defRPr>
            </a:lvl6pPr>
            <a:lvl7pPr>
              <a:defRPr sz="1125" b="1">
                <a:solidFill>
                  <a:srgbClr val="DF6948"/>
                </a:solidFill>
                <a:latin typeface="Arial"/>
                <a:ea typeface="Arial"/>
                <a:cs typeface="Arial"/>
              </a:defRPr>
            </a:lvl7pPr>
            <a:lvl8pPr>
              <a:defRPr sz="1125" b="1">
                <a:solidFill>
                  <a:srgbClr val="DF6948"/>
                </a:solidFill>
                <a:latin typeface="Arial"/>
                <a:ea typeface="Arial"/>
                <a:cs typeface="Arial"/>
              </a:defRPr>
            </a:lvl8pPr>
            <a:lvl9pPr>
              <a:defRPr sz="1125" b="1">
                <a:solidFill>
                  <a:srgbClr val="DF6948"/>
                </a:solidFill>
                <a:latin typeface="Arial"/>
                <a:ea typeface="Arial"/>
                <a:cs typeface="Arial"/>
              </a:defRPr>
            </a:lvl9pPr>
          </a:lstStyle>
          <a:p xmlns:a="http://schemas.openxmlformats.org/drawingml/2006/main">
            <a:pPr>
              <a:defRPr sz="1125" b="1">
                <a:solidFill>
                  <a:srgbClr val="DF6948"/>
                </a:solidFill>
                <a:latin typeface="Arial"/>
                <a:ea typeface="Arial"/>
                <a:cs typeface="Arial"/>
              </a:defRPr>
            </a:pPr>
            <a:r>
              <a:rPr sz="1125" b="1">
                <a:solidFill>
                  <a:srgbClr val="DF6948"/>
                </a:solidFill>
                <a:latin typeface="Arial"/>
                <a:ea typeface="Arial"/>
                <a:cs typeface="Arial"/>
              </a:rPr>
              <a:t>COMPILER DESIGN</a:t>
            </a:r>
          </a:p>
        </p:txBody>
      </p:sp>
      <p:sp>
        <p:nvSpPr>
          <p:cNvPr id="2" name="Slide title">
            <a:extLst xmlns:a="http://schemas.openxmlformats.org/drawingml/2006/main">
              <a:ext uri="{FF2B5EF4-FFF2-40B4-BE49-F238E27FC236}">
                <a16:creationId xmlns:a16="http://schemas.microsoft.com/office/drawing/2014/main" id="{9FC40079-3FFB-4D81-BA32-8A57223FB198}"/>
              </a:ext>
            </a:extLst>
          </p:cNvPr>
          <p:cNvSpPr>
            <a:spLocks xmlns:a="http://schemas.openxmlformats.org/drawingml/2006/main" noGrp="1"/>
          </p:cNvSpPr>
          <p:nvPr/>
        </p:nvSpPr>
        <p:spPr>
          <a:xfrm xmlns:a="http://schemas.openxmlformats.org/drawingml/2006/main">
            <a:off x="685800" y="7620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42B43"/>
                </a:solidFill>
                <a:latin typeface="Arial"/>
                <a:ea typeface="Arial"/>
                <a:cs typeface="Arial"/>
              </a:defRPr>
            </a:defPPr>
            <a:lvl1pPr>
              <a:defRPr sz="3450" b="1">
                <a:solidFill>
                  <a:srgbClr val="142B43"/>
                </a:solidFill>
                <a:latin typeface="Arial"/>
                <a:ea typeface="Arial"/>
                <a:cs typeface="Arial"/>
              </a:defRPr>
            </a:lvl1pPr>
            <a:lvl2pPr>
              <a:defRPr sz="3450" b="1">
                <a:solidFill>
                  <a:srgbClr val="142B43"/>
                </a:solidFill>
                <a:latin typeface="Arial"/>
                <a:ea typeface="Arial"/>
                <a:cs typeface="Arial"/>
              </a:defRPr>
            </a:lvl2pPr>
            <a:lvl3pPr>
              <a:defRPr sz="3450" b="1">
                <a:solidFill>
                  <a:srgbClr val="142B43"/>
                </a:solidFill>
                <a:latin typeface="Arial"/>
                <a:ea typeface="Arial"/>
                <a:cs typeface="Arial"/>
              </a:defRPr>
            </a:lvl3pPr>
            <a:lvl4pPr>
              <a:defRPr sz="3450" b="1">
                <a:solidFill>
                  <a:srgbClr val="142B43"/>
                </a:solidFill>
                <a:latin typeface="Arial"/>
                <a:ea typeface="Arial"/>
                <a:cs typeface="Arial"/>
              </a:defRPr>
            </a:lvl4pPr>
            <a:lvl5pPr>
              <a:defRPr sz="3450" b="1">
                <a:solidFill>
                  <a:srgbClr val="142B43"/>
                </a:solidFill>
                <a:latin typeface="Arial"/>
                <a:ea typeface="Arial"/>
                <a:cs typeface="Arial"/>
              </a:defRPr>
            </a:lvl5pPr>
            <a:lvl6pPr>
              <a:defRPr sz="3450" b="1">
                <a:solidFill>
                  <a:srgbClr val="142B43"/>
                </a:solidFill>
                <a:latin typeface="Arial"/>
                <a:ea typeface="Arial"/>
                <a:cs typeface="Arial"/>
              </a:defRPr>
            </a:lvl6pPr>
            <a:lvl7pPr>
              <a:defRPr sz="3450" b="1">
                <a:solidFill>
                  <a:srgbClr val="142B43"/>
                </a:solidFill>
                <a:latin typeface="Arial"/>
                <a:ea typeface="Arial"/>
                <a:cs typeface="Arial"/>
              </a:defRPr>
            </a:lvl7pPr>
            <a:lvl8pPr>
              <a:defRPr sz="3450" b="1">
                <a:solidFill>
                  <a:srgbClr val="142B43"/>
                </a:solidFill>
                <a:latin typeface="Arial"/>
                <a:ea typeface="Arial"/>
                <a:cs typeface="Arial"/>
              </a:defRPr>
            </a:lvl8pPr>
            <a:lvl9pPr>
              <a:defRPr sz="3450" b="1">
                <a:solidFill>
                  <a:srgbClr val="142B43"/>
                </a:solidFill>
                <a:latin typeface="Arial"/>
                <a:ea typeface="Arial"/>
                <a:cs typeface="Arial"/>
              </a:defRPr>
            </a:lvl9pPr>
          </a:lstStyle>
          <a:p xmlns:a="http://schemas.openxmlformats.org/drawingml/2006/main">
            <a:pPr>
              <a:defRPr sz="3450" b="1">
                <a:solidFill>
                  <a:srgbClr val="142B43"/>
                </a:solidFill>
                <a:latin typeface="Arial"/>
                <a:ea typeface="Arial"/>
                <a:cs typeface="Arial"/>
              </a:defRPr>
            </a:pPr>
            <a:r>
              <a:rPr sz="3450" b="1">
                <a:solidFill>
                  <a:srgbClr val="142B43"/>
                </a:solidFill>
                <a:latin typeface="Arial"/>
                <a:ea typeface="Arial"/>
                <a:cs typeface="Arial"/>
              </a:rPr>
              <a:t>Abstract syntax tree</a:t>
            </a:r>
          </a:p>
        </p:txBody>
      </p:sp>
      <p:sp>
        <p:nvSpPr>
          <p:cNvPr id="3" name="StringLab Browser Compiler Front En">
            <a:extLst xmlns:a="http://schemas.openxmlformats.org/drawingml/2006/main">
              <a:ext uri="{FF2B5EF4-FFF2-40B4-BE49-F238E27FC236}">
                <a16:creationId xmlns:a16="http://schemas.microsoft.com/office/drawing/2014/main" id="{BD2D9315-FA6F-4517-85D1-DA6A8913F263}"/>
              </a:ext>
            </a:extLst>
          </p:cNvPr>
          <p:cNvSpPr>
            <a:spLocks xmlns:a="http://schemas.openxmlformats.org/drawingml/2006/main" noGrp="1"/>
          </p:cNvSpPr>
          <p:nvPr/>
        </p:nvSpPr>
        <p:spPr>
          <a:xfrm xmlns:a="http://schemas.openxmlformats.org/drawingml/2006/main">
            <a:off x="685800" y="64008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StringLab Browser Compiler Front End</a:t>
            </a:r>
          </a:p>
        </p:txBody>
      </p:sp>
      <p:sp>
        <p:nvSpPr>
          <p:cNvPr id="4" name="06">
            <a:extLst xmlns:a="http://schemas.openxmlformats.org/drawingml/2006/main">
              <a:ext uri="{FF2B5EF4-FFF2-40B4-BE49-F238E27FC236}">
                <a16:creationId xmlns:a16="http://schemas.microsoft.com/office/drawing/2014/main" id="{8836846F-89E1-4752-BA43-9450DF93C66B}"/>
              </a:ext>
            </a:extLst>
          </p:cNvPr>
          <p:cNvSpPr>
            <a:spLocks xmlns:a="http://schemas.openxmlformats.org/drawingml/2006/main" noGrp="1"/>
          </p:cNvSpPr>
          <p:nvPr/>
        </p:nvSpPr>
        <p:spPr>
          <a:xfrm xmlns:a="http://schemas.openxmlformats.org/drawingml/2006/main">
            <a:off x="11001375" y="6400800"/>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06</a:t>
            </a:r>
          </a:p>
        </p:txBody>
      </p:sp>
      <p:sp>
        <p:nvSpPr>
          <p:cNvPr id="5" name="string a = &quot;Hi&quot;;&#10;print(a + &quot;!&quot;);">
            <a:extLst xmlns:a="http://schemas.openxmlformats.org/drawingml/2006/main">
              <a:ext uri="{FF2B5EF4-FFF2-40B4-BE49-F238E27FC236}">
                <a16:creationId xmlns:a16="http://schemas.microsoft.com/office/drawing/2014/main" id="{D0537DA8-59FF-4B59-AD7D-097D4C4F33A9}"/>
              </a:ext>
            </a:extLst>
          </p:cNvPr>
          <p:cNvSpPr>
            <a:spLocks xmlns:a="http://schemas.openxmlformats.org/drawingml/2006/main" noGrp="1"/>
          </p:cNvSpPr>
          <p:nvPr/>
        </p:nvSpPr>
        <p:spPr>
          <a:xfrm xmlns:a="http://schemas.openxmlformats.org/drawingml/2006/main">
            <a:off x="685800" y="2200275"/>
            <a:ext cx="4667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B43"/>
                </a:solidFill>
                <a:latin typeface="Consolas"/>
                <a:ea typeface="Consolas"/>
                <a:cs typeface="Consolas"/>
              </a:defRPr>
            </a:defPPr>
            <a:lvl1pPr>
              <a:defRPr sz="2250" b="0">
                <a:solidFill>
                  <a:srgbClr val="142B43"/>
                </a:solidFill>
                <a:latin typeface="Consolas"/>
                <a:ea typeface="Consolas"/>
                <a:cs typeface="Consolas"/>
              </a:defRPr>
            </a:lvl1pPr>
            <a:lvl2pPr>
              <a:defRPr sz="2250" b="0">
                <a:solidFill>
                  <a:srgbClr val="142B43"/>
                </a:solidFill>
                <a:latin typeface="Consolas"/>
                <a:ea typeface="Consolas"/>
                <a:cs typeface="Consolas"/>
              </a:defRPr>
            </a:lvl2pPr>
            <a:lvl3pPr>
              <a:defRPr sz="2250" b="0">
                <a:solidFill>
                  <a:srgbClr val="142B43"/>
                </a:solidFill>
                <a:latin typeface="Consolas"/>
                <a:ea typeface="Consolas"/>
                <a:cs typeface="Consolas"/>
              </a:defRPr>
            </a:lvl3pPr>
            <a:lvl4pPr>
              <a:defRPr sz="2250" b="0">
                <a:solidFill>
                  <a:srgbClr val="142B43"/>
                </a:solidFill>
                <a:latin typeface="Consolas"/>
                <a:ea typeface="Consolas"/>
                <a:cs typeface="Consolas"/>
              </a:defRPr>
            </a:lvl4pPr>
            <a:lvl5pPr>
              <a:defRPr sz="2250" b="0">
                <a:solidFill>
                  <a:srgbClr val="142B43"/>
                </a:solidFill>
                <a:latin typeface="Consolas"/>
                <a:ea typeface="Consolas"/>
                <a:cs typeface="Consolas"/>
              </a:defRPr>
            </a:lvl5pPr>
            <a:lvl6pPr>
              <a:defRPr sz="2250" b="0">
                <a:solidFill>
                  <a:srgbClr val="142B43"/>
                </a:solidFill>
                <a:latin typeface="Consolas"/>
                <a:ea typeface="Consolas"/>
                <a:cs typeface="Consolas"/>
              </a:defRPr>
            </a:lvl6pPr>
            <a:lvl7pPr>
              <a:defRPr sz="2250" b="0">
                <a:solidFill>
                  <a:srgbClr val="142B43"/>
                </a:solidFill>
                <a:latin typeface="Consolas"/>
                <a:ea typeface="Consolas"/>
                <a:cs typeface="Consolas"/>
              </a:defRPr>
            </a:lvl7pPr>
            <a:lvl8pPr>
              <a:defRPr sz="2250" b="0">
                <a:solidFill>
                  <a:srgbClr val="142B43"/>
                </a:solidFill>
                <a:latin typeface="Consolas"/>
                <a:ea typeface="Consolas"/>
                <a:cs typeface="Consolas"/>
              </a:defRPr>
            </a:lvl8pPr>
            <a:lvl9pPr>
              <a:defRPr sz="2250" b="0">
                <a:solidFill>
                  <a:srgbClr val="142B43"/>
                </a:solidFill>
                <a:latin typeface="Consolas"/>
                <a:ea typeface="Consolas"/>
                <a:cs typeface="Consolas"/>
              </a:defRPr>
            </a:lvl9pPr>
          </a:lstStyle>
          <a:p xmlns:a="http://schemas.openxmlformats.org/drawingml/2006/main">
            <a:pPr>
              <a:defRPr sz="2250" b="0">
                <a:solidFill>
                  <a:srgbClr val="142B43"/>
                </a:solidFill>
                <a:latin typeface="Consolas"/>
                <a:ea typeface="Consolas"/>
                <a:cs typeface="Consolas"/>
              </a:defRPr>
            </a:pPr>
            <a:r>
              <a:rPr sz="2250" b="0">
                <a:solidFill>
                  <a:srgbClr val="142B43"/>
                </a:solidFill>
                <a:latin typeface="Consolas"/>
                <a:ea typeface="Consolas"/>
                <a:cs typeface="Consolas"/>
              </a:rPr>
              <a:t>string a = "Hi";</a:t>
            </a:r>
          </a:p>
          <a:p xmlns:a="http://schemas.openxmlformats.org/drawingml/2006/main">
            <a:pPr>
              <a:defRPr sz="2250" b="0">
                <a:solidFill>
                  <a:srgbClr val="142B43"/>
                </a:solidFill>
                <a:latin typeface="Consolas"/>
                <a:ea typeface="Consolas"/>
                <a:cs typeface="Consolas"/>
              </a:defRPr>
            </a:pPr>
            <a:r>
              <a:rPr sz="2250" b="0">
                <a:solidFill>
                  <a:srgbClr val="142B43"/>
                </a:solidFill>
                <a:latin typeface="Consolas"/>
                <a:ea typeface="Consolas"/>
                <a:cs typeface="Consolas"/>
              </a:rPr>
              <a:t>print(a + "!");</a:t>
            </a:r>
          </a:p>
        </p:txBody>
      </p:sp>
      <p:sp>
        <p:nvSpPr>
          <p:cNvPr id="6" name="The transformed grammar is LL(1).&#10;O">
            <a:extLst xmlns:a="http://schemas.openxmlformats.org/drawingml/2006/main">
              <a:ext uri="{FF2B5EF4-FFF2-40B4-BE49-F238E27FC236}">
                <a16:creationId xmlns:a16="http://schemas.microsoft.com/office/drawing/2014/main" id="{11437E9B-ED81-4CD8-B2BC-A292EB7A23B2}"/>
              </a:ext>
            </a:extLst>
          </p:cNvPr>
          <p:cNvSpPr>
            <a:spLocks xmlns:a="http://schemas.openxmlformats.org/drawingml/2006/main" noGrp="1"/>
          </p:cNvSpPr>
          <p:nvPr/>
        </p:nvSpPr>
        <p:spPr>
          <a:xfrm xmlns:a="http://schemas.openxmlformats.org/drawingml/2006/main">
            <a:off x="685800" y="4305300"/>
            <a:ext cx="4762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2667B"/>
                </a:solidFill>
                <a:latin typeface="Arial"/>
                <a:ea typeface="Arial"/>
                <a:cs typeface="Arial"/>
              </a:defRPr>
            </a:defPPr>
            <a:lvl1pPr>
              <a:defRPr sz="2025" b="0">
                <a:solidFill>
                  <a:srgbClr val="52667B"/>
                </a:solidFill>
                <a:latin typeface="Arial"/>
                <a:ea typeface="Arial"/>
                <a:cs typeface="Arial"/>
              </a:defRPr>
            </a:lvl1pPr>
            <a:lvl2pPr>
              <a:defRPr sz="2025" b="0">
                <a:solidFill>
                  <a:srgbClr val="52667B"/>
                </a:solidFill>
                <a:latin typeface="Arial"/>
                <a:ea typeface="Arial"/>
                <a:cs typeface="Arial"/>
              </a:defRPr>
            </a:lvl2pPr>
            <a:lvl3pPr>
              <a:defRPr sz="2025" b="0">
                <a:solidFill>
                  <a:srgbClr val="52667B"/>
                </a:solidFill>
                <a:latin typeface="Arial"/>
                <a:ea typeface="Arial"/>
                <a:cs typeface="Arial"/>
              </a:defRPr>
            </a:lvl3pPr>
            <a:lvl4pPr>
              <a:defRPr sz="2025" b="0">
                <a:solidFill>
                  <a:srgbClr val="52667B"/>
                </a:solidFill>
                <a:latin typeface="Arial"/>
                <a:ea typeface="Arial"/>
                <a:cs typeface="Arial"/>
              </a:defRPr>
            </a:lvl4pPr>
            <a:lvl5pPr>
              <a:defRPr sz="2025" b="0">
                <a:solidFill>
                  <a:srgbClr val="52667B"/>
                </a:solidFill>
                <a:latin typeface="Arial"/>
                <a:ea typeface="Arial"/>
                <a:cs typeface="Arial"/>
              </a:defRPr>
            </a:lvl5pPr>
            <a:lvl6pPr>
              <a:defRPr sz="2025" b="0">
                <a:solidFill>
                  <a:srgbClr val="52667B"/>
                </a:solidFill>
                <a:latin typeface="Arial"/>
                <a:ea typeface="Arial"/>
                <a:cs typeface="Arial"/>
              </a:defRPr>
            </a:lvl6pPr>
            <a:lvl7pPr>
              <a:defRPr sz="2025" b="0">
                <a:solidFill>
                  <a:srgbClr val="52667B"/>
                </a:solidFill>
                <a:latin typeface="Arial"/>
                <a:ea typeface="Arial"/>
                <a:cs typeface="Arial"/>
              </a:defRPr>
            </a:lvl7pPr>
            <a:lvl8pPr>
              <a:defRPr sz="2025" b="0">
                <a:solidFill>
                  <a:srgbClr val="52667B"/>
                </a:solidFill>
                <a:latin typeface="Arial"/>
                <a:ea typeface="Arial"/>
                <a:cs typeface="Arial"/>
              </a:defRPr>
            </a:lvl8pPr>
            <a:lvl9pPr>
              <a:defRPr sz="2025" b="0">
                <a:solidFill>
                  <a:srgbClr val="52667B"/>
                </a:solidFill>
                <a:latin typeface="Arial"/>
                <a:ea typeface="Arial"/>
                <a:cs typeface="Arial"/>
              </a:defRPr>
            </a:lvl9pPr>
          </a:lstStyle>
          <a:p xmlns:a="http://schemas.openxmlformats.org/drawingml/2006/main">
            <a:pPr>
              <a:defRPr sz="2025" b="0">
                <a:solidFill>
                  <a:srgbClr val="52667B"/>
                </a:solidFill>
                <a:latin typeface="Arial"/>
                <a:ea typeface="Arial"/>
                <a:cs typeface="Arial"/>
              </a:defRPr>
            </a:pPr>
            <a:r>
              <a:rPr sz="2025" b="0">
                <a:solidFill>
                  <a:srgbClr val="52667B"/>
                </a:solidFill>
                <a:latin typeface="Arial"/>
                <a:ea typeface="Arial"/>
                <a:cs typeface="Arial"/>
              </a:rPr>
              <a:t>The transformed grammar is LL(1).</a:t>
            </a:r>
          </a:p>
          <a:p xmlns:a="http://schemas.openxmlformats.org/drawingml/2006/main">
            <a:pPr>
              <a:defRPr sz="2025" b="0">
                <a:solidFill>
                  <a:srgbClr val="52667B"/>
                </a:solidFill>
                <a:latin typeface="Arial"/>
                <a:ea typeface="Arial"/>
                <a:cs typeface="Arial"/>
              </a:defRPr>
            </a:pPr>
            <a:r>
              <a:rPr sz="2025" b="0">
                <a:solidFill>
                  <a:srgbClr val="52667B"/>
                </a:solidFill>
                <a:latin typeface="Arial"/>
                <a:ea typeface="Arial"/>
                <a:cs typeface="Arial"/>
              </a:rPr>
              <a:t>One token of lookahead is enough.</a:t>
            </a:r>
          </a:p>
        </p:txBody>
      </p:sp>
      <p:pic>
        <p:nvPicPr>
          <p:cNvPr id="7" name="">
            <a:extLst xmlns:a="http://schemas.openxmlformats.org/drawingml/2006/main">
              <a:ext uri="{FF2B5EF4-FFF2-40B4-BE49-F238E27FC236}">
                <a16:creationId xmlns:a16="http://schemas.microsoft.com/office/drawing/2014/main" id="{A9EF52CB-2997-42D1-B478-AE56B63DCB0D}"/>
              </a:ext>
            </a:extLst>
          </p:cNvPr>
          <p:cNvPicPr>
            <a:picLocks xmlns:a="http://schemas.openxmlformats.org/drawingml/2006/main" noChangeAspect="1"/>
          </p:cNvPicPr>
          <p:nvPr/>
        </p:nvPicPr>
        <p:blipFill>
          <a:blip xmlns:r="http://schemas.openxmlformats.org/officeDocument/2006/relationships" xmlns:a="http://schemas.openxmlformats.org/drawingml/2006/main" r:embed="R4935194003ca4b47"/>
          <a:stretch xmlns:a="http://schemas.openxmlformats.org/drawingml/2006/main"/>
        </p:blipFill>
        <p:spPr>
          <a:xfrm xmlns:a="http://schemas.openxmlformats.org/drawingml/2006/main">
            <a:off x="5829300" y="1756381"/>
            <a:ext cx="5676900" cy="4183439"/>
          </a:xfrm>
          <a:prstGeom xmlns:a="http://schemas.openxmlformats.org/drawingml/2006/main" prst="rect">
            <a:avLst/>
          </a:prstGeom>
        </p:spPr>
      </p:pic>
    </p:spTree>
    <p:extLst>
      <p:ext uri="{BB962C8B-B14F-4D97-AF65-F5344CB8AC3E}">
        <p14:creationId xmlns:p14="http://schemas.microsoft.com/office/powerpoint/2010/main" val="122710659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MPILER DESIGN">
            <a:extLst xmlns:a="http://schemas.openxmlformats.org/drawingml/2006/main">
              <a:ext uri="{FF2B5EF4-FFF2-40B4-BE49-F238E27FC236}">
                <a16:creationId xmlns:a16="http://schemas.microsoft.com/office/drawing/2014/main" id="{112A5497-9DF3-4D55-A4E5-716595EAEFD7}"/>
              </a:ext>
            </a:extLst>
          </p:cNvPr>
          <p:cNvSpPr>
            <a:spLocks xmlns:a="http://schemas.openxmlformats.org/drawingml/2006/main" noGrp="1"/>
          </p:cNvSpPr>
          <p:nvPr/>
        </p:nvSpPr>
        <p:spPr>
          <a:xfrm xmlns:a="http://schemas.openxmlformats.org/drawingml/2006/main">
            <a:off x="685800" y="2857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DF6948"/>
                </a:solidFill>
                <a:latin typeface="Arial"/>
                <a:ea typeface="Arial"/>
                <a:cs typeface="Arial"/>
              </a:defRPr>
            </a:defPPr>
            <a:lvl1pPr>
              <a:defRPr sz="1125" b="1">
                <a:solidFill>
                  <a:srgbClr val="DF6948"/>
                </a:solidFill>
                <a:latin typeface="Arial"/>
                <a:ea typeface="Arial"/>
                <a:cs typeface="Arial"/>
              </a:defRPr>
            </a:lvl1pPr>
            <a:lvl2pPr>
              <a:defRPr sz="1125" b="1">
                <a:solidFill>
                  <a:srgbClr val="DF6948"/>
                </a:solidFill>
                <a:latin typeface="Arial"/>
                <a:ea typeface="Arial"/>
                <a:cs typeface="Arial"/>
              </a:defRPr>
            </a:lvl2pPr>
            <a:lvl3pPr>
              <a:defRPr sz="1125" b="1">
                <a:solidFill>
                  <a:srgbClr val="DF6948"/>
                </a:solidFill>
                <a:latin typeface="Arial"/>
                <a:ea typeface="Arial"/>
                <a:cs typeface="Arial"/>
              </a:defRPr>
            </a:lvl3pPr>
            <a:lvl4pPr>
              <a:defRPr sz="1125" b="1">
                <a:solidFill>
                  <a:srgbClr val="DF6948"/>
                </a:solidFill>
                <a:latin typeface="Arial"/>
                <a:ea typeface="Arial"/>
                <a:cs typeface="Arial"/>
              </a:defRPr>
            </a:lvl4pPr>
            <a:lvl5pPr>
              <a:defRPr sz="1125" b="1">
                <a:solidFill>
                  <a:srgbClr val="DF6948"/>
                </a:solidFill>
                <a:latin typeface="Arial"/>
                <a:ea typeface="Arial"/>
                <a:cs typeface="Arial"/>
              </a:defRPr>
            </a:lvl5pPr>
            <a:lvl6pPr>
              <a:defRPr sz="1125" b="1">
                <a:solidFill>
                  <a:srgbClr val="DF6948"/>
                </a:solidFill>
                <a:latin typeface="Arial"/>
                <a:ea typeface="Arial"/>
                <a:cs typeface="Arial"/>
              </a:defRPr>
            </a:lvl6pPr>
            <a:lvl7pPr>
              <a:defRPr sz="1125" b="1">
                <a:solidFill>
                  <a:srgbClr val="DF6948"/>
                </a:solidFill>
                <a:latin typeface="Arial"/>
                <a:ea typeface="Arial"/>
                <a:cs typeface="Arial"/>
              </a:defRPr>
            </a:lvl7pPr>
            <a:lvl8pPr>
              <a:defRPr sz="1125" b="1">
                <a:solidFill>
                  <a:srgbClr val="DF6948"/>
                </a:solidFill>
                <a:latin typeface="Arial"/>
                <a:ea typeface="Arial"/>
                <a:cs typeface="Arial"/>
              </a:defRPr>
            </a:lvl8pPr>
            <a:lvl9pPr>
              <a:defRPr sz="1125" b="1">
                <a:solidFill>
                  <a:srgbClr val="DF6948"/>
                </a:solidFill>
                <a:latin typeface="Arial"/>
                <a:ea typeface="Arial"/>
                <a:cs typeface="Arial"/>
              </a:defRPr>
            </a:lvl9pPr>
          </a:lstStyle>
          <a:p xmlns:a="http://schemas.openxmlformats.org/drawingml/2006/main">
            <a:pPr>
              <a:defRPr sz="1125" b="1">
                <a:solidFill>
                  <a:srgbClr val="DF6948"/>
                </a:solidFill>
                <a:latin typeface="Arial"/>
                <a:ea typeface="Arial"/>
                <a:cs typeface="Arial"/>
              </a:defRPr>
            </a:pPr>
            <a:r>
              <a:rPr sz="1125" b="1">
                <a:solidFill>
                  <a:srgbClr val="DF6948"/>
                </a:solidFill>
                <a:latin typeface="Arial"/>
                <a:ea typeface="Arial"/>
                <a:cs typeface="Arial"/>
              </a:rPr>
              <a:t>COMPILER DESIGN</a:t>
            </a:r>
          </a:p>
        </p:txBody>
      </p:sp>
      <p:sp>
        <p:nvSpPr>
          <p:cNvPr id="2" name="Slide title">
            <a:extLst xmlns:a="http://schemas.openxmlformats.org/drawingml/2006/main">
              <a:ext uri="{FF2B5EF4-FFF2-40B4-BE49-F238E27FC236}">
                <a16:creationId xmlns:a16="http://schemas.microsoft.com/office/drawing/2014/main" id="{C979F04F-54D1-4851-B81E-72C930639DA9}"/>
              </a:ext>
            </a:extLst>
          </p:cNvPr>
          <p:cNvSpPr>
            <a:spLocks xmlns:a="http://schemas.openxmlformats.org/drawingml/2006/main" noGrp="1"/>
          </p:cNvSpPr>
          <p:nvPr/>
        </p:nvSpPr>
        <p:spPr>
          <a:xfrm xmlns:a="http://schemas.openxmlformats.org/drawingml/2006/main">
            <a:off x="685800" y="7620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42B43"/>
                </a:solidFill>
                <a:latin typeface="Arial"/>
                <a:ea typeface="Arial"/>
                <a:cs typeface="Arial"/>
              </a:defRPr>
            </a:defPPr>
            <a:lvl1pPr>
              <a:defRPr sz="3450" b="1">
                <a:solidFill>
                  <a:srgbClr val="142B43"/>
                </a:solidFill>
                <a:latin typeface="Arial"/>
                <a:ea typeface="Arial"/>
                <a:cs typeface="Arial"/>
              </a:defRPr>
            </a:lvl1pPr>
            <a:lvl2pPr>
              <a:defRPr sz="3450" b="1">
                <a:solidFill>
                  <a:srgbClr val="142B43"/>
                </a:solidFill>
                <a:latin typeface="Arial"/>
                <a:ea typeface="Arial"/>
                <a:cs typeface="Arial"/>
              </a:defRPr>
            </a:lvl2pPr>
            <a:lvl3pPr>
              <a:defRPr sz="3450" b="1">
                <a:solidFill>
                  <a:srgbClr val="142B43"/>
                </a:solidFill>
                <a:latin typeface="Arial"/>
                <a:ea typeface="Arial"/>
                <a:cs typeface="Arial"/>
              </a:defRPr>
            </a:lvl3pPr>
            <a:lvl4pPr>
              <a:defRPr sz="3450" b="1">
                <a:solidFill>
                  <a:srgbClr val="142B43"/>
                </a:solidFill>
                <a:latin typeface="Arial"/>
                <a:ea typeface="Arial"/>
                <a:cs typeface="Arial"/>
              </a:defRPr>
            </a:lvl4pPr>
            <a:lvl5pPr>
              <a:defRPr sz="3450" b="1">
                <a:solidFill>
                  <a:srgbClr val="142B43"/>
                </a:solidFill>
                <a:latin typeface="Arial"/>
                <a:ea typeface="Arial"/>
                <a:cs typeface="Arial"/>
              </a:defRPr>
            </a:lvl5pPr>
            <a:lvl6pPr>
              <a:defRPr sz="3450" b="1">
                <a:solidFill>
                  <a:srgbClr val="142B43"/>
                </a:solidFill>
                <a:latin typeface="Arial"/>
                <a:ea typeface="Arial"/>
                <a:cs typeface="Arial"/>
              </a:defRPr>
            </a:lvl6pPr>
            <a:lvl7pPr>
              <a:defRPr sz="3450" b="1">
                <a:solidFill>
                  <a:srgbClr val="142B43"/>
                </a:solidFill>
                <a:latin typeface="Arial"/>
                <a:ea typeface="Arial"/>
                <a:cs typeface="Arial"/>
              </a:defRPr>
            </a:lvl7pPr>
            <a:lvl8pPr>
              <a:defRPr sz="3450" b="1">
                <a:solidFill>
                  <a:srgbClr val="142B43"/>
                </a:solidFill>
                <a:latin typeface="Arial"/>
                <a:ea typeface="Arial"/>
                <a:cs typeface="Arial"/>
              </a:defRPr>
            </a:lvl8pPr>
            <a:lvl9pPr>
              <a:defRPr sz="3450" b="1">
                <a:solidFill>
                  <a:srgbClr val="142B43"/>
                </a:solidFill>
                <a:latin typeface="Arial"/>
                <a:ea typeface="Arial"/>
                <a:cs typeface="Arial"/>
              </a:defRPr>
            </a:lvl9pPr>
          </a:lstStyle>
          <a:p xmlns:a="http://schemas.openxmlformats.org/drawingml/2006/main">
            <a:pPr>
              <a:defRPr sz="3450" b="1">
                <a:solidFill>
                  <a:srgbClr val="142B43"/>
                </a:solidFill>
                <a:latin typeface="Arial"/>
                <a:ea typeface="Arial"/>
                <a:cs typeface="Arial"/>
              </a:defRPr>
            </a:pPr>
            <a:r>
              <a:rPr sz="3450" b="1">
                <a:solidFill>
                  <a:srgbClr val="142B43"/>
                </a:solidFill>
                <a:latin typeface="Arial"/>
                <a:ea typeface="Arial"/>
                <a:cs typeface="Arial"/>
              </a:rPr>
              <a:t>Semantic analysis</a:t>
            </a:r>
          </a:p>
        </p:txBody>
      </p:sp>
      <p:sp>
        <p:nvSpPr>
          <p:cNvPr id="3" name="StringLab Browser Compiler Front En">
            <a:extLst xmlns:a="http://schemas.openxmlformats.org/drawingml/2006/main">
              <a:ext uri="{FF2B5EF4-FFF2-40B4-BE49-F238E27FC236}">
                <a16:creationId xmlns:a16="http://schemas.microsoft.com/office/drawing/2014/main" id="{1BB5A969-DAF4-4275-9EF4-B24A171BF404}"/>
              </a:ext>
            </a:extLst>
          </p:cNvPr>
          <p:cNvSpPr>
            <a:spLocks xmlns:a="http://schemas.openxmlformats.org/drawingml/2006/main" noGrp="1"/>
          </p:cNvSpPr>
          <p:nvPr/>
        </p:nvSpPr>
        <p:spPr>
          <a:xfrm xmlns:a="http://schemas.openxmlformats.org/drawingml/2006/main">
            <a:off x="685800" y="64008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StringLab Browser Compiler Front End</a:t>
            </a:r>
          </a:p>
        </p:txBody>
      </p:sp>
      <p:sp>
        <p:nvSpPr>
          <p:cNvPr id="4" name="07">
            <a:extLst xmlns:a="http://schemas.openxmlformats.org/drawingml/2006/main">
              <a:ext uri="{FF2B5EF4-FFF2-40B4-BE49-F238E27FC236}">
                <a16:creationId xmlns:a16="http://schemas.microsoft.com/office/drawing/2014/main" id="{AC80E0D7-8DD0-4256-9F60-489FD6A2A782}"/>
              </a:ext>
            </a:extLst>
          </p:cNvPr>
          <p:cNvSpPr>
            <a:spLocks xmlns:a="http://schemas.openxmlformats.org/drawingml/2006/main" noGrp="1"/>
          </p:cNvSpPr>
          <p:nvPr/>
        </p:nvSpPr>
        <p:spPr>
          <a:xfrm xmlns:a="http://schemas.openxmlformats.org/drawingml/2006/main">
            <a:off x="11001375" y="6400800"/>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07</a:t>
            </a:r>
          </a:p>
        </p:txBody>
      </p:sp>
      <p:sp>
        <p:nvSpPr>
          <p:cNvPr id="5" name="Declare a name before using it&#10;Init">
            <a:extLst xmlns:a="http://schemas.openxmlformats.org/drawingml/2006/main">
              <a:ext uri="{FF2B5EF4-FFF2-40B4-BE49-F238E27FC236}">
                <a16:creationId xmlns:a16="http://schemas.microsoft.com/office/drawing/2014/main" id="{393E000D-832C-4A8F-BE87-42138C648F76}"/>
              </a:ext>
            </a:extLst>
          </p:cNvPr>
          <p:cNvSpPr>
            <a:spLocks xmlns:a="http://schemas.openxmlformats.org/drawingml/2006/main" noGrp="1"/>
          </p:cNvSpPr>
          <p:nvPr/>
        </p:nvSpPr>
        <p:spPr>
          <a:xfrm xmlns:a="http://schemas.openxmlformats.org/drawingml/2006/main">
            <a:off x="685800" y="1924050"/>
            <a:ext cx="1082040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42B43"/>
                </a:solidFill>
                <a:latin typeface="Arial"/>
                <a:ea typeface="Arial"/>
                <a:cs typeface="Arial"/>
              </a:defRPr>
            </a:defPPr>
            <a:lvl1pPr>
              <a:defRPr sz="2550" b="0">
                <a:solidFill>
                  <a:srgbClr val="142B43"/>
                </a:solidFill>
                <a:latin typeface="Arial"/>
                <a:ea typeface="Arial"/>
                <a:cs typeface="Arial"/>
              </a:defRPr>
            </a:lvl1pPr>
            <a:lvl2pPr>
              <a:defRPr sz="2550" b="0">
                <a:solidFill>
                  <a:srgbClr val="142B43"/>
                </a:solidFill>
                <a:latin typeface="Arial"/>
                <a:ea typeface="Arial"/>
                <a:cs typeface="Arial"/>
              </a:defRPr>
            </a:lvl2pPr>
            <a:lvl3pPr>
              <a:defRPr sz="2550" b="0">
                <a:solidFill>
                  <a:srgbClr val="142B43"/>
                </a:solidFill>
                <a:latin typeface="Arial"/>
                <a:ea typeface="Arial"/>
                <a:cs typeface="Arial"/>
              </a:defRPr>
            </a:lvl3pPr>
            <a:lvl4pPr>
              <a:defRPr sz="2550" b="0">
                <a:solidFill>
                  <a:srgbClr val="142B43"/>
                </a:solidFill>
                <a:latin typeface="Arial"/>
                <a:ea typeface="Arial"/>
                <a:cs typeface="Arial"/>
              </a:defRPr>
            </a:lvl4pPr>
            <a:lvl5pPr>
              <a:defRPr sz="2550" b="0">
                <a:solidFill>
                  <a:srgbClr val="142B43"/>
                </a:solidFill>
                <a:latin typeface="Arial"/>
                <a:ea typeface="Arial"/>
                <a:cs typeface="Arial"/>
              </a:defRPr>
            </a:lvl5pPr>
            <a:lvl6pPr>
              <a:defRPr sz="2550" b="0">
                <a:solidFill>
                  <a:srgbClr val="142B43"/>
                </a:solidFill>
                <a:latin typeface="Arial"/>
                <a:ea typeface="Arial"/>
                <a:cs typeface="Arial"/>
              </a:defRPr>
            </a:lvl6pPr>
            <a:lvl7pPr>
              <a:defRPr sz="2550" b="0">
                <a:solidFill>
                  <a:srgbClr val="142B43"/>
                </a:solidFill>
                <a:latin typeface="Arial"/>
                <a:ea typeface="Arial"/>
                <a:cs typeface="Arial"/>
              </a:defRPr>
            </a:lvl7pPr>
            <a:lvl8pPr>
              <a:defRPr sz="2550" b="0">
                <a:solidFill>
                  <a:srgbClr val="142B43"/>
                </a:solidFill>
                <a:latin typeface="Arial"/>
                <a:ea typeface="Arial"/>
                <a:cs typeface="Arial"/>
              </a:defRPr>
            </a:lvl8pPr>
            <a:lvl9pPr>
              <a:defRPr sz="2550" b="0">
                <a:solidFill>
                  <a:srgbClr val="142B43"/>
                </a:solidFill>
                <a:latin typeface="Arial"/>
                <a:ea typeface="Arial"/>
                <a:cs typeface="Arial"/>
              </a:defRPr>
            </a:lvl9pPr>
          </a:lstStyle>
          <a:p xmlns:a="http://schemas.openxmlformats.org/drawingml/2006/main">
            <a:pPr>
              <a:defRPr sz="2550" b="0">
                <a:solidFill>
                  <a:srgbClr val="142B43"/>
                </a:solidFill>
                <a:latin typeface="Arial"/>
                <a:ea typeface="Arial"/>
                <a:cs typeface="Arial"/>
              </a:defRPr>
            </a:pPr>
            <a:r>
              <a:rPr sz="2550" b="0">
                <a:solidFill>
                  <a:srgbClr val="142B43"/>
                </a:solidFill>
                <a:latin typeface="Arial"/>
                <a:ea typeface="Arial"/>
                <a:cs typeface="Arial"/>
              </a:rPr>
              <a:t>Declare a name before using it</a:t>
            </a:r>
          </a:p>
          <a:p xmlns:a="http://schemas.openxmlformats.org/drawingml/2006/main">
            <a:pPr>
              <a:defRPr sz="2550" b="0">
                <a:solidFill>
                  <a:srgbClr val="142B43"/>
                </a:solidFill>
                <a:latin typeface="Arial"/>
                <a:ea typeface="Arial"/>
                <a:cs typeface="Arial"/>
              </a:defRPr>
            </a:pPr>
            <a:r>
              <a:rPr sz="2550" b="0">
                <a:solidFill>
                  <a:srgbClr val="142B43"/>
                </a:solidFill>
                <a:latin typeface="Arial"/>
                <a:ea typeface="Arial"/>
                <a:cs typeface="Arial"/>
              </a:rPr>
              <a:t>Initialize a string before reading it</a:t>
            </a:r>
          </a:p>
          <a:p xmlns:a="http://schemas.openxmlformats.org/drawingml/2006/main">
            <a:pPr>
              <a:defRPr sz="2550" b="0">
                <a:solidFill>
                  <a:srgbClr val="142B43"/>
                </a:solidFill>
                <a:latin typeface="Arial"/>
                <a:ea typeface="Arial"/>
                <a:cs typeface="Arial"/>
              </a:defRPr>
            </a:pPr>
            <a:r>
              <a:rPr sz="2550" b="0">
                <a:solidFill>
                  <a:srgbClr val="142B43"/>
                </a:solidFill>
                <a:latin typeface="Arial"/>
                <a:ea typeface="Arial"/>
                <a:cs typeface="Arial"/>
              </a:rPr>
              <a:t>Reject duplicate declarations</a:t>
            </a:r>
          </a:p>
          <a:p xmlns:a="http://schemas.openxmlformats.org/drawingml/2006/main">
            <a:pPr>
              <a:defRPr sz="2550" b="0">
                <a:solidFill>
                  <a:srgbClr val="142B43"/>
                </a:solidFill>
                <a:latin typeface="Arial"/>
                <a:ea typeface="Arial"/>
                <a:cs typeface="Arial"/>
              </a:defRPr>
            </a:pPr>
            <a:r>
              <a:rPr sz="2550" b="0">
                <a:solidFill>
                  <a:srgbClr val="142B43"/>
                </a:solidFill>
                <a:latin typeface="Arial"/>
                <a:ea typeface="Arial"/>
                <a:cs typeface="Arial"/>
              </a:rPr>
              <a:t>Check concatenated string lengths</a:t>
            </a:r>
          </a:p>
        </p:txBody>
      </p:sp>
      <p:sp>
        <p:nvSpPr>
          <p:cNvPr id="6" name="string x;&#10;print(x);  // uninitializ">
            <a:extLst xmlns:a="http://schemas.openxmlformats.org/drawingml/2006/main">
              <a:ext uri="{FF2B5EF4-FFF2-40B4-BE49-F238E27FC236}">
                <a16:creationId xmlns:a16="http://schemas.microsoft.com/office/drawing/2014/main" id="{C58AD9F1-4101-47EF-9207-0EFEC286DAFE}"/>
              </a:ext>
            </a:extLst>
          </p:cNvPr>
          <p:cNvSpPr>
            <a:spLocks xmlns:a="http://schemas.openxmlformats.org/drawingml/2006/main" noGrp="1"/>
          </p:cNvSpPr>
          <p:nvPr/>
        </p:nvSpPr>
        <p:spPr>
          <a:xfrm xmlns:a="http://schemas.openxmlformats.org/drawingml/2006/main">
            <a:off x="685800" y="481012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B43"/>
                </a:solidFill>
                <a:latin typeface="Consolas"/>
                <a:ea typeface="Consolas"/>
                <a:cs typeface="Consolas"/>
              </a:defRPr>
            </a:defPPr>
            <a:lvl1pPr>
              <a:defRPr sz="2175" b="0">
                <a:solidFill>
                  <a:srgbClr val="142B43"/>
                </a:solidFill>
                <a:latin typeface="Consolas"/>
                <a:ea typeface="Consolas"/>
                <a:cs typeface="Consolas"/>
              </a:defRPr>
            </a:lvl1pPr>
            <a:lvl2pPr>
              <a:defRPr sz="2175" b="0">
                <a:solidFill>
                  <a:srgbClr val="142B43"/>
                </a:solidFill>
                <a:latin typeface="Consolas"/>
                <a:ea typeface="Consolas"/>
                <a:cs typeface="Consolas"/>
              </a:defRPr>
            </a:lvl2pPr>
            <a:lvl3pPr>
              <a:defRPr sz="2175" b="0">
                <a:solidFill>
                  <a:srgbClr val="142B43"/>
                </a:solidFill>
                <a:latin typeface="Consolas"/>
                <a:ea typeface="Consolas"/>
                <a:cs typeface="Consolas"/>
              </a:defRPr>
            </a:lvl3pPr>
            <a:lvl4pPr>
              <a:defRPr sz="2175" b="0">
                <a:solidFill>
                  <a:srgbClr val="142B43"/>
                </a:solidFill>
                <a:latin typeface="Consolas"/>
                <a:ea typeface="Consolas"/>
                <a:cs typeface="Consolas"/>
              </a:defRPr>
            </a:lvl4pPr>
            <a:lvl5pPr>
              <a:defRPr sz="2175" b="0">
                <a:solidFill>
                  <a:srgbClr val="142B43"/>
                </a:solidFill>
                <a:latin typeface="Consolas"/>
                <a:ea typeface="Consolas"/>
                <a:cs typeface="Consolas"/>
              </a:defRPr>
            </a:lvl5pPr>
            <a:lvl6pPr>
              <a:defRPr sz="2175" b="0">
                <a:solidFill>
                  <a:srgbClr val="142B43"/>
                </a:solidFill>
                <a:latin typeface="Consolas"/>
                <a:ea typeface="Consolas"/>
                <a:cs typeface="Consolas"/>
              </a:defRPr>
            </a:lvl6pPr>
            <a:lvl7pPr>
              <a:defRPr sz="2175" b="0">
                <a:solidFill>
                  <a:srgbClr val="142B43"/>
                </a:solidFill>
                <a:latin typeface="Consolas"/>
                <a:ea typeface="Consolas"/>
                <a:cs typeface="Consolas"/>
              </a:defRPr>
            </a:lvl7pPr>
            <a:lvl8pPr>
              <a:defRPr sz="2175" b="0">
                <a:solidFill>
                  <a:srgbClr val="142B43"/>
                </a:solidFill>
                <a:latin typeface="Consolas"/>
                <a:ea typeface="Consolas"/>
                <a:cs typeface="Consolas"/>
              </a:defRPr>
            </a:lvl8pPr>
            <a:lvl9pPr>
              <a:defRPr sz="2175" b="0">
                <a:solidFill>
                  <a:srgbClr val="142B43"/>
                </a:solidFill>
                <a:latin typeface="Consolas"/>
                <a:ea typeface="Consolas"/>
                <a:cs typeface="Consolas"/>
              </a:defRPr>
            </a:lvl9pPr>
          </a:lstStyle>
          <a:p xmlns:a="http://schemas.openxmlformats.org/drawingml/2006/main">
            <a:pPr>
              <a:defRPr sz="2175" b="0">
                <a:solidFill>
                  <a:srgbClr val="142B43"/>
                </a:solidFill>
                <a:latin typeface="Consolas"/>
                <a:ea typeface="Consolas"/>
                <a:cs typeface="Consolas"/>
              </a:defRPr>
            </a:pPr>
            <a:r>
              <a:rPr sz="2175" b="0">
                <a:solidFill>
                  <a:srgbClr val="142B43"/>
                </a:solidFill>
                <a:latin typeface="Consolas"/>
                <a:ea typeface="Consolas"/>
                <a:cs typeface="Consolas"/>
              </a:rPr>
              <a:t>string x;</a:t>
            </a:r>
          </a:p>
          <a:p xmlns:a="http://schemas.openxmlformats.org/drawingml/2006/main">
            <a:pPr>
              <a:defRPr sz="2175" b="0">
                <a:solidFill>
                  <a:srgbClr val="142B43"/>
                </a:solidFill>
                <a:latin typeface="Consolas"/>
                <a:ea typeface="Consolas"/>
                <a:cs typeface="Consolas"/>
              </a:defRPr>
            </a:pPr>
            <a:r>
              <a:rPr sz="2175" b="0">
                <a:solidFill>
                  <a:srgbClr val="142B43"/>
                </a:solidFill>
                <a:latin typeface="Consolas"/>
                <a:ea typeface="Consolas"/>
                <a:cs typeface="Consolas"/>
              </a:rPr>
              <a:t>print(x);  // uninitialized use</a:t>
            </a:r>
          </a:p>
        </p:txBody>
      </p:sp>
    </p:spTree>
    <p:extLst>
      <p:ext uri="{BB962C8B-B14F-4D97-AF65-F5344CB8AC3E}">
        <p14:creationId xmlns:p14="http://schemas.microsoft.com/office/powerpoint/2010/main" val="196456330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MPILER DESIGN">
            <a:extLst xmlns:a="http://schemas.openxmlformats.org/drawingml/2006/main">
              <a:ext uri="{FF2B5EF4-FFF2-40B4-BE49-F238E27FC236}">
                <a16:creationId xmlns:a16="http://schemas.microsoft.com/office/drawing/2014/main" id="{2FA3C06B-BE13-4085-B071-59FAB769929A}"/>
              </a:ext>
            </a:extLst>
          </p:cNvPr>
          <p:cNvSpPr>
            <a:spLocks xmlns:a="http://schemas.openxmlformats.org/drawingml/2006/main" noGrp="1"/>
          </p:cNvSpPr>
          <p:nvPr/>
        </p:nvSpPr>
        <p:spPr>
          <a:xfrm xmlns:a="http://schemas.openxmlformats.org/drawingml/2006/main">
            <a:off x="685800" y="2857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DF6948"/>
                </a:solidFill>
                <a:latin typeface="Arial"/>
                <a:ea typeface="Arial"/>
                <a:cs typeface="Arial"/>
              </a:defRPr>
            </a:defPPr>
            <a:lvl1pPr>
              <a:defRPr sz="1125" b="1">
                <a:solidFill>
                  <a:srgbClr val="DF6948"/>
                </a:solidFill>
                <a:latin typeface="Arial"/>
                <a:ea typeface="Arial"/>
                <a:cs typeface="Arial"/>
              </a:defRPr>
            </a:lvl1pPr>
            <a:lvl2pPr>
              <a:defRPr sz="1125" b="1">
                <a:solidFill>
                  <a:srgbClr val="DF6948"/>
                </a:solidFill>
                <a:latin typeface="Arial"/>
                <a:ea typeface="Arial"/>
                <a:cs typeface="Arial"/>
              </a:defRPr>
            </a:lvl2pPr>
            <a:lvl3pPr>
              <a:defRPr sz="1125" b="1">
                <a:solidFill>
                  <a:srgbClr val="DF6948"/>
                </a:solidFill>
                <a:latin typeface="Arial"/>
                <a:ea typeface="Arial"/>
                <a:cs typeface="Arial"/>
              </a:defRPr>
            </a:lvl3pPr>
            <a:lvl4pPr>
              <a:defRPr sz="1125" b="1">
                <a:solidFill>
                  <a:srgbClr val="DF6948"/>
                </a:solidFill>
                <a:latin typeface="Arial"/>
                <a:ea typeface="Arial"/>
                <a:cs typeface="Arial"/>
              </a:defRPr>
            </a:lvl4pPr>
            <a:lvl5pPr>
              <a:defRPr sz="1125" b="1">
                <a:solidFill>
                  <a:srgbClr val="DF6948"/>
                </a:solidFill>
                <a:latin typeface="Arial"/>
                <a:ea typeface="Arial"/>
                <a:cs typeface="Arial"/>
              </a:defRPr>
            </a:lvl5pPr>
            <a:lvl6pPr>
              <a:defRPr sz="1125" b="1">
                <a:solidFill>
                  <a:srgbClr val="DF6948"/>
                </a:solidFill>
                <a:latin typeface="Arial"/>
                <a:ea typeface="Arial"/>
                <a:cs typeface="Arial"/>
              </a:defRPr>
            </a:lvl6pPr>
            <a:lvl7pPr>
              <a:defRPr sz="1125" b="1">
                <a:solidFill>
                  <a:srgbClr val="DF6948"/>
                </a:solidFill>
                <a:latin typeface="Arial"/>
                <a:ea typeface="Arial"/>
                <a:cs typeface="Arial"/>
              </a:defRPr>
            </a:lvl7pPr>
            <a:lvl8pPr>
              <a:defRPr sz="1125" b="1">
                <a:solidFill>
                  <a:srgbClr val="DF6948"/>
                </a:solidFill>
                <a:latin typeface="Arial"/>
                <a:ea typeface="Arial"/>
                <a:cs typeface="Arial"/>
              </a:defRPr>
            </a:lvl8pPr>
            <a:lvl9pPr>
              <a:defRPr sz="1125" b="1">
                <a:solidFill>
                  <a:srgbClr val="DF6948"/>
                </a:solidFill>
                <a:latin typeface="Arial"/>
                <a:ea typeface="Arial"/>
                <a:cs typeface="Arial"/>
              </a:defRPr>
            </a:lvl9pPr>
          </a:lstStyle>
          <a:p xmlns:a="http://schemas.openxmlformats.org/drawingml/2006/main">
            <a:pPr>
              <a:defRPr sz="1125" b="1">
                <a:solidFill>
                  <a:srgbClr val="DF6948"/>
                </a:solidFill>
                <a:latin typeface="Arial"/>
                <a:ea typeface="Arial"/>
                <a:cs typeface="Arial"/>
              </a:defRPr>
            </a:pPr>
            <a:r>
              <a:rPr sz="1125" b="1">
                <a:solidFill>
                  <a:srgbClr val="DF6948"/>
                </a:solidFill>
                <a:latin typeface="Arial"/>
                <a:ea typeface="Arial"/>
                <a:cs typeface="Arial"/>
              </a:rPr>
              <a:t>COMPILER DESIGN</a:t>
            </a:r>
          </a:p>
        </p:txBody>
      </p:sp>
      <p:sp>
        <p:nvSpPr>
          <p:cNvPr id="2" name="Slide title">
            <a:extLst xmlns:a="http://schemas.openxmlformats.org/drawingml/2006/main">
              <a:ext uri="{FF2B5EF4-FFF2-40B4-BE49-F238E27FC236}">
                <a16:creationId xmlns:a16="http://schemas.microsoft.com/office/drawing/2014/main" id="{3A3FD9BB-C5B6-4969-88CA-2EE340F0D859}"/>
              </a:ext>
            </a:extLst>
          </p:cNvPr>
          <p:cNvSpPr>
            <a:spLocks xmlns:a="http://schemas.openxmlformats.org/drawingml/2006/main" noGrp="1"/>
          </p:cNvSpPr>
          <p:nvPr/>
        </p:nvSpPr>
        <p:spPr>
          <a:xfrm xmlns:a="http://schemas.openxmlformats.org/drawingml/2006/main">
            <a:off x="685800" y="7620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42B43"/>
                </a:solidFill>
                <a:latin typeface="Arial"/>
                <a:ea typeface="Arial"/>
                <a:cs typeface="Arial"/>
              </a:defRPr>
            </a:defPPr>
            <a:lvl1pPr>
              <a:defRPr sz="3450" b="1">
                <a:solidFill>
                  <a:srgbClr val="142B43"/>
                </a:solidFill>
                <a:latin typeface="Arial"/>
                <a:ea typeface="Arial"/>
                <a:cs typeface="Arial"/>
              </a:defRPr>
            </a:lvl1pPr>
            <a:lvl2pPr>
              <a:defRPr sz="3450" b="1">
                <a:solidFill>
                  <a:srgbClr val="142B43"/>
                </a:solidFill>
                <a:latin typeface="Arial"/>
                <a:ea typeface="Arial"/>
                <a:cs typeface="Arial"/>
              </a:defRPr>
            </a:lvl2pPr>
            <a:lvl3pPr>
              <a:defRPr sz="3450" b="1">
                <a:solidFill>
                  <a:srgbClr val="142B43"/>
                </a:solidFill>
                <a:latin typeface="Arial"/>
                <a:ea typeface="Arial"/>
                <a:cs typeface="Arial"/>
              </a:defRPr>
            </a:lvl3pPr>
            <a:lvl4pPr>
              <a:defRPr sz="3450" b="1">
                <a:solidFill>
                  <a:srgbClr val="142B43"/>
                </a:solidFill>
                <a:latin typeface="Arial"/>
                <a:ea typeface="Arial"/>
                <a:cs typeface="Arial"/>
              </a:defRPr>
            </a:lvl4pPr>
            <a:lvl5pPr>
              <a:defRPr sz="3450" b="1">
                <a:solidFill>
                  <a:srgbClr val="142B43"/>
                </a:solidFill>
                <a:latin typeface="Arial"/>
                <a:ea typeface="Arial"/>
                <a:cs typeface="Arial"/>
              </a:defRPr>
            </a:lvl5pPr>
            <a:lvl6pPr>
              <a:defRPr sz="3450" b="1">
                <a:solidFill>
                  <a:srgbClr val="142B43"/>
                </a:solidFill>
                <a:latin typeface="Arial"/>
                <a:ea typeface="Arial"/>
                <a:cs typeface="Arial"/>
              </a:defRPr>
            </a:lvl6pPr>
            <a:lvl7pPr>
              <a:defRPr sz="3450" b="1">
                <a:solidFill>
                  <a:srgbClr val="142B43"/>
                </a:solidFill>
                <a:latin typeface="Arial"/>
                <a:ea typeface="Arial"/>
                <a:cs typeface="Arial"/>
              </a:defRPr>
            </a:lvl7pPr>
            <a:lvl8pPr>
              <a:defRPr sz="3450" b="1">
                <a:solidFill>
                  <a:srgbClr val="142B43"/>
                </a:solidFill>
                <a:latin typeface="Arial"/>
                <a:ea typeface="Arial"/>
                <a:cs typeface="Arial"/>
              </a:defRPr>
            </a:lvl8pPr>
            <a:lvl9pPr>
              <a:defRPr sz="3450" b="1">
                <a:solidFill>
                  <a:srgbClr val="142B43"/>
                </a:solidFill>
                <a:latin typeface="Arial"/>
                <a:ea typeface="Arial"/>
                <a:cs typeface="Arial"/>
              </a:defRPr>
            </a:lvl9pPr>
          </a:lstStyle>
          <a:p xmlns:a="http://schemas.openxmlformats.org/drawingml/2006/main">
            <a:pPr>
              <a:defRPr sz="3450" b="1">
                <a:solidFill>
                  <a:srgbClr val="142B43"/>
                </a:solidFill>
                <a:latin typeface="Arial"/>
                <a:ea typeface="Arial"/>
                <a:cs typeface="Arial"/>
              </a:defRPr>
            </a:pPr>
            <a:r>
              <a:rPr sz="3450" b="1">
                <a:solidFill>
                  <a:srgbClr val="142B43"/>
                </a:solidFill>
                <a:latin typeface="Arial"/>
                <a:ea typeface="Arial"/>
                <a:cs typeface="Arial"/>
              </a:rPr>
              <a:t>String literals and escapes</a:t>
            </a:r>
          </a:p>
        </p:txBody>
      </p:sp>
      <p:sp>
        <p:nvSpPr>
          <p:cNvPr id="3" name="StringLab Browser Compiler Front En">
            <a:extLst xmlns:a="http://schemas.openxmlformats.org/drawingml/2006/main">
              <a:ext uri="{FF2B5EF4-FFF2-40B4-BE49-F238E27FC236}">
                <a16:creationId xmlns:a16="http://schemas.microsoft.com/office/drawing/2014/main" id="{E082826B-1FA7-4841-B3AC-C306C075A2DC}"/>
              </a:ext>
            </a:extLst>
          </p:cNvPr>
          <p:cNvSpPr>
            <a:spLocks xmlns:a="http://schemas.openxmlformats.org/drawingml/2006/main" noGrp="1"/>
          </p:cNvSpPr>
          <p:nvPr/>
        </p:nvSpPr>
        <p:spPr>
          <a:xfrm xmlns:a="http://schemas.openxmlformats.org/drawingml/2006/main">
            <a:off x="685800" y="64008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StringLab Browser Compiler Front End</a:t>
            </a:r>
          </a:p>
        </p:txBody>
      </p:sp>
      <p:sp>
        <p:nvSpPr>
          <p:cNvPr id="4" name="08">
            <a:extLst xmlns:a="http://schemas.openxmlformats.org/drawingml/2006/main">
              <a:ext uri="{FF2B5EF4-FFF2-40B4-BE49-F238E27FC236}">
                <a16:creationId xmlns:a16="http://schemas.microsoft.com/office/drawing/2014/main" id="{3DBB3358-07DF-4809-99CB-62E98671B645}"/>
              </a:ext>
            </a:extLst>
          </p:cNvPr>
          <p:cNvSpPr>
            <a:spLocks xmlns:a="http://schemas.openxmlformats.org/drawingml/2006/main" noGrp="1"/>
          </p:cNvSpPr>
          <p:nvPr/>
        </p:nvSpPr>
        <p:spPr>
          <a:xfrm xmlns:a="http://schemas.openxmlformats.org/drawingml/2006/main">
            <a:off x="11001375" y="6400800"/>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08</a:t>
            </a:r>
          </a:p>
        </p:txBody>
      </p:sp>
      <p:sp>
        <p:nvSpPr>
          <p:cNvPr id="5" name="print(&quot;A\nB&quot;);&#10;print(&quot;She said: \&quot;H">
            <a:extLst xmlns:a="http://schemas.openxmlformats.org/drawingml/2006/main">
              <a:ext uri="{FF2B5EF4-FFF2-40B4-BE49-F238E27FC236}">
                <a16:creationId xmlns:a16="http://schemas.microsoft.com/office/drawing/2014/main" id="{EE5AF0D5-A344-4BBC-BD57-9A9CDA3DB12D}"/>
              </a:ext>
            </a:extLst>
          </p:cNvPr>
          <p:cNvSpPr>
            <a:spLocks xmlns:a="http://schemas.openxmlformats.org/drawingml/2006/main" noGrp="1"/>
          </p:cNvSpPr>
          <p:nvPr/>
        </p:nvSpPr>
        <p:spPr>
          <a:xfrm xmlns:a="http://schemas.openxmlformats.org/drawingml/2006/main">
            <a:off x="685800" y="1885950"/>
            <a:ext cx="108204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42B43"/>
                </a:solidFill>
                <a:latin typeface="Consolas"/>
                <a:ea typeface="Consolas"/>
                <a:cs typeface="Consolas"/>
              </a:defRPr>
            </a:defPPr>
            <a:lvl1pPr>
              <a:defRPr sz="2325" b="0">
                <a:solidFill>
                  <a:srgbClr val="142B43"/>
                </a:solidFill>
                <a:latin typeface="Consolas"/>
                <a:ea typeface="Consolas"/>
                <a:cs typeface="Consolas"/>
              </a:defRPr>
            </a:lvl1pPr>
            <a:lvl2pPr>
              <a:defRPr sz="2325" b="0">
                <a:solidFill>
                  <a:srgbClr val="142B43"/>
                </a:solidFill>
                <a:latin typeface="Consolas"/>
                <a:ea typeface="Consolas"/>
                <a:cs typeface="Consolas"/>
              </a:defRPr>
            </a:lvl2pPr>
            <a:lvl3pPr>
              <a:defRPr sz="2325" b="0">
                <a:solidFill>
                  <a:srgbClr val="142B43"/>
                </a:solidFill>
                <a:latin typeface="Consolas"/>
                <a:ea typeface="Consolas"/>
                <a:cs typeface="Consolas"/>
              </a:defRPr>
            </a:lvl3pPr>
            <a:lvl4pPr>
              <a:defRPr sz="2325" b="0">
                <a:solidFill>
                  <a:srgbClr val="142B43"/>
                </a:solidFill>
                <a:latin typeface="Consolas"/>
                <a:ea typeface="Consolas"/>
                <a:cs typeface="Consolas"/>
              </a:defRPr>
            </a:lvl4pPr>
            <a:lvl5pPr>
              <a:defRPr sz="2325" b="0">
                <a:solidFill>
                  <a:srgbClr val="142B43"/>
                </a:solidFill>
                <a:latin typeface="Consolas"/>
                <a:ea typeface="Consolas"/>
                <a:cs typeface="Consolas"/>
              </a:defRPr>
            </a:lvl5pPr>
            <a:lvl6pPr>
              <a:defRPr sz="2325" b="0">
                <a:solidFill>
                  <a:srgbClr val="142B43"/>
                </a:solidFill>
                <a:latin typeface="Consolas"/>
                <a:ea typeface="Consolas"/>
                <a:cs typeface="Consolas"/>
              </a:defRPr>
            </a:lvl6pPr>
            <a:lvl7pPr>
              <a:defRPr sz="2325" b="0">
                <a:solidFill>
                  <a:srgbClr val="142B43"/>
                </a:solidFill>
                <a:latin typeface="Consolas"/>
                <a:ea typeface="Consolas"/>
                <a:cs typeface="Consolas"/>
              </a:defRPr>
            </a:lvl7pPr>
            <a:lvl8pPr>
              <a:defRPr sz="2325" b="0">
                <a:solidFill>
                  <a:srgbClr val="142B43"/>
                </a:solidFill>
                <a:latin typeface="Consolas"/>
                <a:ea typeface="Consolas"/>
                <a:cs typeface="Consolas"/>
              </a:defRPr>
            </a:lvl8pPr>
            <a:lvl9pPr>
              <a:defRPr sz="2325" b="0">
                <a:solidFill>
                  <a:srgbClr val="142B43"/>
                </a:solidFill>
                <a:latin typeface="Consolas"/>
                <a:ea typeface="Consolas"/>
                <a:cs typeface="Consolas"/>
              </a:defRPr>
            </a:lvl9pPr>
          </a:lstStyle>
          <a:p xmlns:a="http://schemas.openxmlformats.org/drawingml/2006/main">
            <a:pPr>
              <a:defRPr sz="2325" b="0">
                <a:solidFill>
                  <a:srgbClr val="142B43"/>
                </a:solidFill>
                <a:latin typeface="Consolas"/>
                <a:ea typeface="Consolas"/>
                <a:cs typeface="Consolas"/>
              </a:defRPr>
            </a:pPr>
            <a:r>
              <a:rPr sz="2325" b="0">
                <a:solidFill>
                  <a:srgbClr val="142B43"/>
                </a:solidFill>
                <a:latin typeface="Consolas"/>
                <a:ea typeface="Consolas"/>
                <a:cs typeface="Consolas"/>
              </a:rPr>
              <a:t>print("A\nB");</a:t>
            </a:r>
          </a:p>
          <a:p xmlns:a="http://schemas.openxmlformats.org/drawingml/2006/main">
            <a:pPr>
              <a:defRPr sz="2325" b="0">
                <a:solidFill>
                  <a:srgbClr val="142B43"/>
                </a:solidFill>
                <a:latin typeface="Consolas"/>
                <a:ea typeface="Consolas"/>
                <a:cs typeface="Consolas"/>
              </a:defRPr>
            </a:pPr>
            <a:r>
              <a:rPr sz="2325" b="0">
                <a:solidFill>
                  <a:srgbClr val="142B43"/>
                </a:solidFill>
                <a:latin typeface="Consolas"/>
                <a:ea typeface="Consolas"/>
                <a:cs typeface="Consolas"/>
              </a:rPr>
              <a:t>print("She said: \"Hi\"");</a:t>
            </a:r>
          </a:p>
          <a:p xmlns:a="http://schemas.openxmlformats.org/drawingml/2006/main">
            <a:pPr>
              <a:defRPr sz="2325" b="0">
                <a:solidFill>
                  <a:srgbClr val="142B43"/>
                </a:solidFill>
                <a:latin typeface="Consolas"/>
                <a:ea typeface="Consolas"/>
                <a:cs typeface="Consolas"/>
              </a:defRPr>
            </a:pPr>
            <a:r>
              <a:rPr sz="2325" b="0">
                <a:solidFill>
                  <a:srgbClr val="142B43"/>
                </a:solidFill>
                <a:latin typeface="Consolas"/>
                <a:ea typeface="Consolas"/>
                <a:cs typeface="Consolas"/>
              </a:rPr>
              <a:t>print("Path: C:\\project");</a:t>
            </a:r>
          </a:p>
        </p:txBody>
      </p:sp>
      <p:sp>
        <p:nvSpPr>
          <p:cNvPr id="6" name="Accepted escapes:  \n  \t  \r  \\  ">
            <a:extLst xmlns:a="http://schemas.openxmlformats.org/drawingml/2006/main">
              <a:ext uri="{FF2B5EF4-FFF2-40B4-BE49-F238E27FC236}">
                <a16:creationId xmlns:a16="http://schemas.microsoft.com/office/drawing/2014/main" id="{BBB669A7-2131-4F18-A961-49775863C587}"/>
              </a:ext>
            </a:extLst>
          </p:cNvPr>
          <p:cNvSpPr>
            <a:spLocks xmlns:a="http://schemas.openxmlformats.org/drawingml/2006/main" noGrp="1"/>
          </p:cNvSpPr>
          <p:nvPr/>
        </p:nvSpPr>
        <p:spPr>
          <a:xfrm xmlns:a="http://schemas.openxmlformats.org/drawingml/2006/main">
            <a:off x="685800" y="43053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42B43"/>
                </a:solidFill>
                <a:latin typeface="Consolas"/>
                <a:ea typeface="Consolas"/>
                <a:cs typeface="Consolas"/>
              </a:defRPr>
            </a:defPPr>
            <a:lvl1pPr>
              <a:defRPr sz="2325" b="0">
                <a:solidFill>
                  <a:srgbClr val="142B43"/>
                </a:solidFill>
                <a:latin typeface="Consolas"/>
                <a:ea typeface="Consolas"/>
                <a:cs typeface="Consolas"/>
              </a:defRPr>
            </a:lvl1pPr>
            <a:lvl2pPr>
              <a:defRPr sz="2325" b="0">
                <a:solidFill>
                  <a:srgbClr val="142B43"/>
                </a:solidFill>
                <a:latin typeface="Consolas"/>
                <a:ea typeface="Consolas"/>
                <a:cs typeface="Consolas"/>
              </a:defRPr>
            </a:lvl2pPr>
            <a:lvl3pPr>
              <a:defRPr sz="2325" b="0">
                <a:solidFill>
                  <a:srgbClr val="142B43"/>
                </a:solidFill>
                <a:latin typeface="Consolas"/>
                <a:ea typeface="Consolas"/>
                <a:cs typeface="Consolas"/>
              </a:defRPr>
            </a:lvl3pPr>
            <a:lvl4pPr>
              <a:defRPr sz="2325" b="0">
                <a:solidFill>
                  <a:srgbClr val="142B43"/>
                </a:solidFill>
                <a:latin typeface="Consolas"/>
                <a:ea typeface="Consolas"/>
                <a:cs typeface="Consolas"/>
              </a:defRPr>
            </a:lvl4pPr>
            <a:lvl5pPr>
              <a:defRPr sz="2325" b="0">
                <a:solidFill>
                  <a:srgbClr val="142B43"/>
                </a:solidFill>
                <a:latin typeface="Consolas"/>
                <a:ea typeface="Consolas"/>
                <a:cs typeface="Consolas"/>
              </a:defRPr>
            </a:lvl5pPr>
            <a:lvl6pPr>
              <a:defRPr sz="2325" b="0">
                <a:solidFill>
                  <a:srgbClr val="142B43"/>
                </a:solidFill>
                <a:latin typeface="Consolas"/>
                <a:ea typeface="Consolas"/>
                <a:cs typeface="Consolas"/>
              </a:defRPr>
            </a:lvl6pPr>
            <a:lvl7pPr>
              <a:defRPr sz="2325" b="0">
                <a:solidFill>
                  <a:srgbClr val="142B43"/>
                </a:solidFill>
                <a:latin typeface="Consolas"/>
                <a:ea typeface="Consolas"/>
                <a:cs typeface="Consolas"/>
              </a:defRPr>
            </a:lvl7pPr>
            <a:lvl8pPr>
              <a:defRPr sz="2325" b="0">
                <a:solidFill>
                  <a:srgbClr val="142B43"/>
                </a:solidFill>
                <a:latin typeface="Consolas"/>
                <a:ea typeface="Consolas"/>
                <a:cs typeface="Consolas"/>
              </a:defRPr>
            </a:lvl8pPr>
            <a:lvl9pPr>
              <a:defRPr sz="2325" b="0">
                <a:solidFill>
                  <a:srgbClr val="142B43"/>
                </a:solidFill>
                <a:latin typeface="Consolas"/>
                <a:ea typeface="Consolas"/>
                <a:cs typeface="Consolas"/>
              </a:defRPr>
            </a:lvl9pPr>
          </a:lstStyle>
          <a:p xmlns:a="http://schemas.openxmlformats.org/drawingml/2006/main">
            <a:pPr>
              <a:defRPr sz="2325" b="0">
                <a:solidFill>
                  <a:srgbClr val="142B43"/>
                </a:solidFill>
                <a:latin typeface="Consolas"/>
                <a:ea typeface="Consolas"/>
                <a:cs typeface="Consolas"/>
              </a:defRPr>
            </a:pPr>
            <a:r>
              <a:rPr sz="2325" b="0">
                <a:solidFill>
                  <a:srgbClr val="142B43"/>
                </a:solidFill>
                <a:latin typeface="Consolas"/>
                <a:ea typeface="Consolas"/>
                <a:cs typeface="Consolas"/>
              </a:rPr>
              <a:t>Accepted escapes:  \n  \t  \r  \\  \"</a:t>
            </a:r>
          </a:p>
        </p:txBody>
      </p:sp>
      <p:sp>
        <p:nvSpPr>
          <p:cNvPr id="7" name="Empty strings are valid. Escape dec">
            <a:extLst xmlns:a="http://schemas.openxmlformats.org/drawingml/2006/main">
              <a:ext uri="{FF2B5EF4-FFF2-40B4-BE49-F238E27FC236}">
                <a16:creationId xmlns:a16="http://schemas.microsoft.com/office/drawing/2014/main" id="{B8FDD25F-6998-4889-BFC7-952BE78806BF}"/>
              </a:ext>
            </a:extLst>
          </p:cNvPr>
          <p:cNvSpPr>
            <a:spLocks xmlns:a="http://schemas.openxmlformats.org/drawingml/2006/main" noGrp="1"/>
          </p:cNvSpPr>
          <p:nvPr/>
        </p:nvSpPr>
        <p:spPr>
          <a:xfrm xmlns:a="http://schemas.openxmlformats.org/drawingml/2006/main">
            <a:off x="685800" y="523875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52667B"/>
                </a:solidFill>
                <a:latin typeface="Arial"/>
                <a:ea typeface="Arial"/>
                <a:cs typeface="Arial"/>
              </a:defRPr>
            </a:defPPr>
            <a:lvl1pPr>
              <a:defRPr sz="2100" b="0">
                <a:solidFill>
                  <a:srgbClr val="52667B"/>
                </a:solidFill>
                <a:latin typeface="Arial"/>
                <a:ea typeface="Arial"/>
                <a:cs typeface="Arial"/>
              </a:defRPr>
            </a:lvl1pPr>
            <a:lvl2pPr>
              <a:defRPr sz="2100" b="0">
                <a:solidFill>
                  <a:srgbClr val="52667B"/>
                </a:solidFill>
                <a:latin typeface="Arial"/>
                <a:ea typeface="Arial"/>
                <a:cs typeface="Arial"/>
              </a:defRPr>
            </a:lvl2pPr>
            <a:lvl3pPr>
              <a:defRPr sz="2100" b="0">
                <a:solidFill>
                  <a:srgbClr val="52667B"/>
                </a:solidFill>
                <a:latin typeface="Arial"/>
                <a:ea typeface="Arial"/>
                <a:cs typeface="Arial"/>
              </a:defRPr>
            </a:lvl3pPr>
            <a:lvl4pPr>
              <a:defRPr sz="2100" b="0">
                <a:solidFill>
                  <a:srgbClr val="52667B"/>
                </a:solidFill>
                <a:latin typeface="Arial"/>
                <a:ea typeface="Arial"/>
                <a:cs typeface="Arial"/>
              </a:defRPr>
            </a:lvl4pPr>
            <a:lvl5pPr>
              <a:defRPr sz="2100" b="0">
                <a:solidFill>
                  <a:srgbClr val="52667B"/>
                </a:solidFill>
                <a:latin typeface="Arial"/>
                <a:ea typeface="Arial"/>
                <a:cs typeface="Arial"/>
              </a:defRPr>
            </a:lvl5pPr>
            <a:lvl6pPr>
              <a:defRPr sz="2100" b="0">
                <a:solidFill>
                  <a:srgbClr val="52667B"/>
                </a:solidFill>
                <a:latin typeface="Arial"/>
                <a:ea typeface="Arial"/>
                <a:cs typeface="Arial"/>
              </a:defRPr>
            </a:lvl6pPr>
            <a:lvl7pPr>
              <a:defRPr sz="2100" b="0">
                <a:solidFill>
                  <a:srgbClr val="52667B"/>
                </a:solidFill>
                <a:latin typeface="Arial"/>
                <a:ea typeface="Arial"/>
                <a:cs typeface="Arial"/>
              </a:defRPr>
            </a:lvl7pPr>
            <a:lvl8pPr>
              <a:defRPr sz="2100" b="0">
                <a:solidFill>
                  <a:srgbClr val="52667B"/>
                </a:solidFill>
                <a:latin typeface="Arial"/>
                <a:ea typeface="Arial"/>
                <a:cs typeface="Arial"/>
              </a:defRPr>
            </a:lvl8pPr>
            <a:lvl9pPr>
              <a:defRPr sz="2100" b="0">
                <a:solidFill>
                  <a:srgbClr val="52667B"/>
                </a:solidFill>
                <a:latin typeface="Arial"/>
                <a:ea typeface="Arial"/>
                <a:cs typeface="Arial"/>
              </a:defRPr>
            </a:lvl9pPr>
          </a:lstStyle>
          <a:p xmlns:a="http://schemas.openxmlformats.org/drawingml/2006/main">
            <a:pPr>
              <a:defRPr sz="2100" b="0">
                <a:solidFill>
                  <a:srgbClr val="52667B"/>
                </a:solidFill>
                <a:latin typeface="Arial"/>
                <a:ea typeface="Arial"/>
                <a:cs typeface="Arial"/>
              </a:defRPr>
            </a:pPr>
            <a:r>
              <a:rPr sz="2100" b="0">
                <a:solidFill>
                  <a:srgbClr val="52667B"/>
                </a:solidFill>
                <a:latin typeface="Arial"/>
                <a:ea typeface="Arial"/>
                <a:cs typeface="Arial"/>
              </a:rPr>
              <a:t>Empty strings are valid. Escape decoding happens once.</a:t>
            </a:r>
          </a:p>
        </p:txBody>
      </p:sp>
    </p:spTree>
    <p:extLst>
      <p:ext uri="{BB962C8B-B14F-4D97-AF65-F5344CB8AC3E}">
        <p14:creationId xmlns:p14="http://schemas.microsoft.com/office/powerpoint/2010/main" val="120434226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MPILER DESIGN">
            <a:extLst xmlns:a="http://schemas.openxmlformats.org/drawingml/2006/main">
              <a:ext uri="{FF2B5EF4-FFF2-40B4-BE49-F238E27FC236}">
                <a16:creationId xmlns:a16="http://schemas.microsoft.com/office/drawing/2014/main" id="{5156FF2D-DEFE-463F-93CA-192EDBFB006E}"/>
              </a:ext>
            </a:extLst>
          </p:cNvPr>
          <p:cNvSpPr>
            <a:spLocks xmlns:a="http://schemas.openxmlformats.org/drawingml/2006/main" noGrp="1"/>
          </p:cNvSpPr>
          <p:nvPr/>
        </p:nvSpPr>
        <p:spPr>
          <a:xfrm xmlns:a="http://schemas.openxmlformats.org/drawingml/2006/main">
            <a:off x="685800" y="2857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DF6948"/>
                </a:solidFill>
                <a:latin typeface="Arial"/>
                <a:ea typeface="Arial"/>
                <a:cs typeface="Arial"/>
              </a:defRPr>
            </a:defPPr>
            <a:lvl1pPr>
              <a:defRPr sz="1125" b="1">
                <a:solidFill>
                  <a:srgbClr val="DF6948"/>
                </a:solidFill>
                <a:latin typeface="Arial"/>
                <a:ea typeface="Arial"/>
                <a:cs typeface="Arial"/>
              </a:defRPr>
            </a:lvl1pPr>
            <a:lvl2pPr>
              <a:defRPr sz="1125" b="1">
                <a:solidFill>
                  <a:srgbClr val="DF6948"/>
                </a:solidFill>
                <a:latin typeface="Arial"/>
                <a:ea typeface="Arial"/>
                <a:cs typeface="Arial"/>
              </a:defRPr>
            </a:lvl2pPr>
            <a:lvl3pPr>
              <a:defRPr sz="1125" b="1">
                <a:solidFill>
                  <a:srgbClr val="DF6948"/>
                </a:solidFill>
                <a:latin typeface="Arial"/>
                <a:ea typeface="Arial"/>
                <a:cs typeface="Arial"/>
              </a:defRPr>
            </a:lvl3pPr>
            <a:lvl4pPr>
              <a:defRPr sz="1125" b="1">
                <a:solidFill>
                  <a:srgbClr val="DF6948"/>
                </a:solidFill>
                <a:latin typeface="Arial"/>
                <a:ea typeface="Arial"/>
                <a:cs typeface="Arial"/>
              </a:defRPr>
            </a:lvl4pPr>
            <a:lvl5pPr>
              <a:defRPr sz="1125" b="1">
                <a:solidFill>
                  <a:srgbClr val="DF6948"/>
                </a:solidFill>
                <a:latin typeface="Arial"/>
                <a:ea typeface="Arial"/>
                <a:cs typeface="Arial"/>
              </a:defRPr>
            </a:lvl5pPr>
            <a:lvl6pPr>
              <a:defRPr sz="1125" b="1">
                <a:solidFill>
                  <a:srgbClr val="DF6948"/>
                </a:solidFill>
                <a:latin typeface="Arial"/>
                <a:ea typeface="Arial"/>
                <a:cs typeface="Arial"/>
              </a:defRPr>
            </a:lvl6pPr>
            <a:lvl7pPr>
              <a:defRPr sz="1125" b="1">
                <a:solidFill>
                  <a:srgbClr val="DF6948"/>
                </a:solidFill>
                <a:latin typeface="Arial"/>
                <a:ea typeface="Arial"/>
                <a:cs typeface="Arial"/>
              </a:defRPr>
            </a:lvl7pPr>
            <a:lvl8pPr>
              <a:defRPr sz="1125" b="1">
                <a:solidFill>
                  <a:srgbClr val="DF6948"/>
                </a:solidFill>
                <a:latin typeface="Arial"/>
                <a:ea typeface="Arial"/>
                <a:cs typeface="Arial"/>
              </a:defRPr>
            </a:lvl8pPr>
            <a:lvl9pPr>
              <a:defRPr sz="1125" b="1">
                <a:solidFill>
                  <a:srgbClr val="DF6948"/>
                </a:solidFill>
                <a:latin typeface="Arial"/>
                <a:ea typeface="Arial"/>
                <a:cs typeface="Arial"/>
              </a:defRPr>
            </a:lvl9pPr>
          </a:lstStyle>
          <a:p xmlns:a="http://schemas.openxmlformats.org/drawingml/2006/main">
            <a:pPr>
              <a:defRPr sz="1125" b="1">
                <a:solidFill>
                  <a:srgbClr val="DF6948"/>
                </a:solidFill>
                <a:latin typeface="Arial"/>
                <a:ea typeface="Arial"/>
                <a:cs typeface="Arial"/>
              </a:defRPr>
            </a:pPr>
            <a:r>
              <a:rPr sz="1125" b="1">
                <a:solidFill>
                  <a:srgbClr val="DF6948"/>
                </a:solidFill>
                <a:latin typeface="Arial"/>
                <a:ea typeface="Arial"/>
                <a:cs typeface="Arial"/>
              </a:rPr>
              <a:t>COMPILER DESIGN</a:t>
            </a:r>
          </a:p>
        </p:txBody>
      </p:sp>
      <p:sp>
        <p:nvSpPr>
          <p:cNvPr id="2" name="Slide title">
            <a:extLst xmlns:a="http://schemas.openxmlformats.org/drawingml/2006/main">
              <a:ext uri="{FF2B5EF4-FFF2-40B4-BE49-F238E27FC236}">
                <a16:creationId xmlns:a16="http://schemas.microsoft.com/office/drawing/2014/main" id="{BCD56D61-0D09-46E8-8178-52A01052639E}"/>
              </a:ext>
            </a:extLst>
          </p:cNvPr>
          <p:cNvSpPr>
            <a:spLocks xmlns:a="http://schemas.openxmlformats.org/drawingml/2006/main" noGrp="1"/>
          </p:cNvSpPr>
          <p:nvPr/>
        </p:nvSpPr>
        <p:spPr>
          <a:xfrm xmlns:a="http://schemas.openxmlformats.org/drawingml/2006/main">
            <a:off x="685800" y="7620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42B43"/>
                </a:solidFill>
                <a:latin typeface="Arial"/>
                <a:ea typeface="Arial"/>
                <a:cs typeface="Arial"/>
              </a:defRPr>
            </a:defPPr>
            <a:lvl1pPr>
              <a:defRPr sz="3450" b="1">
                <a:solidFill>
                  <a:srgbClr val="142B43"/>
                </a:solidFill>
                <a:latin typeface="Arial"/>
                <a:ea typeface="Arial"/>
                <a:cs typeface="Arial"/>
              </a:defRPr>
            </a:lvl1pPr>
            <a:lvl2pPr>
              <a:defRPr sz="3450" b="1">
                <a:solidFill>
                  <a:srgbClr val="142B43"/>
                </a:solidFill>
                <a:latin typeface="Arial"/>
                <a:ea typeface="Arial"/>
                <a:cs typeface="Arial"/>
              </a:defRPr>
            </a:lvl2pPr>
            <a:lvl3pPr>
              <a:defRPr sz="3450" b="1">
                <a:solidFill>
                  <a:srgbClr val="142B43"/>
                </a:solidFill>
                <a:latin typeface="Arial"/>
                <a:ea typeface="Arial"/>
                <a:cs typeface="Arial"/>
              </a:defRPr>
            </a:lvl3pPr>
            <a:lvl4pPr>
              <a:defRPr sz="3450" b="1">
                <a:solidFill>
                  <a:srgbClr val="142B43"/>
                </a:solidFill>
                <a:latin typeface="Arial"/>
                <a:ea typeface="Arial"/>
                <a:cs typeface="Arial"/>
              </a:defRPr>
            </a:lvl4pPr>
            <a:lvl5pPr>
              <a:defRPr sz="3450" b="1">
                <a:solidFill>
                  <a:srgbClr val="142B43"/>
                </a:solidFill>
                <a:latin typeface="Arial"/>
                <a:ea typeface="Arial"/>
                <a:cs typeface="Arial"/>
              </a:defRPr>
            </a:lvl5pPr>
            <a:lvl6pPr>
              <a:defRPr sz="3450" b="1">
                <a:solidFill>
                  <a:srgbClr val="142B43"/>
                </a:solidFill>
                <a:latin typeface="Arial"/>
                <a:ea typeface="Arial"/>
                <a:cs typeface="Arial"/>
              </a:defRPr>
            </a:lvl6pPr>
            <a:lvl7pPr>
              <a:defRPr sz="3450" b="1">
                <a:solidFill>
                  <a:srgbClr val="142B43"/>
                </a:solidFill>
                <a:latin typeface="Arial"/>
                <a:ea typeface="Arial"/>
                <a:cs typeface="Arial"/>
              </a:defRPr>
            </a:lvl7pPr>
            <a:lvl8pPr>
              <a:defRPr sz="3450" b="1">
                <a:solidFill>
                  <a:srgbClr val="142B43"/>
                </a:solidFill>
                <a:latin typeface="Arial"/>
                <a:ea typeface="Arial"/>
                <a:cs typeface="Arial"/>
              </a:defRPr>
            </a:lvl8pPr>
            <a:lvl9pPr>
              <a:defRPr sz="3450" b="1">
                <a:solidFill>
                  <a:srgbClr val="142B43"/>
                </a:solidFill>
                <a:latin typeface="Arial"/>
                <a:ea typeface="Arial"/>
                <a:cs typeface="Arial"/>
              </a:defRPr>
            </a:lvl9pPr>
          </a:lstStyle>
          <a:p xmlns:a="http://schemas.openxmlformats.org/drawingml/2006/main">
            <a:pPr>
              <a:defRPr sz="3450" b="1">
                <a:solidFill>
                  <a:srgbClr val="142B43"/>
                </a:solidFill>
                <a:latin typeface="Arial"/>
                <a:ea typeface="Arial"/>
                <a:cs typeface="Arial"/>
              </a:defRPr>
            </a:pPr>
            <a:r>
              <a:rPr sz="3450" b="1">
                <a:solidFill>
                  <a:srgbClr val="142B43"/>
                </a:solidFill>
                <a:latin typeface="Arial"/>
                <a:ea typeface="Arial"/>
                <a:cs typeface="Arial"/>
              </a:rPr>
              <a:t>Interactive demonstration</a:t>
            </a:r>
          </a:p>
        </p:txBody>
      </p:sp>
      <p:sp>
        <p:nvSpPr>
          <p:cNvPr id="3" name="StringLab Browser Compiler Front En">
            <a:extLst xmlns:a="http://schemas.openxmlformats.org/drawingml/2006/main">
              <a:ext uri="{FF2B5EF4-FFF2-40B4-BE49-F238E27FC236}">
                <a16:creationId xmlns:a16="http://schemas.microsoft.com/office/drawing/2014/main" id="{9661BA65-0BA4-46FD-AE08-90DA20C45E69}"/>
              </a:ext>
            </a:extLst>
          </p:cNvPr>
          <p:cNvSpPr>
            <a:spLocks xmlns:a="http://schemas.openxmlformats.org/drawingml/2006/main" noGrp="1"/>
          </p:cNvSpPr>
          <p:nvPr/>
        </p:nvSpPr>
        <p:spPr>
          <a:xfrm xmlns:a="http://schemas.openxmlformats.org/drawingml/2006/main">
            <a:off x="685800" y="64008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StringLab Browser Compiler Front End</a:t>
            </a:r>
          </a:p>
        </p:txBody>
      </p:sp>
      <p:sp>
        <p:nvSpPr>
          <p:cNvPr id="4" name="09">
            <a:extLst xmlns:a="http://schemas.openxmlformats.org/drawingml/2006/main">
              <a:ext uri="{FF2B5EF4-FFF2-40B4-BE49-F238E27FC236}">
                <a16:creationId xmlns:a16="http://schemas.microsoft.com/office/drawing/2014/main" id="{CA7E568F-005F-45D8-AF5D-F90116969318}"/>
              </a:ext>
            </a:extLst>
          </p:cNvPr>
          <p:cNvSpPr>
            <a:spLocks xmlns:a="http://schemas.openxmlformats.org/drawingml/2006/main" noGrp="1"/>
          </p:cNvSpPr>
          <p:nvPr/>
        </p:nvSpPr>
        <p:spPr>
          <a:xfrm xmlns:a="http://schemas.openxmlformats.org/drawingml/2006/main">
            <a:off x="11001375" y="6400800"/>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09</a:t>
            </a:r>
          </a:p>
        </p:txBody>
      </p:sp>
      <p:pic>
        <p:nvPicPr>
          <p:cNvPr id="5" name="">
            <a:extLst xmlns:a="http://schemas.openxmlformats.org/drawingml/2006/main">
              <a:ext uri="{FF2B5EF4-FFF2-40B4-BE49-F238E27FC236}">
                <a16:creationId xmlns:a16="http://schemas.microsoft.com/office/drawing/2014/main" id="{9C058B55-2C5E-468C-A820-F79184531B39}"/>
              </a:ext>
            </a:extLst>
          </p:cNvPr>
          <p:cNvPicPr>
            <a:picLocks xmlns:a="http://schemas.openxmlformats.org/drawingml/2006/main" noChangeAspect="1"/>
          </p:cNvPicPr>
          <p:nvPr/>
        </p:nvPicPr>
        <p:blipFill>
          <a:blip xmlns:r="http://schemas.openxmlformats.org/officeDocument/2006/relationships" xmlns:a="http://schemas.openxmlformats.org/drawingml/2006/main" r:embed="R27f940736b214fa7"/>
          <a:stretch xmlns:a="http://schemas.openxmlformats.org/drawingml/2006/main"/>
        </p:blipFill>
        <p:spPr>
          <a:xfrm xmlns:a="http://schemas.openxmlformats.org/drawingml/2006/main">
            <a:off x="2003757" y="1743075"/>
            <a:ext cx="8184486" cy="4210050"/>
          </a:xfrm>
          <a:prstGeom xmlns:a="http://schemas.openxmlformats.org/drawingml/2006/main" prst="rect">
            <a:avLst/>
          </a:prstGeom>
        </p:spPr>
      </p:pic>
    </p:spTree>
    <p:extLst>
      <p:ext uri="{BB962C8B-B14F-4D97-AF65-F5344CB8AC3E}">
        <p14:creationId xmlns:p14="http://schemas.microsoft.com/office/powerpoint/2010/main" val="66377425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MPILER DESIGN">
            <a:extLst xmlns:a="http://schemas.openxmlformats.org/drawingml/2006/main">
              <a:ext uri="{FF2B5EF4-FFF2-40B4-BE49-F238E27FC236}">
                <a16:creationId xmlns:a16="http://schemas.microsoft.com/office/drawing/2014/main" id="{13942756-4767-4899-A853-54042CCF15F4}"/>
              </a:ext>
            </a:extLst>
          </p:cNvPr>
          <p:cNvSpPr>
            <a:spLocks xmlns:a="http://schemas.openxmlformats.org/drawingml/2006/main" noGrp="1"/>
          </p:cNvSpPr>
          <p:nvPr/>
        </p:nvSpPr>
        <p:spPr>
          <a:xfrm xmlns:a="http://schemas.openxmlformats.org/drawingml/2006/main">
            <a:off x="685800" y="2857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DF6948"/>
                </a:solidFill>
                <a:latin typeface="Arial"/>
                <a:ea typeface="Arial"/>
                <a:cs typeface="Arial"/>
              </a:defRPr>
            </a:defPPr>
            <a:lvl1pPr>
              <a:defRPr sz="1125" b="1">
                <a:solidFill>
                  <a:srgbClr val="DF6948"/>
                </a:solidFill>
                <a:latin typeface="Arial"/>
                <a:ea typeface="Arial"/>
                <a:cs typeface="Arial"/>
              </a:defRPr>
            </a:lvl1pPr>
            <a:lvl2pPr>
              <a:defRPr sz="1125" b="1">
                <a:solidFill>
                  <a:srgbClr val="DF6948"/>
                </a:solidFill>
                <a:latin typeface="Arial"/>
                <a:ea typeface="Arial"/>
                <a:cs typeface="Arial"/>
              </a:defRPr>
            </a:lvl2pPr>
            <a:lvl3pPr>
              <a:defRPr sz="1125" b="1">
                <a:solidFill>
                  <a:srgbClr val="DF6948"/>
                </a:solidFill>
                <a:latin typeface="Arial"/>
                <a:ea typeface="Arial"/>
                <a:cs typeface="Arial"/>
              </a:defRPr>
            </a:lvl3pPr>
            <a:lvl4pPr>
              <a:defRPr sz="1125" b="1">
                <a:solidFill>
                  <a:srgbClr val="DF6948"/>
                </a:solidFill>
                <a:latin typeface="Arial"/>
                <a:ea typeface="Arial"/>
                <a:cs typeface="Arial"/>
              </a:defRPr>
            </a:lvl4pPr>
            <a:lvl5pPr>
              <a:defRPr sz="1125" b="1">
                <a:solidFill>
                  <a:srgbClr val="DF6948"/>
                </a:solidFill>
                <a:latin typeface="Arial"/>
                <a:ea typeface="Arial"/>
                <a:cs typeface="Arial"/>
              </a:defRPr>
            </a:lvl5pPr>
            <a:lvl6pPr>
              <a:defRPr sz="1125" b="1">
                <a:solidFill>
                  <a:srgbClr val="DF6948"/>
                </a:solidFill>
                <a:latin typeface="Arial"/>
                <a:ea typeface="Arial"/>
                <a:cs typeface="Arial"/>
              </a:defRPr>
            </a:lvl6pPr>
            <a:lvl7pPr>
              <a:defRPr sz="1125" b="1">
                <a:solidFill>
                  <a:srgbClr val="DF6948"/>
                </a:solidFill>
                <a:latin typeface="Arial"/>
                <a:ea typeface="Arial"/>
                <a:cs typeface="Arial"/>
              </a:defRPr>
            </a:lvl7pPr>
            <a:lvl8pPr>
              <a:defRPr sz="1125" b="1">
                <a:solidFill>
                  <a:srgbClr val="DF6948"/>
                </a:solidFill>
                <a:latin typeface="Arial"/>
                <a:ea typeface="Arial"/>
                <a:cs typeface="Arial"/>
              </a:defRPr>
            </a:lvl8pPr>
            <a:lvl9pPr>
              <a:defRPr sz="1125" b="1">
                <a:solidFill>
                  <a:srgbClr val="DF6948"/>
                </a:solidFill>
                <a:latin typeface="Arial"/>
                <a:ea typeface="Arial"/>
                <a:cs typeface="Arial"/>
              </a:defRPr>
            </a:lvl9pPr>
          </a:lstStyle>
          <a:p xmlns:a="http://schemas.openxmlformats.org/drawingml/2006/main">
            <a:pPr>
              <a:defRPr sz="1125" b="1">
                <a:solidFill>
                  <a:srgbClr val="DF6948"/>
                </a:solidFill>
                <a:latin typeface="Arial"/>
                <a:ea typeface="Arial"/>
                <a:cs typeface="Arial"/>
              </a:defRPr>
            </a:pPr>
            <a:r>
              <a:rPr sz="1125" b="1">
                <a:solidFill>
                  <a:srgbClr val="DF6948"/>
                </a:solidFill>
                <a:latin typeface="Arial"/>
                <a:ea typeface="Arial"/>
                <a:cs typeface="Arial"/>
              </a:rPr>
              <a:t>COMPILER DESIGN</a:t>
            </a:r>
          </a:p>
        </p:txBody>
      </p:sp>
      <p:sp>
        <p:nvSpPr>
          <p:cNvPr id="2" name="Slide title">
            <a:extLst xmlns:a="http://schemas.openxmlformats.org/drawingml/2006/main">
              <a:ext uri="{FF2B5EF4-FFF2-40B4-BE49-F238E27FC236}">
                <a16:creationId xmlns:a16="http://schemas.microsoft.com/office/drawing/2014/main" id="{03474EB4-C672-4F04-9252-D6A9EFC2D433}"/>
              </a:ext>
            </a:extLst>
          </p:cNvPr>
          <p:cNvSpPr>
            <a:spLocks xmlns:a="http://schemas.openxmlformats.org/drawingml/2006/main" noGrp="1"/>
          </p:cNvSpPr>
          <p:nvPr/>
        </p:nvSpPr>
        <p:spPr>
          <a:xfrm xmlns:a="http://schemas.openxmlformats.org/drawingml/2006/main">
            <a:off x="685800" y="7620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42B43"/>
                </a:solidFill>
                <a:latin typeface="Arial"/>
                <a:ea typeface="Arial"/>
                <a:cs typeface="Arial"/>
              </a:defRPr>
            </a:defPPr>
            <a:lvl1pPr>
              <a:defRPr sz="3450" b="1">
                <a:solidFill>
                  <a:srgbClr val="142B43"/>
                </a:solidFill>
                <a:latin typeface="Arial"/>
                <a:ea typeface="Arial"/>
                <a:cs typeface="Arial"/>
              </a:defRPr>
            </a:lvl1pPr>
            <a:lvl2pPr>
              <a:defRPr sz="3450" b="1">
                <a:solidFill>
                  <a:srgbClr val="142B43"/>
                </a:solidFill>
                <a:latin typeface="Arial"/>
                <a:ea typeface="Arial"/>
                <a:cs typeface="Arial"/>
              </a:defRPr>
            </a:lvl2pPr>
            <a:lvl3pPr>
              <a:defRPr sz="3450" b="1">
                <a:solidFill>
                  <a:srgbClr val="142B43"/>
                </a:solidFill>
                <a:latin typeface="Arial"/>
                <a:ea typeface="Arial"/>
                <a:cs typeface="Arial"/>
              </a:defRPr>
            </a:lvl3pPr>
            <a:lvl4pPr>
              <a:defRPr sz="3450" b="1">
                <a:solidFill>
                  <a:srgbClr val="142B43"/>
                </a:solidFill>
                <a:latin typeface="Arial"/>
                <a:ea typeface="Arial"/>
                <a:cs typeface="Arial"/>
              </a:defRPr>
            </a:lvl4pPr>
            <a:lvl5pPr>
              <a:defRPr sz="3450" b="1">
                <a:solidFill>
                  <a:srgbClr val="142B43"/>
                </a:solidFill>
                <a:latin typeface="Arial"/>
                <a:ea typeface="Arial"/>
                <a:cs typeface="Arial"/>
              </a:defRPr>
            </a:lvl5pPr>
            <a:lvl6pPr>
              <a:defRPr sz="3450" b="1">
                <a:solidFill>
                  <a:srgbClr val="142B43"/>
                </a:solidFill>
                <a:latin typeface="Arial"/>
                <a:ea typeface="Arial"/>
                <a:cs typeface="Arial"/>
              </a:defRPr>
            </a:lvl6pPr>
            <a:lvl7pPr>
              <a:defRPr sz="3450" b="1">
                <a:solidFill>
                  <a:srgbClr val="142B43"/>
                </a:solidFill>
                <a:latin typeface="Arial"/>
                <a:ea typeface="Arial"/>
                <a:cs typeface="Arial"/>
              </a:defRPr>
            </a:lvl7pPr>
            <a:lvl8pPr>
              <a:defRPr sz="3450" b="1">
                <a:solidFill>
                  <a:srgbClr val="142B43"/>
                </a:solidFill>
                <a:latin typeface="Arial"/>
                <a:ea typeface="Arial"/>
                <a:cs typeface="Arial"/>
              </a:defRPr>
            </a:lvl8pPr>
            <a:lvl9pPr>
              <a:defRPr sz="3450" b="1">
                <a:solidFill>
                  <a:srgbClr val="142B43"/>
                </a:solidFill>
                <a:latin typeface="Arial"/>
                <a:ea typeface="Arial"/>
                <a:cs typeface="Arial"/>
              </a:defRPr>
            </a:lvl9pPr>
          </a:lstStyle>
          <a:p xmlns:a="http://schemas.openxmlformats.org/drawingml/2006/main">
            <a:pPr>
              <a:defRPr sz="3450" b="1">
                <a:solidFill>
                  <a:srgbClr val="142B43"/>
                </a:solidFill>
                <a:latin typeface="Arial"/>
                <a:ea typeface="Arial"/>
                <a:cs typeface="Arial"/>
              </a:defRPr>
            </a:pPr>
            <a:r>
              <a:rPr sz="3450" b="1">
                <a:solidFill>
                  <a:srgbClr val="142B43"/>
                </a:solidFill>
                <a:latin typeface="Arial"/>
                <a:ea typeface="Arial"/>
                <a:cs typeface="Arial"/>
              </a:rPr>
              <a:t>Error diagnostics</a:t>
            </a:r>
          </a:p>
        </p:txBody>
      </p:sp>
      <p:sp>
        <p:nvSpPr>
          <p:cNvPr id="3" name="StringLab Browser Compiler Front En">
            <a:extLst xmlns:a="http://schemas.openxmlformats.org/drawingml/2006/main">
              <a:ext uri="{FF2B5EF4-FFF2-40B4-BE49-F238E27FC236}">
                <a16:creationId xmlns:a16="http://schemas.microsoft.com/office/drawing/2014/main" id="{E0129E40-D1A6-4E8B-AB39-B43B0A2C7F5F}"/>
              </a:ext>
            </a:extLst>
          </p:cNvPr>
          <p:cNvSpPr>
            <a:spLocks xmlns:a="http://schemas.openxmlformats.org/drawingml/2006/main" noGrp="1"/>
          </p:cNvSpPr>
          <p:nvPr/>
        </p:nvSpPr>
        <p:spPr>
          <a:xfrm xmlns:a="http://schemas.openxmlformats.org/drawingml/2006/main">
            <a:off x="685800" y="64008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StringLab Browser Compiler Front End</a:t>
            </a:r>
          </a:p>
        </p:txBody>
      </p:sp>
      <p:sp>
        <p:nvSpPr>
          <p:cNvPr id="4" name="10">
            <a:extLst xmlns:a="http://schemas.openxmlformats.org/drawingml/2006/main">
              <a:ext uri="{FF2B5EF4-FFF2-40B4-BE49-F238E27FC236}">
                <a16:creationId xmlns:a16="http://schemas.microsoft.com/office/drawing/2014/main" id="{0C9697DC-73AA-46AC-9A31-7FCA9F703813}"/>
              </a:ext>
            </a:extLst>
          </p:cNvPr>
          <p:cNvSpPr>
            <a:spLocks xmlns:a="http://schemas.openxmlformats.org/drawingml/2006/main" noGrp="1"/>
          </p:cNvSpPr>
          <p:nvPr/>
        </p:nvSpPr>
        <p:spPr>
          <a:xfrm xmlns:a="http://schemas.openxmlformats.org/drawingml/2006/main">
            <a:off x="11001375" y="6400800"/>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10</a:t>
            </a:r>
          </a:p>
        </p:txBody>
      </p:sp>
      <p:pic>
        <p:nvPicPr>
          <p:cNvPr id="5" name="">
            <a:extLst xmlns:a="http://schemas.openxmlformats.org/drawingml/2006/main">
              <a:ext uri="{FF2B5EF4-FFF2-40B4-BE49-F238E27FC236}">
                <a16:creationId xmlns:a16="http://schemas.microsoft.com/office/drawing/2014/main" id="{D8EB651B-B51F-4522-8E8F-16DD972ADABD}"/>
              </a:ext>
            </a:extLst>
          </p:cNvPr>
          <p:cNvPicPr>
            <a:picLocks xmlns:a="http://schemas.openxmlformats.org/drawingml/2006/main" noChangeAspect="1"/>
          </p:cNvPicPr>
          <p:nvPr/>
        </p:nvPicPr>
        <p:blipFill>
          <a:blip xmlns:r="http://schemas.openxmlformats.org/officeDocument/2006/relationships" xmlns:a="http://schemas.openxmlformats.org/drawingml/2006/main" r:embed="Ra18797d17191478c"/>
          <a:stretch xmlns:a="http://schemas.openxmlformats.org/drawingml/2006/main"/>
        </p:blipFill>
        <p:spPr>
          <a:xfrm xmlns:a="http://schemas.openxmlformats.org/drawingml/2006/main">
            <a:off x="1295032" y="1752600"/>
            <a:ext cx="5687161" cy="4191000"/>
          </a:xfrm>
          <a:prstGeom xmlns:a="http://schemas.openxmlformats.org/drawingml/2006/main" prst="rect">
            <a:avLst/>
          </a:prstGeom>
        </p:spPr>
      </p:pic>
      <p:sp>
        <p:nvSpPr>
          <p:cNvPr id="6" name="Uninitialized read&#10;&#10;Undeclared assi">
            <a:extLst xmlns:a="http://schemas.openxmlformats.org/drawingml/2006/main">
              <a:ext uri="{FF2B5EF4-FFF2-40B4-BE49-F238E27FC236}">
                <a16:creationId xmlns:a16="http://schemas.microsoft.com/office/drawing/2014/main" id="{0A2C777D-5846-423F-809A-265122F0260D}"/>
              </a:ext>
            </a:extLst>
          </p:cNvPr>
          <p:cNvSpPr>
            <a:spLocks xmlns:a="http://schemas.openxmlformats.org/drawingml/2006/main" noGrp="1"/>
          </p:cNvSpPr>
          <p:nvPr/>
        </p:nvSpPr>
        <p:spPr>
          <a:xfrm xmlns:a="http://schemas.openxmlformats.org/drawingml/2006/main">
            <a:off x="8039100" y="2190750"/>
            <a:ext cx="347662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B43"/>
                </a:solidFill>
                <a:latin typeface="Arial"/>
                <a:ea typeface="Arial"/>
                <a:cs typeface="Arial"/>
              </a:defRPr>
            </a:defPPr>
            <a:lvl1pPr>
              <a:defRPr sz="2025" b="0">
                <a:solidFill>
                  <a:srgbClr val="142B43"/>
                </a:solidFill>
                <a:latin typeface="Arial"/>
                <a:ea typeface="Arial"/>
                <a:cs typeface="Arial"/>
              </a:defRPr>
            </a:lvl1pPr>
            <a:lvl2pPr>
              <a:defRPr sz="2025" b="0">
                <a:solidFill>
                  <a:srgbClr val="142B43"/>
                </a:solidFill>
                <a:latin typeface="Arial"/>
                <a:ea typeface="Arial"/>
                <a:cs typeface="Arial"/>
              </a:defRPr>
            </a:lvl2pPr>
            <a:lvl3pPr>
              <a:defRPr sz="2025" b="0">
                <a:solidFill>
                  <a:srgbClr val="142B43"/>
                </a:solidFill>
                <a:latin typeface="Arial"/>
                <a:ea typeface="Arial"/>
                <a:cs typeface="Arial"/>
              </a:defRPr>
            </a:lvl3pPr>
            <a:lvl4pPr>
              <a:defRPr sz="2025" b="0">
                <a:solidFill>
                  <a:srgbClr val="142B43"/>
                </a:solidFill>
                <a:latin typeface="Arial"/>
                <a:ea typeface="Arial"/>
                <a:cs typeface="Arial"/>
              </a:defRPr>
            </a:lvl4pPr>
            <a:lvl5pPr>
              <a:defRPr sz="2025" b="0">
                <a:solidFill>
                  <a:srgbClr val="142B43"/>
                </a:solidFill>
                <a:latin typeface="Arial"/>
                <a:ea typeface="Arial"/>
                <a:cs typeface="Arial"/>
              </a:defRPr>
            </a:lvl5pPr>
            <a:lvl6pPr>
              <a:defRPr sz="2025" b="0">
                <a:solidFill>
                  <a:srgbClr val="142B43"/>
                </a:solidFill>
                <a:latin typeface="Arial"/>
                <a:ea typeface="Arial"/>
                <a:cs typeface="Arial"/>
              </a:defRPr>
            </a:lvl6pPr>
            <a:lvl7pPr>
              <a:defRPr sz="2025" b="0">
                <a:solidFill>
                  <a:srgbClr val="142B43"/>
                </a:solidFill>
                <a:latin typeface="Arial"/>
                <a:ea typeface="Arial"/>
                <a:cs typeface="Arial"/>
              </a:defRPr>
            </a:lvl7pPr>
            <a:lvl8pPr>
              <a:defRPr sz="2025" b="0">
                <a:solidFill>
                  <a:srgbClr val="142B43"/>
                </a:solidFill>
                <a:latin typeface="Arial"/>
                <a:ea typeface="Arial"/>
                <a:cs typeface="Arial"/>
              </a:defRPr>
            </a:lvl8pPr>
            <a:lvl9pPr>
              <a:defRPr sz="2025" b="0">
                <a:solidFill>
                  <a:srgbClr val="142B43"/>
                </a:solidFill>
                <a:latin typeface="Arial"/>
                <a:ea typeface="Arial"/>
                <a:cs typeface="Arial"/>
              </a:defRPr>
            </a:lvl9pPr>
          </a:lstStyle>
          <a:p xmlns:a="http://schemas.openxmlformats.org/drawingml/2006/main">
            <a:pPr>
              <a:defRPr sz="2025" b="0">
                <a:solidFill>
                  <a:srgbClr val="142B43"/>
                </a:solidFill>
                <a:latin typeface="Arial"/>
                <a:ea typeface="Arial"/>
                <a:cs typeface="Arial"/>
              </a:defRPr>
            </a:pPr>
            <a:r>
              <a:rPr sz="2025" b="0">
                <a:solidFill>
                  <a:srgbClr val="142B43"/>
                </a:solidFill>
                <a:latin typeface="Arial"/>
                <a:ea typeface="Arial"/>
                <a:cs typeface="Arial"/>
              </a:rPr>
              <a:t>Uninitialized read</a:t>
            </a:r>
          </a:p>
          <a:p xmlns:a="http://schemas.openxmlformats.org/drawingml/2006/main">
            <a:r>
              <a:t/>
            </a:r>
          </a:p>
          <a:p xmlns:a="http://schemas.openxmlformats.org/drawingml/2006/main">
            <a:pPr>
              <a:defRPr sz="2025" b="0">
                <a:solidFill>
                  <a:srgbClr val="142B43"/>
                </a:solidFill>
                <a:latin typeface="Arial"/>
                <a:ea typeface="Arial"/>
                <a:cs typeface="Arial"/>
              </a:defRPr>
            </a:pPr>
            <a:r>
              <a:rPr sz="2025" b="0">
                <a:solidFill>
                  <a:srgbClr val="142B43"/>
                </a:solidFill>
                <a:latin typeface="Arial"/>
                <a:ea typeface="Arial"/>
                <a:cs typeface="Arial"/>
              </a:rPr>
              <a:t>Undeclared assignment</a:t>
            </a:r>
          </a:p>
          <a:p xmlns:a="http://schemas.openxmlformats.org/drawingml/2006/main">
            <a:r>
              <a:t/>
            </a:r>
          </a:p>
          <a:p xmlns:a="http://schemas.openxmlformats.org/drawingml/2006/main">
            <a:pPr>
              <a:defRPr sz="2025" b="0">
                <a:solidFill>
                  <a:srgbClr val="142B43"/>
                </a:solidFill>
                <a:latin typeface="Arial"/>
                <a:ea typeface="Arial"/>
                <a:cs typeface="Arial"/>
              </a:defRPr>
            </a:pPr>
            <a:r>
              <a:rPr sz="2025" b="0">
                <a:solidFill>
                  <a:srgbClr val="142B43"/>
                </a:solidFill>
                <a:latin typeface="Arial"/>
                <a:ea typeface="Arial"/>
                <a:cs typeface="Arial"/>
              </a:rPr>
              <a:t>Duplicate declaration</a:t>
            </a:r>
          </a:p>
        </p:txBody>
      </p:sp>
    </p:spTree>
    <p:extLst>
      <p:ext uri="{BB962C8B-B14F-4D97-AF65-F5344CB8AC3E}">
        <p14:creationId xmlns:p14="http://schemas.microsoft.com/office/powerpoint/2010/main" val="21062945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MPILER DESIGN">
            <a:extLst xmlns:a="http://schemas.openxmlformats.org/drawingml/2006/main">
              <a:ext uri="{FF2B5EF4-FFF2-40B4-BE49-F238E27FC236}">
                <a16:creationId xmlns:a16="http://schemas.microsoft.com/office/drawing/2014/main" id="{4F0458D9-8EB8-4AE8-9C4F-1008724407DE}"/>
              </a:ext>
            </a:extLst>
          </p:cNvPr>
          <p:cNvSpPr>
            <a:spLocks xmlns:a="http://schemas.openxmlformats.org/drawingml/2006/main" noGrp="1"/>
          </p:cNvSpPr>
          <p:nvPr/>
        </p:nvSpPr>
        <p:spPr>
          <a:xfrm xmlns:a="http://schemas.openxmlformats.org/drawingml/2006/main">
            <a:off x="685800" y="2857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DF6948"/>
                </a:solidFill>
                <a:latin typeface="Arial"/>
                <a:ea typeface="Arial"/>
                <a:cs typeface="Arial"/>
              </a:defRPr>
            </a:defPPr>
            <a:lvl1pPr>
              <a:defRPr sz="1125" b="1">
                <a:solidFill>
                  <a:srgbClr val="DF6948"/>
                </a:solidFill>
                <a:latin typeface="Arial"/>
                <a:ea typeface="Arial"/>
                <a:cs typeface="Arial"/>
              </a:defRPr>
            </a:lvl1pPr>
            <a:lvl2pPr>
              <a:defRPr sz="1125" b="1">
                <a:solidFill>
                  <a:srgbClr val="DF6948"/>
                </a:solidFill>
                <a:latin typeface="Arial"/>
                <a:ea typeface="Arial"/>
                <a:cs typeface="Arial"/>
              </a:defRPr>
            </a:lvl2pPr>
            <a:lvl3pPr>
              <a:defRPr sz="1125" b="1">
                <a:solidFill>
                  <a:srgbClr val="DF6948"/>
                </a:solidFill>
                <a:latin typeface="Arial"/>
                <a:ea typeface="Arial"/>
                <a:cs typeface="Arial"/>
              </a:defRPr>
            </a:lvl3pPr>
            <a:lvl4pPr>
              <a:defRPr sz="1125" b="1">
                <a:solidFill>
                  <a:srgbClr val="DF6948"/>
                </a:solidFill>
                <a:latin typeface="Arial"/>
                <a:ea typeface="Arial"/>
                <a:cs typeface="Arial"/>
              </a:defRPr>
            </a:lvl4pPr>
            <a:lvl5pPr>
              <a:defRPr sz="1125" b="1">
                <a:solidFill>
                  <a:srgbClr val="DF6948"/>
                </a:solidFill>
                <a:latin typeface="Arial"/>
                <a:ea typeface="Arial"/>
                <a:cs typeface="Arial"/>
              </a:defRPr>
            </a:lvl5pPr>
            <a:lvl6pPr>
              <a:defRPr sz="1125" b="1">
                <a:solidFill>
                  <a:srgbClr val="DF6948"/>
                </a:solidFill>
                <a:latin typeface="Arial"/>
                <a:ea typeface="Arial"/>
                <a:cs typeface="Arial"/>
              </a:defRPr>
            </a:lvl6pPr>
            <a:lvl7pPr>
              <a:defRPr sz="1125" b="1">
                <a:solidFill>
                  <a:srgbClr val="DF6948"/>
                </a:solidFill>
                <a:latin typeface="Arial"/>
                <a:ea typeface="Arial"/>
                <a:cs typeface="Arial"/>
              </a:defRPr>
            </a:lvl7pPr>
            <a:lvl8pPr>
              <a:defRPr sz="1125" b="1">
                <a:solidFill>
                  <a:srgbClr val="DF6948"/>
                </a:solidFill>
                <a:latin typeface="Arial"/>
                <a:ea typeface="Arial"/>
                <a:cs typeface="Arial"/>
              </a:defRPr>
            </a:lvl8pPr>
            <a:lvl9pPr>
              <a:defRPr sz="1125" b="1">
                <a:solidFill>
                  <a:srgbClr val="DF6948"/>
                </a:solidFill>
                <a:latin typeface="Arial"/>
                <a:ea typeface="Arial"/>
                <a:cs typeface="Arial"/>
              </a:defRPr>
            </a:lvl9pPr>
          </a:lstStyle>
          <a:p xmlns:a="http://schemas.openxmlformats.org/drawingml/2006/main">
            <a:pPr>
              <a:defRPr sz="1125" b="1">
                <a:solidFill>
                  <a:srgbClr val="DF6948"/>
                </a:solidFill>
                <a:latin typeface="Arial"/>
                <a:ea typeface="Arial"/>
                <a:cs typeface="Arial"/>
              </a:defRPr>
            </a:pPr>
            <a:r>
              <a:rPr sz="1125" b="1">
                <a:solidFill>
                  <a:srgbClr val="DF6948"/>
                </a:solidFill>
                <a:latin typeface="Arial"/>
                <a:ea typeface="Arial"/>
                <a:cs typeface="Arial"/>
              </a:rPr>
              <a:t>COMPILER DESIGN</a:t>
            </a:r>
          </a:p>
        </p:txBody>
      </p:sp>
      <p:sp>
        <p:nvSpPr>
          <p:cNvPr id="2" name="Slide title">
            <a:extLst xmlns:a="http://schemas.openxmlformats.org/drawingml/2006/main">
              <a:ext uri="{FF2B5EF4-FFF2-40B4-BE49-F238E27FC236}">
                <a16:creationId xmlns:a16="http://schemas.microsoft.com/office/drawing/2014/main" id="{71444CD7-0C0F-4E53-A39C-D6BFAEB8ADAF}"/>
              </a:ext>
            </a:extLst>
          </p:cNvPr>
          <p:cNvSpPr>
            <a:spLocks xmlns:a="http://schemas.openxmlformats.org/drawingml/2006/main" noGrp="1"/>
          </p:cNvSpPr>
          <p:nvPr/>
        </p:nvSpPr>
        <p:spPr>
          <a:xfrm xmlns:a="http://schemas.openxmlformats.org/drawingml/2006/main">
            <a:off x="685800" y="7620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42B43"/>
                </a:solidFill>
                <a:latin typeface="Arial"/>
                <a:ea typeface="Arial"/>
                <a:cs typeface="Arial"/>
              </a:defRPr>
            </a:defPPr>
            <a:lvl1pPr>
              <a:defRPr sz="3450" b="1">
                <a:solidFill>
                  <a:srgbClr val="142B43"/>
                </a:solidFill>
                <a:latin typeface="Arial"/>
                <a:ea typeface="Arial"/>
                <a:cs typeface="Arial"/>
              </a:defRPr>
            </a:lvl1pPr>
            <a:lvl2pPr>
              <a:defRPr sz="3450" b="1">
                <a:solidFill>
                  <a:srgbClr val="142B43"/>
                </a:solidFill>
                <a:latin typeface="Arial"/>
                <a:ea typeface="Arial"/>
                <a:cs typeface="Arial"/>
              </a:defRPr>
            </a:lvl2pPr>
            <a:lvl3pPr>
              <a:defRPr sz="3450" b="1">
                <a:solidFill>
                  <a:srgbClr val="142B43"/>
                </a:solidFill>
                <a:latin typeface="Arial"/>
                <a:ea typeface="Arial"/>
                <a:cs typeface="Arial"/>
              </a:defRPr>
            </a:lvl3pPr>
            <a:lvl4pPr>
              <a:defRPr sz="3450" b="1">
                <a:solidFill>
                  <a:srgbClr val="142B43"/>
                </a:solidFill>
                <a:latin typeface="Arial"/>
                <a:ea typeface="Arial"/>
                <a:cs typeface="Arial"/>
              </a:defRPr>
            </a:lvl4pPr>
            <a:lvl5pPr>
              <a:defRPr sz="3450" b="1">
                <a:solidFill>
                  <a:srgbClr val="142B43"/>
                </a:solidFill>
                <a:latin typeface="Arial"/>
                <a:ea typeface="Arial"/>
                <a:cs typeface="Arial"/>
              </a:defRPr>
            </a:lvl5pPr>
            <a:lvl6pPr>
              <a:defRPr sz="3450" b="1">
                <a:solidFill>
                  <a:srgbClr val="142B43"/>
                </a:solidFill>
                <a:latin typeface="Arial"/>
                <a:ea typeface="Arial"/>
                <a:cs typeface="Arial"/>
              </a:defRPr>
            </a:lvl6pPr>
            <a:lvl7pPr>
              <a:defRPr sz="3450" b="1">
                <a:solidFill>
                  <a:srgbClr val="142B43"/>
                </a:solidFill>
                <a:latin typeface="Arial"/>
                <a:ea typeface="Arial"/>
                <a:cs typeface="Arial"/>
              </a:defRPr>
            </a:lvl7pPr>
            <a:lvl8pPr>
              <a:defRPr sz="3450" b="1">
                <a:solidFill>
                  <a:srgbClr val="142B43"/>
                </a:solidFill>
                <a:latin typeface="Arial"/>
                <a:ea typeface="Arial"/>
                <a:cs typeface="Arial"/>
              </a:defRPr>
            </a:lvl8pPr>
            <a:lvl9pPr>
              <a:defRPr sz="3450" b="1">
                <a:solidFill>
                  <a:srgbClr val="142B43"/>
                </a:solidFill>
                <a:latin typeface="Arial"/>
                <a:ea typeface="Arial"/>
                <a:cs typeface="Arial"/>
              </a:defRPr>
            </a:lvl9pPr>
          </a:lstStyle>
          <a:p xmlns:a="http://schemas.openxmlformats.org/drawingml/2006/main">
            <a:pPr>
              <a:defRPr sz="3450" b="1">
                <a:solidFill>
                  <a:srgbClr val="142B43"/>
                </a:solidFill>
                <a:latin typeface="Arial"/>
                <a:ea typeface="Arial"/>
                <a:cs typeface="Arial"/>
              </a:defRPr>
            </a:pPr>
            <a:r>
              <a:rPr sz="3450" b="1">
                <a:solidFill>
                  <a:srgbClr val="142B43"/>
                </a:solidFill>
                <a:latin typeface="Arial"/>
                <a:ea typeface="Arial"/>
                <a:cs typeface="Arial"/>
              </a:rPr>
              <a:t>Verification and safe behavior</a:t>
            </a:r>
          </a:p>
        </p:txBody>
      </p:sp>
      <p:sp>
        <p:nvSpPr>
          <p:cNvPr id="3" name="StringLab Browser Compiler Front En">
            <a:extLst xmlns:a="http://schemas.openxmlformats.org/drawingml/2006/main">
              <a:ext uri="{FF2B5EF4-FFF2-40B4-BE49-F238E27FC236}">
                <a16:creationId xmlns:a16="http://schemas.microsoft.com/office/drawing/2014/main" id="{9933B1DD-CACD-47DF-83C9-6A5F71A69C73}"/>
              </a:ext>
            </a:extLst>
          </p:cNvPr>
          <p:cNvSpPr>
            <a:spLocks xmlns:a="http://schemas.openxmlformats.org/drawingml/2006/main" noGrp="1"/>
          </p:cNvSpPr>
          <p:nvPr/>
        </p:nvSpPr>
        <p:spPr>
          <a:xfrm xmlns:a="http://schemas.openxmlformats.org/drawingml/2006/main">
            <a:off x="685800" y="64008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StringLab Browser Compiler Front End</a:t>
            </a:r>
          </a:p>
        </p:txBody>
      </p:sp>
      <p:sp>
        <p:nvSpPr>
          <p:cNvPr id="4" name="11">
            <a:extLst xmlns:a="http://schemas.openxmlformats.org/drawingml/2006/main">
              <a:ext uri="{FF2B5EF4-FFF2-40B4-BE49-F238E27FC236}">
                <a16:creationId xmlns:a16="http://schemas.microsoft.com/office/drawing/2014/main" id="{BE6B96D0-F9D3-4755-ADB8-4F557FBEA5A7}"/>
              </a:ext>
            </a:extLst>
          </p:cNvPr>
          <p:cNvSpPr>
            <a:spLocks xmlns:a="http://schemas.openxmlformats.org/drawingml/2006/main" noGrp="1"/>
          </p:cNvSpPr>
          <p:nvPr/>
        </p:nvSpPr>
        <p:spPr>
          <a:xfrm xmlns:a="http://schemas.openxmlformats.org/drawingml/2006/main">
            <a:off x="11001375" y="6400800"/>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11</a:t>
            </a:r>
          </a:p>
        </p:txBody>
      </p:sp>
      <p:sp>
        <p:nvSpPr>
          <p:cNvPr id="5" name="29 core tests pass">
            <a:extLst xmlns:a="http://schemas.openxmlformats.org/drawingml/2006/main">
              <a:ext uri="{FF2B5EF4-FFF2-40B4-BE49-F238E27FC236}">
                <a16:creationId xmlns:a16="http://schemas.microsoft.com/office/drawing/2014/main" id="{38736723-0FE5-4304-AFA5-4F7D1CD4776F}"/>
              </a:ext>
            </a:extLst>
          </p:cNvPr>
          <p:cNvSpPr>
            <a:spLocks xmlns:a="http://schemas.openxmlformats.org/drawingml/2006/main" noGrp="1"/>
          </p:cNvSpPr>
          <p:nvPr/>
        </p:nvSpPr>
        <p:spPr>
          <a:xfrm xmlns:a="http://schemas.openxmlformats.org/drawingml/2006/main">
            <a:off x="685800" y="1895475"/>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75" b="1">
                <a:solidFill>
                  <a:srgbClr val="142B43"/>
                </a:solidFill>
                <a:latin typeface="Arial"/>
                <a:ea typeface="Arial"/>
                <a:cs typeface="Arial"/>
              </a:defRPr>
            </a:defPPr>
            <a:lvl1pPr>
              <a:defRPr sz="3075" b="1">
                <a:solidFill>
                  <a:srgbClr val="142B43"/>
                </a:solidFill>
                <a:latin typeface="Arial"/>
                <a:ea typeface="Arial"/>
                <a:cs typeface="Arial"/>
              </a:defRPr>
            </a:lvl1pPr>
            <a:lvl2pPr>
              <a:defRPr sz="3075" b="1">
                <a:solidFill>
                  <a:srgbClr val="142B43"/>
                </a:solidFill>
                <a:latin typeface="Arial"/>
                <a:ea typeface="Arial"/>
                <a:cs typeface="Arial"/>
              </a:defRPr>
            </a:lvl2pPr>
            <a:lvl3pPr>
              <a:defRPr sz="3075" b="1">
                <a:solidFill>
                  <a:srgbClr val="142B43"/>
                </a:solidFill>
                <a:latin typeface="Arial"/>
                <a:ea typeface="Arial"/>
                <a:cs typeface="Arial"/>
              </a:defRPr>
            </a:lvl3pPr>
            <a:lvl4pPr>
              <a:defRPr sz="3075" b="1">
                <a:solidFill>
                  <a:srgbClr val="142B43"/>
                </a:solidFill>
                <a:latin typeface="Arial"/>
                <a:ea typeface="Arial"/>
                <a:cs typeface="Arial"/>
              </a:defRPr>
            </a:lvl4pPr>
            <a:lvl5pPr>
              <a:defRPr sz="3075" b="1">
                <a:solidFill>
                  <a:srgbClr val="142B43"/>
                </a:solidFill>
                <a:latin typeface="Arial"/>
                <a:ea typeface="Arial"/>
                <a:cs typeface="Arial"/>
              </a:defRPr>
            </a:lvl5pPr>
            <a:lvl6pPr>
              <a:defRPr sz="3075" b="1">
                <a:solidFill>
                  <a:srgbClr val="142B43"/>
                </a:solidFill>
                <a:latin typeface="Arial"/>
                <a:ea typeface="Arial"/>
                <a:cs typeface="Arial"/>
              </a:defRPr>
            </a:lvl6pPr>
            <a:lvl7pPr>
              <a:defRPr sz="3075" b="1">
                <a:solidFill>
                  <a:srgbClr val="142B43"/>
                </a:solidFill>
                <a:latin typeface="Arial"/>
                <a:ea typeface="Arial"/>
                <a:cs typeface="Arial"/>
              </a:defRPr>
            </a:lvl7pPr>
            <a:lvl8pPr>
              <a:defRPr sz="3075" b="1">
                <a:solidFill>
                  <a:srgbClr val="142B43"/>
                </a:solidFill>
                <a:latin typeface="Arial"/>
                <a:ea typeface="Arial"/>
                <a:cs typeface="Arial"/>
              </a:defRPr>
            </a:lvl8pPr>
            <a:lvl9pPr>
              <a:defRPr sz="3075" b="1">
                <a:solidFill>
                  <a:srgbClr val="142B43"/>
                </a:solidFill>
                <a:latin typeface="Arial"/>
                <a:ea typeface="Arial"/>
                <a:cs typeface="Arial"/>
              </a:defRPr>
            </a:lvl9pPr>
          </a:lstStyle>
          <a:p xmlns:a="http://schemas.openxmlformats.org/drawingml/2006/main">
            <a:pPr>
              <a:defRPr sz="3075" b="1">
                <a:solidFill>
                  <a:srgbClr val="142B43"/>
                </a:solidFill>
                <a:latin typeface="Arial"/>
                <a:ea typeface="Arial"/>
                <a:cs typeface="Arial"/>
              </a:defRPr>
            </a:pPr>
            <a:r>
              <a:rPr sz="3075" b="1">
                <a:solidFill>
                  <a:srgbClr val="142B43"/>
                </a:solidFill>
                <a:latin typeface="Arial"/>
                <a:ea typeface="Arial"/>
                <a:cs typeface="Arial"/>
              </a:rPr>
              <a:t>29 core tests pass</a:t>
            </a:r>
          </a:p>
        </p:txBody>
      </p:sp>
      <p:sp>
        <p:nvSpPr>
          <p:cNvPr id="6" name="Browser checks cover the complete d">
            <a:extLst xmlns:a="http://schemas.openxmlformats.org/drawingml/2006/main">
              <a:ext uri="{FF2B5EF4-FFF2-40B4-BE49-F238E27FC236}">
                <a16:creationId xmlns:a16="http://schemas.microsoft.com/office/drawing/2014/main" id="{2F0C92CE-C2F0-4378-9EB1-D9FC4DF614E8}"/>
              </a:ext>
            </a:extLst>
          </p:cNvPr>
          <p:cNvSpPr>
            <a:spLocks xmlns:a="http://schemas.openxmlformats.org/drawingml/2006/main" noGrp="1"/>
          </p:cNvSpPr>
          <p:nvPr/>
        </p:nvSpPr>
        <p:spPr>
          <a:xfrm xmlns:a="http://schemas.openxmlformats.org/drawingml/2006/main">
            <a:off x="685800" y="293370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B43"/>
                </a:solidFill>
                <a:latin typeface="Arial"/>
                <a:ea typeface="Arial"/>
                <a:cs typeface="Arial"/>
              </a:defRPr>
            </a:defPPr>
            <a:lvl1pPr>
              <a:defRPr sz="2250" b="0">
                <a:solidFill>
                  <a:srgbClr val="142B43"/>
                </a:solidFill>
                <a:latin typeface="Arial"/>
                <a:ea typeface="Arial"/>
                <a:cs typeface="Arial"/>
              </a:defRPr>
            </a:lvl1pPr>
            <a:lvl2pPr>
              <a:defRPr sz="2250" b="0">
                <a:solidFill>
                  <a:srgbClr val="142B43"/>
                </a:solidFill>
                <a:latin typeface="Arial"/>
                <a:ea typeface="Arial"/>
                <a:cs typeface="Arial"/>
              </a:defRPr>
            </a:lvl2pPr>
            <a:lvl3pPr>
              <a:defRPr sz="2250" b="0">
                <a:solidFill>
                  <a:srgbClr val="142B43"/>
                </a:solidFill>
                <a:latin typeface="Arial"/>
                <a:ea typeface="Arial"/>
                <a:cs typeface="Arial"/>
              </a:defRPr>
            </a:lvl3pPr>
            <a:lvl4pPr>
              <a:defRPr sz="2250" b="0">
                <a:solidFill>
                  <a:srgbClr val="142B43"/>
                </a:solidFill>
                <a:latin typeface="Arial"/>
                <a:ea typeface="Arial"/>
                <a:cs typeface="Arial"/>
              </a:defRPr>
            </a:lvl4pPr>
            <a:lvl5pPr>
              <a:defRPr sz="2250" b="0">
                <a:solidFill>
                  <a:srgbClr val="142B43"/>
                </a:solidFill>
                <a:latin typeface="Arial"/>
                <a:ea typeface="Arial"/>
                <a:cs typeface="Arial"/>
              </a:defRPr>
            </a:lvl5pPr>
            <a:lvl6pPr>
              <a:defRPr sz="2250" b="0">
                <a:solidFill>
                  <a:srgbClr val="142B43"/>
                </a:solidFill>
                <a:latin typeface="Arial"/>
                <a:ea typeface="Arial"/>
                <a:cs typeface="Arial"/>
              </a:defRPr>
            </a:lvl6pPr>
            <a:lvl7pPr>
              <a:defRPr sz="2250" b="0">
                <a:solidFill>
                  <a:srgbClr val="142B43"/>
                </a:solidFill>
                <a:latin typeface="Arial"/>
                <a:ea typeface="Arial"/>
                <a:cs typeface="Arial"/>
              </a:defRPr>
            </a:lvl7pPr>
            <a:lvl8pPr>
              <a:defRPr sz="2250" b="0">
                <a:solidFill>
                  <a:srgbClr val="142B43"/>
                </a:solidFill>
                <a:latin typeface="Arial"/>
                <a:ea typeface="Arial"/>
                <a:cs typeface="Arial"/>
              </a:defRPr>
            </a:lvl8pPr>
            <a:lvl9pPr>
              <a:defRPr sz="2250" b="0">
                <a:solidFill>
                  <a:srgbClr val="142B43"/>
                </a:solidFill>
                <a:latin typeface="Arial"/>
                <a:ea typeface="Arial"/>
                <a:cs typeface="Arial"/>
              </a:defRPr>
            </a:lvl9pPr>
          </a:lstStyle>
          <a:p xmlns:a="http://schemas.openxmlformats.org/drawingml/2006/main">
            <a:pPr>
              <a:defRPr sz="2250" b="0">
                <a:solidFill>
                  <a:srgbClr val="142B43"/>
                </a:solidFill>
                <a:latin typeface="Arial"/>
                <a:ea typeface="Arial"/>
                <a:cs typeface="Arial"/>
              </a:defRPr>
            </a:pPr>
            <a:r>
              <a:rPr sz="2250" b="0">
                <a:solidFill>
                  <a:srgbClr val="142B43"/>
                </a:solidFill>
                <a:latin typeface="Arial"/>
                <a:ea typeface="Arial"/>
                <a:cs typeface="Arial"/>
              </a:rPr>
              <a:t>Browser checks cover the complete demonstration flow.</a:t>
            </a:r>
          </a:p>
        </p:txBody>
      </p:sp>
      <p:sp>
        <p:nvSpPr>
          <p:cNvPr id="7" name="No eval or Function. Source and out">
            <a:extLst xmlns:a="http://schemas.openxmlformats.org/drawingml/2006/main">
              <a:ext uri="{FF2B5EF4-FFF2-40B4-BE49-F238E27FC236}">
                <a16:creationId xmlns:a16="http://schemas.microsoft.com/office/drawing/2014/main" id="{33AC8AD2-F28A-42F3-A85E-6466454DD715}"/>
              </a:ext>
            </a:extLst>
          </p:cNvPr>
          <p:cNvSpPr>
            <a:spLocks xmlns:a="http://schemas.openxmlformats.org/drawingml/2006/main" noGrp="1"/>
          </p:cNvSpPr>
          <p:nvPr/>
        </p:nvSpPr>
        <p:spPr>
          <a:xfrm xmlns:a="http://schemas.openxmlformats.org/drawingml/2006/main">
            <a:off x="685800" y="4162425"/>
            <a:ext cx="108204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52667B"/>
                </a:solidFill>
                <a:latin typeface="Arial"/>
                <a:ea typeface="Arial"/>
                <a:cs typeface="Arial"/>
              </a:defRPr>
            </a:defPPr>
            <a:lvl1pPr>
              <a:defRPr sz="2175" b="0">
                <a:solidFill>
                  <a:srgbClr val="52667B"/>
                </a:solidFill>
                <a:latin typeface="Arial"/>
                <a:ea typeface="Arial"/>
                <a:cs typeface="Arial"/>
              </a:defRPr>
            </a:lvl1pPr>
            <a:lvl2pPr>
              <a:defRPr sz="2175" b="0">
                <a:solidFill>
                  <a:srgbClr val="52667B"/>
                </a:solidFill>
                <a:latin typeface="Arial"/>
                <a:ea typeface="Arial"/>
                <a:cs typeface="Arial"/>
              </a:defRPr>
            </a:lvl2pPr>
            <a:lvl3pPr>
              <a:defRPr sz="2175" b="0">
                <a:solidFill>
                  <a:srgbClr val="52667B"/>
                </a:solidFill>
                <a:latin typeface="Arial"/>
                <a:ea typeface="Arial"/>
                <a:cs typeface="Arial"/>
              </a:defRPr>
            </a:lvl3pPr>
            <a:lvl4pPr>
              <a:defRPr sz="2175" b="0">
                <a:solidFill>
                  <a:srgbClr val="52667B"/>
                </a:solidFill>
                <a:latin typeface="Arial"/>
                <a:ea typeface="Arial"/>
                <a:cs typeface="Arial"/>
              </a:defRPr>
            </a:lvl4pPr>
            <a:lvl5pPr>
              <a:defRPr sz="2175" b="0">
                <a:solidFill>
                  <a:srgbClr val="52667B"/>
                </a:solidFill>
                <a:latin typeface="Arial"/>
                <a:ea typeface="Arial"/>
                <a:cs typeface="Arial"/>
              </a:defRPr>
            </a:lvl5pPr>
            <a:lvl6pPr>
              <a:defRPr sz="2175" b="0">
                <a:solidFill>
                  <a:srgbClr val="52667B"/>
                </a:solidFill>
                <a:latin typeface="Arial"/>
                <a:ea typeface="Arial"/>
                <a:cs typeface="Arial"/>
              </a:defRPr>
            </a:lvl6pPr>
            <a:lvl7pPr>
              <a:defRPr sz="2175" b="0">
                <a:solidFill>
                  <a:srgbClr val="52667B"/>
                </a:solidFill>
                <a:latin typeface="Arial"/>
                <a:ea typeface="Arial"/>
                <a:cs typeface="Arial"/>
              </a:defRPr>
            </a:lvl7pPr>
            <a:lvl8pPr>
              <a:defRPr sz="2175" b="0">
                <a:solidFill>
                  <a:srgbClr val="52667B"/>
                </a:solidFill>
                <a:latin typeface="Arial"/>
                <a:ea typeface="Arial"/>
                <a:cs typeface="Arial"/>
              </a:defRPr>
            </a:lvl8pPr>
            <a:lvl9pPr>
              <a:defRPr sz="2175" b="0">
                <a:solidFill>
                  <a:srgbClr val="52667B"/>
                </a:solidFill>
                <a:latin typeface="Arial"/>
                <a:ea typeface="Arial"/>
                <a:cs typeface="Arial"/>
              </a:defRPr>
            </a:lvl9pPr>
          </a:lstStyle>
          <a:p xmlns:a="http://schemas.openxmlformats.org/drawingml/2006/main">
            <a:pPr>
              <a:defRPr sz="2175" b="0">
                <a:solidFill>
                  <a:srgbClr val="52667B"/>
                </a:solidFill>
                <a:latin typeface="Arial"/>
                <a:ea typeface="Arial"/>
                <a:cs typeface="Arial"/>
              </a:defRPr>
            </a:pPr>
            <a:r>
              <a:rPr sz="2175" b="0">
                <a:solidFill>
                  <a:srgbClr val="52667B"/>
                </a:solidFill>
                <a:latin typeface="Arial"/>
                <a:ea typeface="Arial"/>
                <a:cs typeface="Arial"/>
              </a:rPr>
              <a:t>No eval or Function. Source and output stay text.</a:t>
            </a:r>
          </a:p>
          <a:p xmlns:a="http://schemas.openxmlformats.org/drawingml/2006/main">
            <a:pPr>
              <a:defRPr sz="2175" b="0">
                <a:solidFill>
                  <a:srgbClr val="52667B"/>
                </a:solidFill>
                <a:latin typeface="Arial"/>
                <a:ea typeface="Arial"/>
                <a:cs typeface="Arial"/>
              </a:defRPr>
            </a:pPr>
            <a:r>
              <a:rPr sz="2175" b="0">
                <a:solidFill>
                  <a:srgbClr val="52667B"/>
                </a:solidFill>
                <a:latin typeface="Arial"/>
                <a:ea typeface="Arial"/>
                <a:cs typeface="Arial"/>
              </a:rPr>
              <a:t>Rejected programs never execute the preview.</a:t>
            </a:r>
          </a:p>
        </p:txBody>
      </p:sp>
    </p:spTree>
    <p:extLst>
      <p:ext uri="{BB962C8B-B14F-4D97-AF65-F5344CB8AC3E}">
        <p14:creationId xmlns:p14="http://schemas.microsoft.com/office/powerpoint/2010/main" val="97162336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MPILER DESIGN">
            <a:extLst xmlns:a="http://schemas.openxmlformats.org/drawingml/2006/main">
              <a:ext uri="{FF2B5EF4-FFF2-40B4-BE49-F238E27FC236}">
                <a16:creationId xmlns:a16="http://schemas.microsoft.com/office/drawing/2014/main" id="{54712460-E44D-4800-9731-6B8271F6A7B3}"/>
              </a:ext>
            </a:extLst>
          </p:cNvPr>
          <p:cNvSpPr>
            <a:spLocks xmlns:a="http://schemas.openxmlformats.org/drawingml/2006/main" noGrp="1"/>
          </p:cNvSpPr>
          <p:nvPr/>
        </p:nvSpPr>
        <p:spPr>
          <a:xfrm xmlns:a="http://schemas.openxmlformats.org/drawingml/2006/main">
            <a:off x="685800" y="2857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DF6948"/>
                </a:solidFill>
                <a:latin typeface="Arial"/>
                <a:ea typeface="Arial"/>
                <a:cs typeface="Arial"/>
              </a:defRPr>
            </a:defPPr>
            <a:lvl1pPr>
              <a:defRPr sz="1125" b="1">
                <a:solidFill>
                  <a:srgbClr val="DF6948"/>
                </a:solidFill>
                <a:latin typeface="Arial"/>
                <a:ea typeface="Arial"/>
                <a:cs typeface="Arial"/>
              </a:defRPr>
            </a:lvl1pPr>
            <a:lvl2pPr>
              <a:defRPr sz="1125" b="1">
                <a:solidFill>
                  <a:srgbClr val="DF6948"/>
                </a:solidFill>
                <a:latin typeface="Arial"/>
                <a:ea typeface="Arial"/>
                <a:cs typeface="Arial"/>
              </a:defRPr>
            </a:lvl2pPr>
            <a:lvl3pPr>
              <a:defRPr sz="1125" b="1">
                <a:solidFill>
                  <a:srgbClr val="DF6948"/>
                </a:solidFill>
                <a:latin typeface="Arial"/>
                <a:ea typeface="Arial"/>
                <a:cs typeface="Arial"/>
              </a:defRPr>
            </a:lvl3pPr>
            <a:lvl4pPr>
              <a:defRPr sz="1125" b="1">
                <a:solidFill>
                  <a:srgbClr val="DF6948"/>
                </a:solidFill>
                <a:latin typeface="Arial"/>
                <a:ea typeface="Arial"/>
                <a:cs typeface="Arial"/>
              </a:defRPr>
            </a:lvl4pPr>
            <a:lvl5pPr>
              <a:defRPr sz="1125" b="1">
                <a:solidFill>
                  <a:srgbClr val="DF6948"/>
                </a:solidFill>
                <a:latin typeface="Arial"/>
                <a:ea typeface="Arial"/>
                <a:cs typeface="Arial"/>
              </a:defRPr>
            </a:lvl5pPr>
            <a:lvl6pPr>
              <a:defRPr sz="1125" b="1">
                <a:solidFill>
                  <a:srgbClr val="DF6948"/>
                </a:solidFill>
                <a:latin typeface="Arial"/>
                <a:ea typeface="Arial"/>
                <a:cs typeface="Arial"/>
              </a:defRPr>
            </a:lvl6pPr>
            <a:lvl7pPr>
              <a:defRPr sz="1125" b="1">
                <a:solidFill>
                  <a:srgbClr val="DF6948"/>
                </a:solidFill>
                <a:latin typeface="Arial"/>
                <a:ea typeface="Arial"/>
                <a:cs typeface="Arial"/>
              </a:defRPr>
            </a:lvl7pPr>
            <a:lvl8pPr>
              <a:defRPr sz="1125" b="1">
                <a:solidFill>
                  <a:srgbClr val="DF6948"/>
                </a:solidFill>
                <a:latin typeface="Arial"/>
                <a:ea typeface="Arial"/>
                <a:cs typeface="Arial"/>
              </a:defRPr>
            </a:lvl8pPr>
            <a:lvl9pPr>
              <a:defRPr sz="1125" b="1">
                <a:solidFill>
                  <a:srgbClr val="DF6948"/>
                </a:solidFill>
                <a:latin typeface="Arial"/>
                <a:ea typeface="Arial"/>
                <a:cs typeface="Arial"/>
              </a:defRPr>
            </a:lvl9pPr>
          </a:lstStyle>
          <a:p xmlns:a="http://schemas.openxmlformats.org/drawingml/2006/main">
            <a:pPr>
              <a:defRPr sz="1125" b="1">
                <a:solidFill>
                  <a:srgbClr val="DF6948"/>
                </a:solidFill>
                <a:latin typeface="Arial"/>
                <a:ea typeface="Arial"/>
                <a:cs typeface="Arial"/>
              </a:defRPr>
            </a:pPr>
            <a:r>
              <a:rPr sz="1125" b="1">
                <a:solidFill>
                  <a:srgbClr val="DF6948"/>
                </a:solidFill>
                <a:latin typeface="Arial"/>
                <a:ea typeface="Arial"/>
                <a:cs typeface="Arial"/>
              </a:rPr>
              <a:t>COMPILER DESIGN</a:t>
            </a:r>
          </a:p>
        </p:txBody>
      </p:sp>
      <p:sp>
        <p:nvSpPr>
          <p:cNvPr id="2" name="Slide title">
            <a:extLst xmlns:a="http://schemas.openxmlformats.org/drawingml/2006/main">
              <a:ext uri="{FF2B5EF4-FFF2-40B4-BE49-F238E27FC236}">
                <a16:creationId xmlns:a16="http://schemas.microsoft.com/office/drawing/2014/main" id="{68296714-BC57-4189-AFB7-6D5A1768F0AF}"/>
              </a:ext>
            </a:extLst>
          </p:cNvPr>
          <p:cNvSpPr>
            <a:spLocks xmlns:a="http://schemas.openxmlformats.org/drawingml/2006/main" noGrp="1"/>
          </p:cNvSpPr>
          <p:nvPr/>
        </p:nvSpPr>
        <p:spPr>
          <a:xfrm xmlns:a="http://schemas.openxmlformats.org/drawingml/2006/main">
            <a:off x="685800" y="7620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42B43"/>
                </a:solidFill>
                <a:latin typeface="Arial"/>
                <a:ea typeface="Arial"/>
                <a:cs typeface="Arial"/>
              </a:defRPr>
            </a:defPPr>
            <a:lvl1pPr>
              <a:defRPr sz="3450" b="1">
                <a:solidFill>
                  <a:srgbClr val="142B43"/>
                </a:solidFill>
                <a:latin typeface="Arial"/>
                <a:ea typeface="Arial"/>
                <a:cs typeface="Arial"/>
              </a:defRPr>
            </a:lvl1pPr>
            <a:lvl2pPr>
              <a:defRPr sz="3450" b="1">
                <a:solidFill>
                  <a:srgbClr val="142B43"/>
                </a:solidFill>
                <a:latin typeface="Arial"/>
                <a:ea typeface="Arial"/>
                <a:cs typeface="Arial"/>
              </a:defRPr>
            </a:lvl2pPr>
            <a:lvl3pPr>
              <a:defRPr sz="3450" b="1">
                <a:solidFill>
                  <a:srgbClr val="142B43"/>
                </a:solidFill>
                <a:latin typeface="Arial"/>
                <a:ea typeface="Arial"/>
                <a:cs typeface="Arial"/>
              </a:defRPr>
            </a:lvl3pPr>
            <a:lvl4pPr>
              <a:defRPr sz="3450" b="1">
                <a:solidFill>
                  <a:srgbClr val="142B43"/>
                </a:solidFill>
                <a:latin typeface="Arial"/>
                <a:ea typeface="Arial"/>
                <a:cs typeface="Arial"/>
              </a:defRPr>
            </a:lvl4pPr>
            <a:lvl5pPr>
              <a:defRPr sz="3450" b="1">
                <a:solidFill>
                  <a:srgbClr val="142B43"/>
                </a:solidFill>
                <a:latin typeface="Arial"/>
                <a:ea typeface="Arial"/>
                <a:cs typeface="Arial"/>
              </a:defRPr>
            </a:lvl5pPr>
            <a:lvl6pPr>
              <a:defRPr sz="3450" b="1">
                <a:solidFill>
                  <a:srgbClr val="142B43"/>
                </a:solidFill>
                <a:latin typeface="Arial"/>
                <a:ea typeface="Arial"/>
                <a:cs typeface="Arial"/>
              </a:defRPr>
            </a:lvl6pPr>
            <a:lvl7pPr>
              <a:defRPr sz="3450" b="1">
                <a:solidFill>
                  <a:srgbClr val="142B43"/>
                </a:solidFill>
                <a:latin typeface="Arial"/>
                <a:ea typeface="Arial"/>
                <a:cs typeface="Arial"/>
              </a:defRPr>
            </a:lvl7pPr>
            <a:lvl8pPr>
              <a:defRPr sz="3450" b="1">
                <a:solidFill>
                  <a:srgbClr val="142B43"/>
                </a:solidFill>
                <a:latin typeface="Arial"/>
                <a:ea typeface="Arial"/>
                <a:cs typeface="Arial"/>
              </a:defRPr>
            </a:lvl8pPr>
            <a:lvl9pPr>
              <a:defRPr sz="3450" b="1">
                <a:solidFill>
                  <a:srgbClr val="142B43"/>
                </a:solidFill>
                <a:latin typeface="Arial"/>
                <a:ea typeface="Arial"/>
                <a:cs typeface="Arial"/>
              </a:defRPr>
            </a:lvl9pPr>
          </a:lstStyle>
          <a:p xmlns:a="http://schemas.openxmlformats.org/drawingml/2006/main">
            <a:pPr>
              <a:defRPr sz="3450" b="1">
                <a:solidFill>
                  <a:srgbClr val="142B43"/>
                </a:solidFill>
                <a:latin typeface="Arial"/>
                <a:ea typeface="Arial"/>
                <a:cs typeface="Arial"/>
              </a:defRPr>
            </a:pPr>
            <a:r>
              <a:rPr sz="3450" b="1">
                <a:solidFill>
                  <a:srgbClr val="142B43"/>
                </a:solidFill>
                <a:latin typeface="Arial"/>
                <a:ea typeface="Arial"/>
                <a:cs typeface="Arial"/>
              </a:rPr>
              <a:t>Static deployment</a:t>
            </a:r>
          </a:p>
        </p:txBody>
      </p:sp>
      <p:sp>
        <p:nvSpPr>
          <p:cNvPr id="3" name="StringLab Browser Compiler Front En">
            <a:extLst xmlns:a="http://schemas.openxmlformats.org/drawingml/2006/main">
              <a:ext uri="{FF2B5EF4-FFF2-40B4-BE49-F238E27FC236}">
                <a16:creationId xmlns:a16="http://schemas.microsoft.com/office/drawing/2014/main" id="{9027B584-A602-4415-A24B-B46FC6B30D44}"/>
              </a:ext>
            </a:extLst>
          </p:cNvPr>
          <p:cNvSpPr>
            <a:spLocks xmlns:a="http://schemas.openxmlformats.org/drawingml/2006/main" noGrp="1"/>
          </p:cNvSpPr>
          <p:nvPr/>
        </p:nvSpPr>
        <p:spPr>
          <a:xfrm xmlns:a="http://schemas.openxmlformats.org/drawingml/2006/main">
            <a:off x="685800" y="64008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StringLab Browser Compiler Front End</a:t>
            </a:r>
          </a:p>
        </p:txBody>
      </p:sp>
      <p:sp>
        <p:nvSpPr>
          <p:cNvPr id="4" name="12">
            <a:extLst xmlns:a="http://schemas.openxmlformats.org/drawingml/2006/main">
              <a:ext uri="{FF2B5EF4-FFF2-40B4-BE49-F238E27FC236}">
                <a16:creationId xmlns:a16="http://schemas.microsoft.com/office/drawing/2014/main" id="{2AD23E10-46F2-4C00-A844-06D5BC261130}"/>
              </a:ext>
            </a:extLst>
          </p:cNvPr>
          <p:cNvSpPr>
            <a:spLocks xmlns:a="http://schemas.openxmlformats.org/drawingml/2006/main" noGrp="1"/>
          </p:cNvSpPr>
          <p:nvPr/>
        </p:nvSpPr>
        <p:spPr>
          <a:xfrm xmlns:a="http://schemas.openxmlformats.org/drawingml/2006/main">
            <a:off x="11001375" y="6400800"/>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12</a:t>
            </a:r>
          </a:p>
        </p:txBody>
      </p:sp>
      <p:sp>
        <p:nvSpPr>
          <p:cNvPr id="5" name="Open index.html directly">
            <a:extLst xmlns:a="http://schemas.openxmlformats.org/drawingml/2006/main">
              <a:ext uri="{FF2B5EF4-FFF2-40B4-BE49-F238E27FC236}">
                <a16:creationId xmlns:a16="http://schemas.microsoft.com/office/drawing/2014/main" id="{119C892E-C27B-498E-B5DC-F8999173DFA3}"/>
              </a:ext>
            </a:extLst>
          </p:cNvPr>
          <p:cNvSpPr>
            <a:spLocks xmlns:a="http://schemas.openxmlformats.org/drawingml/2006/main" noGrp="1"/>
          </p:cNvSpPr>
          <p:nvPr/>
        </p:nvSpPr>
        <p:spPr>
          <a:xfrm xmlns:a="http://schemas.openxmlformats.org/drawingml/2006/main">
            <a:off x="685800" y="18573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42B43"/>
                </a:solidFill>
                <a:latin typeface="Arial"/>
                <a:ea typeface="Arial"/>
                <a:cs typeface="Arial"/>
              </a:defRPr>
            </a:defPPr>
            <a:lvl1pPr>
              <a:defRPr sz="2925" b="1">
                <a:solidFill>
                  <a:srgbClr val="142B43"/>
                </a:solidFill>
                <a:latin typeface="Arial"/>
                <a:ea typeface="Arial"/>
                <a:cs typeface="Arial"/>
              </a:defRPr>
            </a:lvl1pPr>
            <a:lvl2pPr>
              <a:defRPr sz="2925" b="1">
                <a:solidFill>
                  <a:srgbClr val="142B43"/>
                </a:solidFill>
                <a:latin typeface="Arial"/>
                <a:ea typeface="Arial"/>
                <a:cs typeface="Arial"/>
              </a:defRPr>
            </a:lvl2pPr>
            <a:lvl3pPr>
              <a:defRPr sz="2925" b="1">
                <a:solidFill>
                  <a:srgbClr val="142B43"/>
                </a:solidFill>
                <a:latin typeface="Arial"/>
                <a:ea typeface="Arial"/>
                <a:cs typeface="Arial"/>
              </a:defRPr>
            </a:lvl3pPr>
            <a:lvl4pPr>
              <a:defRPr sz="2925" b="1">
                <a:solidFill>
                  <a:srgbClr val="142B43"/>
                </a:solidFill>
                <a:latin typeface="Arial"/>
                <a:ea typeface="Arial"/>
                <a:cs typeface="Arial"/>
              </a:defRPr>
            </a:lvl4pPr>
            <a:lvl5pPr>
              <a:defRPr sz="2925" b="1">
                <a:solidFill>
                  <a:srgbClr val="142B43"/>
                </a:solidFill>
                <a:latin typeface="Arial"/>
                <a:ea typeface="Arial"/>
                <a:cs typeface="Arial"/>
              </a:defRPr>
            </a:lvl5pPr>
            <a:lvl6pPr>
              <a:defRPr sz="2925" b="1">
                <a:solidFill>
                  <a:srgbClr val="142B43"/>
                </a:solidFill>
                <a:latin typeface="Arial"/>
                <a:ea typeface="Arial"/>
                <a:cs typeface="Arial"/>
              </a:defRPr>
            </a:lvl6pPr>
            <a:lvl7pPr>
              <a:defRPr sz="2925" b="1">
                <a:solidFill>
                  <a:srgbClr val="142B43"/>
                </a:solidFill>
                <a:latin typeface="Arial"/>
                <a:ea typeface="Arial"/>
                <a:cs typeface="Arial"/>
              </a:defRPr>
            </a:lvl7pPr>
            <a:lvl8pPr>
              <a:defRPr sz="2925" b="1">
                <a:solidFill>
                  <a:srgbClr val="142B43"/>
                </a:solidFill>
                <a:latin typeface="Arial"/>
                <a:ea typeface="Arial"/>
                <a:cs typeface="Arial"/>
              </a:defRPr>
            </a:lvl8pPr>
            <a:lvl9pPr>
              <a:defRPr sz="2925" b="1">
                <a:solidFill>
                  <a:srgbClr val="142B43"/>
                </a:solidFill>
                <a:latin typeface="Arial"/>
                <a:ea typeface="Arial"/>
                <a:cs typeface="Arial"/>
              </a:defRPr>
            </a:lvl9pPr>
          </a:lstStyle>
          <a:p xmlns:a="http://schemas.openxmlformats.org/drawingml/2006/main">
            <a:pPr>
              <a:defRPr sz="2925" b="1">
                <a:solidFill>
                  <a:srgbClr val="142B43"/>
                </a:solidFill>
                <a:latin typeface="Arial"/>
                <a:ea typeface="Arial"/>
                <a:cs typeface="Arial"/>
              </a:defRPr>
            </a:pPr>
            <a:r>
              <a:rPr sz="2925" b="1">
                <a:solidFill>
                  <a:srgbClr val="142B43"/>
                </a:solidFill>
                <a:latin typeface="Arial"/>
                <a:ea typeface="Arial"/>
                <a:cs typeface="Arial"/>
              </a:rPr>
              <a:t>Open index.html directly</a:t>
            </a:r>
          </a:p>
        </p:txBody>
      </p:sp>
      <p:sp>
        <p:nvSpPr>
          <p:cNvPr id="6" name="Or upload the prepared dist folder ">
            <a:extLst xmlns:a="http://schemas.openxmlformats.org/drawingml/2006/main">
              <a:ext uri="{FF2B5EF4-FFF2-40B4-BE49-F238E27FC236}">
                <a16:creationId xmlns:a16="http://schemas.microsoft.com/office/drawing/2014/main" id="{CF246FA6-C18D-4365-A326-167990C84617}"/>
              </a:ext>
            </a:extLst>
          </p:cNvPr>
          <p:cNvSpPr>
            <a:spLocks xmlns:a="http://schemas.openxmlformats.org/drawingml/2006/main" noGrp="1"/>
          </p:cNvSpPr>
          <p:nvPr/>
        </p:nvSpPr>
        <p:spPr>
          <a:xfrm xmlns:a="http://schemas.openxmlformats.org/drawingml/2006/main">
            <a:off x="685800" y="29432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42B43"/>
                </a:solidFill>
                <a:latin typeface="Arial"/>
                <a:ea typeface="Arial"/>
                <a:cs typeface="Arial"/>
              </a:defRPr>
            </a:defPPr>
            <a:lvl1pPr>
              <a:defRPr sz="2325" b="0">
                <a:solidFill>
                  <a:srgbClr val="142B43"/>
                </a:solidFill>
                <a:latin typeface="Arial"/>
                <a:ea typeface="Arial"/>
                <a:cs typeface="Arial"/>
              </a:defRPr>
            </a:lvl1pPr>
            <a:lvl2pPr>
              <a:defRPr sz="2325" b="0">
                <a:solidFill>
                  <a:srgbClr val="142B43"/>
                </a:solidFill>
                <a:latin typeface="Arial"/>
                <a:ea typeface="Arial"/>
                <a:cs typeface="Arial"/>
              </a:defRPr>
            </a:lvl2pPr>
            <a:lvl3pPr>
              <a:defRPr sz="2325" b="0">
                <a:solidFill>
                  <a:srgbClr val="142B43"/>
                </a:solidFill>
                <a:latin typeface="Arial"/>
                <a:ea typeface="Arial"/>
                <a:cs typeface="Arial"/>
              </a:defRPr>
            </a:lvl3pPr>
            <a:lvl4pPr>
              <a:defRPr sz="2325" b="0">
                <a:solidFill>
                  <a:srgbClr val="142B43"/>
                </a:solidFill>
                <a:latin typeface="Arial"/>
                <a:ea typeface="Arial"/>
                <a:cs typeface="Arial"/>
              </a:defRPr>
            </a:lvl4pPr>
            <a:lvl5pPr>
              <a:defRPr sz="2325" b="0">
                <a:solidFill>
                  <a:srgbClr val="142B43"/>
                </a:solidFill>
                <a:latin typeface="Arial"/>
                <a:ea typeface="Arial"/>
                <a:cs typeface="Arial"/>
              </a:defRPr>
            </a:lvl5pPr>
            <a:lvl6pPr>
              <a:defRPr sz="2325" b="0">
                <a:solidFill>
                  <a:srgbClr val="142B43"/>
                </a:solidFill>
                <a:latin typeface="Arial"/>
                <a:ea typeface="Arial"/>
                <a:cs typeface="Arial"/>
              </a:defRPr>
            </a:lvl6pPr>
            <a:lvl7pPr>
              <a:defRPr sz="2325" b="0">
                <a:solidFill>
                  <a:srgbClr val="142B43"/>
                </a:solidFill>
                <a:latin typeface="Arial"/>
                <a:ea typeface="Arial"/>
                <a:cs typeface="Arial"/>
              </a:defRPr>
            </a:lvl7pPr>
            <a:lvl8pPr>
              <a:defRPr sz="2325" b="0">
                <a:solidFill>
                  <a:srgbClr val="142B43"/>
                </a:solidFill>
                <a:latin typeface="Arial"/>
                <a:ea typeface="Arial"/>
                <a:cs typeface="Arial"/>
              </a:defRPr>
            </a:lvl8pPr>
            <a:lvl9pPr>
              <a:defRPr sz="2325" b="0">
                <a:solidFill>
                  <a:srgbClr val="142B43"/>
                </a:solidFill>
                <a:latin typeface="Arial"/>
                <a:ea typeface="Arial"/>
                <a:cs typeface="Arial"/>
              </a:defRPr>
            </a:lvl9pPr>
          </a:lstStyle>
          <a:p xmlns:a="http://schemas.openxmlformats.org/drawingml/2006/main">
            <a:pPr>
              <a:defRPr sz="2325" b="0">
                <a:solidFill>
                  <a:srgbClr val="142B43"/>
                </a:solidFill>
                <a:latin typeface="Arial"/>
                <a:ea typeface="Arial"/>
                <a:cs typeface="Arial"/>
              </a:defRPr>
            </a:pPr>
            <a:r>
              <a:rPr sz="2325" b="0">
                <a:solidFill>
                  <a:srgbClr val="142B43"/>
                </a:solidFill>
                <a:latin typeface="Arial"/>
                <a:ea typeface="Arial"/>
                <a:cs typeface="Arial"/>
              </a:rPr>
              <a:t>Or upload the prepared dist folder to a static host.</a:t>
            </a:r>
          </a:p>
        </p:txBody>
      </p:sp>
      <p:sp>
        <p:nvSpPr>
          <p:cNvPr id="7" name="HTML, CSS and JavaScript run in the">
            <a:extLst xmlns:a="http://schemas.openxmlformats.org/drawingml/2006/main">
              <a:ext uri="{FF2B5EF4-FFF2-40B4-BE49-F238E27FC236}">
                <a16:creationId xmlns:a16="http://schemas.microsoft.com/office/drawing/2014/main" id="{8A82B43E-B119-46FC-BB2F-5F680921D495}"/>
              </a:ext>
            </a:extLst>
          </p:cNvPr>
          <p:cNvSpPr>
            <a:spLocks xmlns:a="http://schemas.openxmlformats.org/drawingml/2006/main" noGrp="1"/>
          </p:cNvSpPr>
          <p:nvPr/>
        </p:nvSpPr>
        <p:spPr>
          <a:xfrm xmlns:a="http://schemas.openxmlformats.org/drawingml/2006/main">
            <a:off x="685800" y="4114800"/>
            <a:ext cx="108204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52667B"/>
                </a:solidFill>
                <a:latin typeface="Arial"/>
                <a:ea typeface="Arial"/>
                <a:cs typeface="Arial"/>
              </a:defRPr>
            </a:defPPr>
            <a:lvl1pPr>
              <a:defRPr sz="2175" b="0">
                <a:solidFill>
                  <a:srgbClr val="52667B"/>
                </a:solidFill>
                <a:latin typeface="Arial"/>
                <a:ea typeface="Arial"/>
                <a:cs typeface="Arial"/>
              </a:defRPr>
            </a:lvl1pPr>
            <a:lvl2pPr>
              <a:defRPr sz="2175" b="0">
                <a:solidFill>
                  <a:srgbClr val="52667B"/>
                </a:solidFill>
                <a:latin typeface="Arial"/>
                <a:ea typeface="Arial"/>
                <a:cs typeface="Arial"/>
              </a:defRPr>
            </a:lvl2pPr>
            <a:lvl3pPr>
              <a:defRPr sz="2175" b="0">
                <a:solidFill>
                  <a:srgbClr val="52667B"/>
                </a:solidFill>
                <a:latin typeface="Arial"/>
                <a:ea typeface="Arial"/>
                <a:cs typeface="Arial"/>
              </a:defRPr>
            </a:lvl3pPr>
            <a:lvl4pPr>
              <a:defRPr sz="2175" b="0">
                <a:solidFill>
                  <a:srgbClr val="52667B"/>
                </a:solidFill>
                <a:latin typeface="Arial"/>
                <a:ea typeface="Arial"/>
                <a:cs typeface="Arial"/>
              </a:defRPr>
            </a:lvl4pPr>
            <a:lvl5pPr>
              <a:defRPr sz="2175" b="0">
                <a:solidFill>
                  <a:srgbClr val="52667B"/>
                </a:solidFill>
                <a:latin typeface="Arial"/>
                <a:ea typeface="Arial"/>
                <a:cs typeface="Arial"/>
              </a:defRPr>
            </a:lvl5pPr>
            <a:lvl6pPr>
              <a:defRPr sz="2175" b="0">
                <a:solidFill>
                  <a:srgbClr val="52667B"/>
                </a:solidFill>
                <a:latin typeface="Arial"/>
                <a:ea typeface="Arial"/>
                <a:cs typeface="Arial"/>
              </a:defRPr>
            </a:lvl6pPr>
            <a:lvl7pPr>
              <a:defRPr sz="2175" b="0">
                <a:solidFill>
                  <a:srgbClr val="52667B"/>
                </a:solidFill>
                <a:latin typeface="Arial"/>
                <a:ea typeface="Arial"/>
                <a:cs typeface="Arial"/>
              </a:defRPr>
            </a:lvl7pPr>
            <a:lvl8pPr>
              <a:defRPr sz="2175" b="0">
                <a:solidFill>
                  <a:srgbClr val="52667B"/>
                </a:solidFill>
                <a:latin typeface="Arial"/>
                <a:ea typeface="Arial"/>
                <a:cs typeface="Arial"/>
              </a:defRPr>
            </a:lvl8pPr>
            <a:lvl9pPr>
              <a:defRPr sz="2175" b="0">
                <a:solidFill>
                  <a:srgbClr val="52667B"/>
                </a:solidFill>
                <a:latin typeface="Arial"/>
                <a:ea typeface="Arial"/>
                <a:cs typeface="Arial"/>
              </a:defRPr>
            </a:lvl9pPr>
          </a:lstStyle>
          <a:p xmlns:a="http://schemas.openxmlformats.org/drawingml/2006/main">
            <a:pPr>
              <a:defRPr sz="2175" b="0">
                <a:solidFill>
                  <a:srgbClr val="52667B"/>
                </a:solidFill>
                <a:latin typeface="Arial"/>
                <a:ea typeface="Arial"/>
                <a:cs typeface="Arial"/>
              </a:defRPr>
            </a:pPr>
            <a:r>
              <a:rPr sz="2175" b="0">
                <a:solidFill>
                  <a:srgbClr val="52667B"/>
                </a:solidFill>
                <a:latin typeface="Arial"/>
                <a:ea typeface="Arial"/>
                <a:cs typeface="Arial"/>
              </a:rPr>
              <a:t>HTML, CSS and JavaScript run in the browser.</a:t>
            </a:r>
          </a:p>
          <a:p xmlns:a="http://schemas.openxmlformats.org/drawingml/2006/main">
            <a:pPr>
              <a:defRPr sz="2175" b="0">
                <a:solidFill>
                  <a:srgbClr val="52667B"/>
                </a:solidFill>
                <a:latin typeface="Arial"/>
                <a:ea typeface="Arial"/>
                <a:cs typeface="Arial"/>
              </a:defRPr>
            </a:pPr>
            <a:r>
              <a:rPr sz="2175" b="0">
                <a:solidFill>
                  <a:srgbClr val="52667B"/>
                </a:solidFill>
                <a:latin typeface="Arial"/>
                <a:ea typeface="Arial"/>
                <a:cs typeface="Arial"/>
              </a:rPr>
              <a:t>Hosting only serves files.</a:t>
            </a:r>
          </a:p>
          <a:p xmlns:a="http://schemas.openxmlformats.org/drawingml/2006/main">
            <a:pPr>
              <a:defRPr sz="2175" b="0">
                <a:solidFill>
                  <a:srgbClr val="52667B"/>
                </a:solidFill>
                <a:latin typeface="Arial"/>
                <a:ea typeface="Arial"/>
                <a:cs typeface="Arial"/>
              </a:defRPr>
            </a:pPr>
            <a:r>
              <a:rPr sz="2175" b="0">
                <a:solidFill>
                  <a:srgbClr val="52667B"/>
                </a:solidFill>
                <a:latin typeface="Arial"/>
                <a:ea typeface="Arial"/>
                <a:cs typeface="Arial"/>
              </a:rPr>
              <a:t>Download source, AST and compilation reports locally.</a:t>
            </a:r>
          </a:p>
        </p:txBody>
      </p:sp>
    </p:spTree>
    <p:extLst>
      <p:ext uri="{BB962C8B-B14F-4D97-AF65-F5344CB8AC3E}">
        <p14:creationId xmlns:p14="http://schemas.microsoft.com/office/powerpoint/2010/main" val="207301695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MPILER DESIGN">
            <a:extLst xmlns:a="http://schemas.openxmlformats.org/drawingml/2006/main">
              <a:ext uri="{FF2B5EF4-FFF2-40B4-BE49-F238E27FC236}">
                <a16:creationId xmlns:a16="http://schemas.microsoft.com/office/drawing/2014/main" id="{77FD9F05-867D-4EE4-B57E-FD13C271EB3D}"/>
              </a:ext>
            </a:extLst>
          </p:cNvPr>
          <p:cNvSpPr>
            <a:spLocks xmlns:a="http://schemas.openxmlformats.org/drawingml/2006/main" noGrp="1"/>
          </p:cNvSpPr>
          <p:nvPr/>
        </p:nvSpPr>
        <p:spPr>
          <a:xfrm xmlns:a="http://schemas.openxmlformats.org/drawingml/2006/main">
            <a:off x="685800" y="2857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DF6948"/>
                </a:solidFill>
                <a:latin typeface="Arial"/>
                <a:ea typeface="Arial"/>
                <a:cs typeface="Arial"/>
              </a:defRPr>
            </a:defPPr>
            <a:lvl1pPr>
              <a:defRPr sz="1125" b="1">
                <a:solidFill>
                  <a:srgbClr val="DF6948"/>
                </a:solidFill>
                <a:latin typeface="Arial"/>
                <a:ea typeface="Arial"/>
                <a:cs typeface="Arial"/>
              </a:defRPr>
            </a:lvl1pPr>
            <a:lvl2pPr>
              <a:defRPr sz="1125" b="1">
                <a:solidFill>
                  <a:srgbClr val="DF6948"/>
                </a:solidFill>
                <a:latin typeface="Arial"/>
                <a:ea typeface="Arial"/>
                <a:cs typeface="Arial"/>
              </a:defRPr>
            </a:lvl2pPr>
            <a:lvl3pPr>
              <a:defRPr sz="1125" b="1">
                <a:solidFill>
                  <a:srgbClr val="DF6948"/>
                </a:solidFill>
                <a:latin typeface="Arial"/>
                <a:ea typeface="Arial"/>
                <a:cs typeface="Arial"/>
              </a:defRPr>
            </a:lvl3pPr>
            <a:lvl4pPr>
              <a:defRPr sz="1125" b="1">
                <a:solidFill>
                  <a:srgbClr val="DF6948"/>
                </a:solidFill>
                <a:latin typeface="Arial"/>
                <a:ea typeface="Arial"/>
                <a:cs typeface="Arial"/>
              </a:defRPr>
            </a:lvl4pPr>
            <a:lvl5pPr>
              <a:defRPr sz="1125" b="1">
                <a:solidFill>
                  <a:srgbClr val="DF6948"/>
                </a:solidFill>
                <a:latin typeface="Arial"/>
                <a:ea typeface="Arial"/>
                <a:cs typeface="Arial"/>
              </a:defRPr>
            </a:lvl5pPr>
            <a:lvl6pPr>
              <a:defRPr sz="1125" b="1">
                <a:solidFill>
                  <a:srgbClr val="DF6948"/>
                </a:solidFill>
                <a:latin typeface="Arial"/>
                <a:ea typeface="Arial"/>
                <a:cs typeface="Arial"/>
              </a:defRPr>
            </a:lvl6pPr>
            <a:lvl7pPr>
              <a:defRPr sz="1125" b="1">
                <a:solidFill>
                  <a:srgbClr val="DF6948"/>
                </a:solidFill>
                <a:latin typeface="Arial"/>
                <a:ea typeface="Arial"/>
                <a:cs typeface="Arial"/>
              </a:defRPr>
            </a:lvl7pPr>
            <a:lvl8pPr>
              <a:defRPr sz="1125" b="1">
                <a:solidFill>
                  <a:srgbClr val="DF6948"/>
                </a:solidFill>
                <a:latin typeface="Arial"/>
                <a:ea typeface="Arial"/>
                <a:cs typeface="Arial"/>
              </a:defRPr>
            </a:lvl8pPr>
            <a:lvl9pPr>
              <a:defRPr sz="1125" b="1">
                <a:solidFill>
                  <a:srgbClr val="DF6948"/>
                </a:solidFill>
                <a:latin typeface="Arial"/>
                <a:ea typeface="Arial"/>
                <a:cs typeface="Arial"/>
              </a:defRPr>
            </a:lvl9pPr>
          </a:lstStyle>
          <a:p xmlns:a="http://schemas.openxmlformats.org/drawingml/2006/main">
            <a:pPr>
              <a:defRPr sz="1125" b="1">
                <a:solidFill>
                  <a:srgbClr val="DF6948"/>
                </a:solidFill>
                <a:latin typeface="Arial"/>
                <a:ea typeface="Arial"/>
                <a:cs typeface="Arial"/>
              </a:defRPr>
            </a:pPr>
            <a:r>
              <a:rPr sz="1125" b="1">
                <a:solidFill>
                  <a:srgbClr val="DF6948"/>
                </a:solidFill>
                <a:latin typeface="Arial"/>
                <a:ea typeface="Arial"/>
                <a:cs typeface="Arial"/>
              </a:rPr>
              <a:t>COMPILER DESIGN</a:t>
            </a:r>
          </a:p>
        </p:txBody>
      </p:sp>
      <p:sp>
        <p:nvSpPr>
          <p:cNvPr id="2" name="Slide title">
            <a:extLst xmlns:a="http://schemas.openxmlformats.org/drawingml/2006/main">
              <a:ext uri="{FF2B5EF4-FFF2-40B4-BE49-F238E27FC236}">
                <a16:creationId xmlns:a16="http://schemas.microsoft.com/office/drawing/2014/main" id="{E2E8AB7C-F711-450D-B7DB-6362B5BADBC3}"/>
              </a:ext>
            </a:extLst>
          </p:cNvPr>
          <p:cNvSpPr>
            <a:spLocks xmlns:a="http://schemas.openxmlformats.org/drawingml/2006/main" noGrp="1"/>
          </p:cNvSpPr>
          <p:nvPr/>
        </p:nvSpPr>
        <p:spPr>
          <a:xfrm xmlns:a="http://schemas.openxmlformats.org/drawingml/2006/main">
            <a:off x="685800" y="7620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42B43"/>
                </a:solidFill>
                <a:latin typeface="Arial"/>
                <a:ea typeface="Arial"/>
                <a:cs typeface="Arial"/>
              </a:defRPr>
            </a:defPPr>
            <a:lvl1pPr>
              <a:defRPr sz="3450" b="1">
                <a:solidFill>
                  <a:srgbClr val="142B43"/>
                </a:solidFill>
                <a:latin typeface="Arial"/>
                <a:ea typeface="Arial"/>
                <a:cs typeface="Arial"/>
              </a:defRPr>
            </a:lvl1pPr>
            <a:lvl2pPr>
              <a:defRPr sz="3450" b="1">
                <a:solidFill>
                  <a:srgbClr val="142B43"/>
                </a:solidFill>
                <a:latin typeface="Arial"/>
                <a:ea typeface="Arial"/>
                <a:cs typeface="Arial"/>
              </a:defRPr>
            </a:lvl2pPr>
            <a:lvl3pPr>
              <a:defRPr sz="3450" b="1">
                <a:solidFill>
                  <a:srgbClr val="142B43"/>
                </a:solidFill>
                <a:latin typeface="Arial"/>
                <a:ea typeface="Arial"/>
                <a:cs typeface="Arial"/>
              </a:defRPr>
            </a:lvl3pPr>
            <a:lvl4pPr>
              <a:defRPr sz="3450" b="1">
                <a:solidFill>
                  <a:srgbClr val="142B43"/>
                </a:solidFill>
                <a:latin typeface="Arial"/>
                <a:ea typeface="Arial"/>
                <a:cs typeface="Arial"/>
              </a:defRPr>
            </a:lvl4pPr>
            <a:lvl5pPr>
              <a:defRPr sz="3450" b="1">
                <a:solidFill>
                  <a:srgbClr val="142B43"/>
                </a:solidFill>
                <a:latin typeface="Arial"/>
                <a:ea typeface="Arial"/>
                <a:cs typeface="Arial"/>
              </a:defRPr>
            </a:lvl5pPr>
            <a:lvl6pPr>
              <a:defRPr sz="3450" b="1">
                <a:solidFill>
                  <a:srgbClr val="142B43"/>
                </a:solidFill>
                <a:latin typeface="Arial"/>
                <a:ea typeface="Arial"/>
                <a:cs typeface="Arial"/>
              </a:defRPr>
            </a:lvl6pPr>
            <a:lvl7pPr>
              <a:defRPr sz="3450" b="1">
                <a:solidFill>
                  <a:srgbClr val="142B43"/>
                </a:solidFill>
                <a:latin typeface="Arial"/>
                <a:ea typeface="Arial"/>
                <a:cs typeface="Arial"/>
              </a:defRPr>
            </a:lvl7pPr>
            <a:lvl8pPr>
              <a:defRPr sz="3450" b="1">
                <a:solidFill>
                  <a:srgbClr val="142B43"/>
                </a:solidFill>
                <a:latin typeface="Arial"/>
                <a:ea typeface="Arial"/>
                <a:cs typeface="Arial"/>
              </a:defRPr>
            </a:lvl8pPr>
            <a:lvl9pPr>
              <a:defRPr sz="3450" b="1">
                <a:solidFill>
                  <a:srgbClr val="142B43"/>
                </a:solidFill>
                <a:latin typeface="Arial"/>
                <a:ea typeface="Arial"/>
                <a:cs typeface="Arial"/>
              </a:defRPr>
            </a:lvl9pPr>
          </a:lstStyle>
          <a:p xmlns:a="http://schemas.openxmlformats.org/drawingml/2006/main">
            <a:pPr>
              <a:defRPr sz="3450" b="1">
                <a:solidFill>
                  <a:srgbClr val="142B43"/>
                </a:solidFill>
                <a:latin typeface="Arial"/>
                <a:ea typeface="Arial"/>
                <a:cs typeface="Arial"/>
              </a:defRPr>
            </a:pPr>
            <a:r>
              <a:rPr sz="3450" b="1">
                <a:solidFill>
                  <a:srgbClr val="142B43"/>
                </a:solidFill>
                <a:latin typeface="Arial"/>
                <a:ea typeface="Arial"/>
                <a:cs typeface="Arial"/>
              </a:rPr>
              <a:t>Individual contributions</a:t>
            </a:r>
          </a:p>
        </p:txBody>
      </p:sp>
      <p:sp>
        <p:nvSpPr>
          <p:cNvPr id="3" name="StringLab Browser Compiler Front En">
            <a:extLst xmlns:a="http://schemas.openxmlformats.org/drawingml/2006/main">
              <a:ext uri="{FF2B5EF4-FFF2-40B4-BE49-F238E27FC236}">
                <a16:creationId xmlns:a16="http://schemas.microsoft.com/office/drawing/2014/main" id="{4EA9E7C7-9F75-4E90-A7C0-2348D9193317}"/>
              </a:ext>
            </a:extLst>
          </p:cNvPr>
          <p:cNvSpPr>
            <a:spLocks xmlns:a="http://schemas.openxmlformats.org/drawingml/2006/main" noGrp="1"/>
          </p:cNvSpPr>
          <p:nvPr/>
        </p:nvSpPr>
        <p:spPr>
          <a:xfrm xmlns:a="http://schemas.openxmlformats.org/drawingml/2006/main">
            <a:off x="685800" y="64008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StringLab Browser Compiler Front End</a:t>
            </a:r>
          </a:p>
        </p:txBody>
      </p:sp>
      <p:sp>
        <p:nvSpPr>
          <p:cNvPr id="4" name="13">
            <a:extLst xmlns:a="http://schemas.openxmlformats.org/drawingml/2006/main">
              <a:ext uri="{FF2B5EF4-FFF2-40B4-BE49-F238E27FC236}">
                <a16:creationId xmlns:a16="http://schemas.microsoft.com/office/drawing/2014/main" id="{7B2FF1CA-027C-465C-98DB-AD7A54215EC4}"/>
              </a:ext>
            </a:extLst>
          </p:cNvPr>
          <p:cNvSpPr>
            <a:spLocks xmlns:a="http://schemas.openxmlformats.org/drawingml/2006/main" noGrp="1"/>
          </p:cNvSpPr>
          <p:nvPr/>
        </p:nvSpPr>
        <p:spPr>
          <a:xfrm xmlns:a="http://schemas.openxmlformats.org/drawingml/2006/main">
            <a:off x="11001375" y="6400800"/>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B"/>
                </a:solidFill>
                <a:latin typeface="Arial"/>
                <a:ea typeface="Arial"/>
                <a:cs typeface="Arial"/>
              </a:defRPr>
            </a:defPPr>
            <a:lvl1pPr>
              <a:defRPr sz="1125" b="0">
                <a:solidFill>
                  <a:srgbClr val="52667B"/>
                </a:solidFill>
                <a:latin typeface="Arial"/>
                <a:ea typeface="Arial"/>
                <a:cs typeface="Arial"/>
              </a:defRPr>
            </a:lvl1pPr>
            <a:lvl2pPr>
              <a:defRPr sz="1125" b="0">
                <a:solidFill>
                  <a:srgbClr val="52667B"/>
                </a:solidFill>
                <a:latin typeface="Arial"/>
                <a:ea typeface="Arial"/>
                <a:cs typeface="Arial"/>
              </a:defRPr>
            </a:lvl2pPr>
            <a:lvl3pPr>
              <a:defRPr sz="1125" b="0">
                <a:solidFill>
                  <a:srgbClr val="52667B"/>
                </a:solidFill>
                <a:latin typeface="Arial"/>
                <a:ea typeface="Arial"/>
                <a:cs typeface="Arial"/>
              </a:defRPr>
            </a:lvl3pPr>
            <a:lvl4pPr>
              <a:defRPr sz="1125" b="0">
                <a:solidFill>
                  <a:srgbClr val="52667B"/>
                </a:solidFill>
                <a:latin typeface="Arial"/>
                <a:ea typeface="Arial"/>
                <a:cs typeface="Arial"/>
              </a:defRPr>
            </a:lvl4pPr>
            <a:lvl5pPr>
              <a:defRPr sz="1125" b="0">
                <a:solidFill>
                  <a:srgbClr val="52667B"/>
                </a:solidFill>
                <a:latin typeface="Arial"/>
                <a:ea typeface="Arial"/>
                <a:cs typeface="Arial"/>
              </a:defRPr>
            </a:lvl5pPr>
            <a:lvl6pPr>
              <a:defRPr sz="1125" b="0">
                <a:solidFill>
                  <a:srgbClr val="52667B"/>
                </a:solidFill>
                <a:latin typeface="Arial"/>
                <a:ea typeface="Arial"/>
                <a:cs typeface="Arial"/>
              </a:defRPr>
            </a:lvl6pPr>
            <a:lvl7pPr>
              <a:defRPr sz="1125" b="0">
                <a:solidFill>
                  <a:srgbClr val="52667B"/>
                </a:solidFill>
                <a:latin typeface="Arial"/>
                <a:ea typeface="Arial"/>
                <a:cs typeface="Arial"/>
              </a:defRPr>
            </a:lvl7pPr>
            <a:lvl8pPr>
              <a:defRPr sz="1125" b="0">
                <a:solidFill>
                  <a:srgbClr val="52667B"/>
                </a:solidFill>
                <a:latin typeface="Arial"/>
                <a:ea typeface="Arial"/>
                <a:cs typeface="Arial"/>
              </a:defRPr>
            </a:lvl8pPr>
            <a:lvl9pPr>
              <a:defRPr sz="1125" b="0">
                <a:solidFill>
                  <a:srgbClr val="52667B"/>
                </a:solidFill>
                <a:latin typeface="Arial"/>
                <a:ea typeface="Arial"/>
                <a:cs typeface="Arial"/>
              </a:defRPr>
            </a:lvl9pPr>
          </a:lstStyle>
          <a:p xmlns:a="http://schemas.openxmlformats.org/drawingml/2006/main">
            <a:pPr>
              <a:defRPr sz="1125" b="0">
                <a:solidFill>
                  <a:srgbClr val="52667B"/>
                </a:solidFill>
                <a:latin typeface="Arial"/>
                <a:ea typeface="Arial"/>
                <a:cs typeface="Arial"/>
              </a:defRPr>
            </a:pPr>
            <a:r>
              <a:rPr sz="1125" b="0">
                <a:solidFill>
                  <a:srgbClr val="52667B"/>
                </a:solidFill>
                <a:latin typeface="Arial"/>
                <a:ea typeface="Arial"/>
                <a:cs typeface="Arial"/>
              </a:rPr>
              <a:t>13</a:t>
            </a:r>
          </a:p>
        </p:txBody>
      </p:sp>
      <p:sp>
        <p:nvSpPr>
          <p:cNvPr id="5" name="Names and roll numbers to be comple">
            <a:extLst xmlns:a="http://schemas.openxmlformats.org/drawingml/2006/main">
              <a:ext uri="{FF2B5EF4-FFF2-40B4-BE49-F238E27FC236}">
                <a16:creationId xmlns:a16="http://schemas.microsoft.com/office/drawing/2014/main" id="{68A09F9E-48BD-4E32-991C-E9DB8B94226E}"/>
              </a:ext>
            </a:extLst>
          </p:cNvPr>
          <p:cNvSpPr>
            <a:spLocks xmlns:a="http://schemas.openxmlformats.org/drawingml/2006/main" noGrp="1"/>
          </p:cNvSpPr>
          <p:nvPr/>
        </p:nvSpPr>
        <p:spPr>
          <a:xfrm xmlns:a="http://schemas.openxmlformats.org/drawingml/2006/main">
            <a:off x="685800" y="17907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52667B"/>
                </a:solidFill>
                <a:latin typeface="Arial"/>
                <a:ea typeface="Arial"/>
                <a:cs typeface="Arial"/>
              </a:defRPr>
            </a:defPPr>
            <a:lvl1pPr>
              <a:defRPr sz="2175" b="0">
                <a:solidFill>
                  <a:srgbClr val="52667B"/>
                </a:solidFill>
                <a:latin typeface="Arial"/>
                <a:ea typeface="Arial"/>
                <a:cs typeface="Arial"/>
              </a:defRPr>
            </a:lvl1pPr>
            <a:lvl2pPr>
              <a:defRPr sz="2175" b="0">
                <a:solidFill>
                  <a:srgbClr val="52667B"/>
                </a:solidFill>
                <a:latin typeface="Arial"/>
                <a:ea typeface="Arial"/>
                <a:cs typeface="Arial"/>
              </a:defRPr>
            </a:lvl2pPr>
            <a:lvl3pPr>
              <a:defRPr sz="2175" b="0">
                <a:solidFill>
                  <a:srgbClr val="52667B"/>
                </a:solidFill>
                <a:latin typeface="Arial"/>
                <a:ea typeface="Arial"/>
                <a:cs typeface="Arial"/>
              </a:defRPr>
            </a:lvl3pPr>
            <a:lvl4pPr>
              <a:defRPr sz="2175" b="0">
                <a:solidFill>
                  <a:srgbClr val="52667B"/>
                </a:solidFill>
                <a:latin typeface="Arial"/>
                <a:ea typeface="Arial"/>
                <a:cs typeface="Arial"/>
              </a:defRPr>
            </a:lvl4pPr>
            <a:lvl5pPr>
              <a:defRPr sz="2175" b="0">
                <a:solidFill>
                  <a:srgbClr val="52667B"/>
                </a:solidFill>
                <a:latin typeface="Arial"/>
                <a:ea typeface="Arial"/>
                <a:cs typeface="Arial"/>
              </a:defRPr>
            </a:lvl5pPr>
            <a:lvl6pPr>
              <a:defRPr sz="2175" b="0">
                <a:solidFill>
                  <a:srgbClr val="52667B"/>
                </a:solidFill>
                <a:latin typeface="Arial"/>
                <a:ea typeface="Arial"/>
                <a:cs typeface="Arial"/>
              </a:defRPr>
            </a:lvl6pPr>
            <a:lvl7pPr>
              <a:defRPr sz="2175" b="0">
                <a:solidFill>
                  <a:srgbClr val="52667B"/>
                </a:solidFill>
                <a:latin typeface="Arial"/>
                <a:ea typeface="Arial"/>
                <a:cs typeface="Arial"/>
              </a:defRPr>
            </a:lvl7pPr>
            <a:lvl8pPr>
              <a:defRPr sz="2175" b="0">
                <a:solidFill>
                  <a:srgbClr val="52667B"/>
                </a:solidFill>
                <a:latin typeface="Arial"/>
                <a:ea typeface="Arial"/>
                <a:cs typeface="Arial"/>
              </a:defRPr>
            </a:lvl8pPr>
            <a:lvl9pPr>
              <a:defRPr sz="2175" b="0">
                <a:solidFill>
                  <a:srgbClr val="52667B"/>
                </a:solidFill>
                <a:latin typeface="Arial"/>
                <a:ea typeface="Arial"/>
                <a:cs typeface="Arial"/>
              </a:defRPr>
            </a:lvl9pPr>
          </a:lstStyle>
          <a:p xmlns:a="http://schemas.openxmlformats.org/drawingml/2006/main">
            <a:pPr>
              <a:defRPr sz="2175" b="0">
                <a:solidFill>
                  <a:srgbClr val="52667B"/>
                </a:solidFill>
                <a:latin typeface="Arial"/>
                <a:ea typeface="Arial"/>
                <a:cs typeface="Arial"/>
              </a:defRPr>
            </a:pPr>
            <a:r>
              <a:rPr sz="2175" b="0">
                <a:solidFill>
                  <a:srgbClr val="52667B"/>
                </a:solidFill>
                <a:latin typeface="Arial"/>
                <a:ea typeface="Arial"/>
                <a:cs typeface="Arial"/>
              </a:rPr>
              <a:t>Names and roll numbers to be completed by the group</a:t>
            </a:r>
          </a:p>
        </p:txBody>
      </p:sp>
      <p:sp>
        <p:nvSpPr>
          <p:cNvPr id="6" name="Member 1   Actual work and evidence">
            <a:extLst xmlns:a="http://schemas.openxmlformats.org/drawingml/2006/main">
              <a:ext uri="{FF2B5EF4-FFF2-40B4-BE49-F238E27FC236}">
                <a16:creationId xmlns:a16="http://schemas.microsoft.com/office/drawing/2014/main" id="{B8958FC2-5099-4395-AF22-E2B6B99F098B}"/>
              </a:ext>
            </a:extLst>
          </p:cNvPr>
          <p:cNvSpPr>
            <a:spLocks xmlns:a="http://schemas.openxmlformats.org/drawingml/2006/main" noGrp="1"/>
          </p:cNvSpPr>
          <p:nvPr/>
        </p:nvSpPr>
        <p:spPr>
          <a:xfrm xmlns:a="http://schemas.openxmlformats.org/drawingml/2006/main">
            <a:off x="685800" y="2914650"/>
            <a:ext cx="1082040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B43"/>
                </a:solidFill>
                <a:latin typeface="Arial"/>
                <a:ea typeface="Arial"/>
                <a:cs typeface="Arial"/>
              </a:defRPr>
            </a:defPPr>
            <a:lvl1pPr>
              <a:defRPr sz="2100" b="0">
                <a:solidFill>
                  <a:srgbClr val="142B43"/>
                </a:solidFill>
                <a:latin typeface="Arial"/>
                <a:ea typeface="Arial"/>
                <a:cs typeface="Arial"/>
              </a:defRPr>
            </a:lvl1pPr>
            <a:lvl2pPr>
              <a:defRPr sz="2100" b="0">
                <a:solidFill>
                  <a:srgbClr val="142B43"/>
                </a:solidFill>
                <a:latin typeface="Arial"/>
                <a:ea typeface="Arial"/>
                <a:cs typeface="Arial"/>
              </a:defRPr>
            </a:lvl2pPr>
            <a:lvl3pPr>
              <a:defRPr sz="2100" b="0">
                <a:solidFill>
                  <a:srgbClr val="142B43"/>
                </a:solidFill>
                <a:latin typeface="Arial"/>
                <a:ea typeface="Arial"/>
                <a:cs typeface="Arial"/>
              </a:defRPr>
            </a:lvl3pPr>
            <a:lvl4pPr>
              <a:defRPr sz="2100" b="0">
                <a:solidFill>
                  <a:srgbClr val="142B43"/>
                </a:solidFill>
                <a:latin typeface="Arial"/>
                <a:ea typeface="Arial"/>
                <a:cs typeface="Arial"/>
              </a:defRPr>
            </a:lvl4pPr>
            <a:lvl5pPr>
              <a:defRPr sz="2100" b="0">
                <a:solidFill>
                  <a:srgbClr val="142B43"/>
                </a:solidFill>
                <a:latin typeface="Arial"/>
                <a:ea typeface="Arial"/>
                <a:cs typeface="Arial"/>
              </a:defRPr>
            </a:lvl5pPr>
            <a:lvl6pPr>
              <a:defRPr sz="2100" b="0">
                <a:solidFill>
                  <a:srgbClr val="142B43"/>
                </a:solidFill>
                <a:latin typeface="Arial"/>
                <a:ea typeface="Arial"/>
                <a:cs typeface="Arial"/>
              </a:defRPr>
            </a:lvl6pPr>
            <a:lvl7pPr>
              <a:defRPr sz="2100" b="0">
                <a:solidFill>
                  <a:srgbClr val="142B43"/>
                </a:solidFill>
                <a:latin typeface="Arial"/>
                <a:ea typeface="Arial"/>
                <a:cs typeface="Arial"/>
              </a:defRPr>
            </a:lvl7pPr>
            <a:lvl8pPr>
              <a:defRPr sz="2100" b="0">
                <a:solidFill>
                  <a:srgbClr val="142B43"/>
                </a:solidFill>
                <a:latin typeface="Arial"/>
                <a:ea typeface="Arial"/>
                <a:cs typeface="Arial"/>
              </a:defRPr>
            </a:lvl8pPr>
            <a:lvl9pPr>
              <a:defRPr sz="2100" b="0">
                <a:solidFill>
                  <a:srgbClr val="142B43"/>
                </a:solidFill>
                <a:latin typeface="Arial"/>
                <a:ea typeface="Arial"/>
                <a:cs typeface="Arial"/>
              </a:defRPr>
            </a:lvl9pPr>
          </a:lstStyle>
          <a:p xmlns:a="http://schemas.openxmlformats.org/drawingml/2006/main">
            <a:pPr>
              <a:defRPr sz="2100" b="0">
                <a:solidFill>
                  <a:srgbClr val="142B43"/>
                </a:solidFill>
                <a:latin typeface="Arial"/>
                <a:ea typeface="Arial"/>
                <a:cs typeface="Arial"/>
              </a:defRPr>
            </a:pPr>
            <a:r>
              <a:rPr sz="2100" b="0">
                <a:solidFill>
                  <a:srgbClr val="142B43"/>
                </a:solidFill>
                <a:latin typeface="Arial"/>
                <a:ea typeface="Arial"/>
                <a:cs typeface="Arial"/>
              </a:rPr>
              <a:t>Member 1   Actual work and evidence to be entered</a:t>
            </a:r>
          </a:p>
          <a:p xmlns:a="http://schemas.openxmlformats.org/drawingml/2006/main">
            <a:pPr>
              <a:defRPr sz="2100" b="0">
                <a:solidFill>
                  <a:srgbClr val="142B43"/>
                </a:solidFill>
                <a:latin typeface="Arial"/>
                <a:ea typeface="Arial"/>
                <a:cs typeface="Arial"/>
              </a:defRPr>
            </a:pPr>
            <a:r>
              <a:rPr sz="2100" b="0">
                <a:solidFill>
                  <a:srgbClr val="142B43"/>
                </a:solidFill>
                <a:latin typeface="Arial"/>
                <a:ea typeface="Arial"/>
                <a:cs typeface="Arial"/>
              </a:rPr>
              <a:t>Member 2   Actual work and evidence to be entered</a:t>
            </a:r>
          </a:p>
          <a:p xmlns:a="http://schemas.openxmlformats.org/drawingml/2006/main">
            <a:pPr>
              <a:defRPr sz="2100" b="0">
                <a:solidFill>
                  <a:srgbClr val="142B43"/>
                </a:solidFill>
                <a:latin typeface="Arial"/>
                <a:ea typeface="Arial"/>
                <a:cs typeface="Arial"/>
              </a:defRPr>
            </a:pPr>
            <a:r>
              <a:rPr sz="2100" b="0">
                <a:solidFill>
                  <a:srgbClr val="142B43"/>
                </a:solidFill>
                <a:latin typeface="Arial"/>
                <a:ea typeface="Arial"/>
                <a:cs typeface="Arial"/>
              </a:rPr>
              <a:t>Member 3   Actual work and evidence to be entered</a:t>
            </a:r>
          </a:p>
          <a:p xmlns:a="http://schemas.openxmlformats.org/drawingml/2006/main">
            <a:pPr>
              <a:defRPr sz="2100" b="0">
                <a:solidFill>
                  <a:srgbClr val="142B43"/>
                </a:solidFill>
                <a:latin typeface="Arial"/>
                <a:ea typeface="Arial"/>
                <a:cs typeface="Arial"/>
              </a:defRPr>
            </a:pPr>
            <a:r>
              <a:rPr sz="2100" b="0">
                <a:solidFill>
                  <a:srgbClr val="142B43"/>
                </a:solidFill>
                <a:latin typeface="Arial"/>
                <a:ea typeface="Arial"/>
                <a:cs typeface="Arial"/>
              </a:rPr>
              <a:t>Member 4   Actual work and evidence to be entered</a:t>
            </a:r>
          </a:p>
        </p:txBody>
      </p:sp>
      <p:sp>
        <p:nvSpPr>
          <p:cNvPr id="7" name="Suggested areas: lexer, parser, sem">
            <a:extLst xmlns:a="http://schemas.openxmlformats.org/drawingml/2006/main">
              <a:ext uri="{FF2B5EF4-FFF2-40B4-BE49-F238E27FC236}">
                <a16:creationId xmlns:a16="http://schemas.microsoft.com/office/drawing/2014/main" id="{6449299D-3EBC-4C23-B345-A089EA7A0187}"/>
              </a:ext>
            </a:extLst>
          </p:cNvPr>
          <p:cNvSpPr>
            <a:spLocks xmlns:a="http://schemas.openxmlformats.org/drawingml/2006/main" noGrp="1"/>
          </p:cNvSpPr>
          <p:nvPr/>
        </p:nvSpPr>
        <p:spPr>
          <a:xfrm xmlns:a="http://schemas.openxmlformats.org/drawingml/2006/main">
            <a:off x="685800" y="56102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52667B"/>
                </a:solidFill>
                <a:latin typeface="Arial"/>
                <a:ea typeface="Arial"/>
                <a:cs typeface="Arial"/>
              </a:defRPr>
            </a:defPPr>
            <a:lvl1pPr>
              <a:defRPr sz="1650" b="0">
                <a:solidFill>
                  <a:srgbClr val="52667B"/>
                </a:solidFill>
                <a:latin typeface="Arial"/>
                <a:ea typeface="Arial"/>
                <a:cs typeface="Arial"/>
              </a:defRPr>
            </a:lvl1pPr>
            <a:lvl2pPr>
              <a:defRPr sz="1650" b="0">
                <a:solidFill>
                  <a:srgbClr val="52667B"/>
                </a:solidFill>
                <a:latin typeface="Arial"/>
                <a:ea typeface="Arial"/>
                <a:cs typeface="Arial"/>
              </a:defRPr>
            </a:lvl2pPr>
            <a:lvl3pPr>
              <a:defRPr sz="1650" b="0">
                <a:solidFill>
                  <a:srgbClr val="52667B"/>
                </a:solidFill>
                <a:latin typeface="Arial"/>
                <a:ea typeface="Arial"/>
                <a:cs typeface="Arial"/>
              </a:defRPr>
            </a:lvl3pPr>
            <a:lvl4pPr>
              <a:defRPr sz="1650" b="0">
                <a:solidFill>
                  <a:srgbClr val="52667B"/>
                </a:solidFill>
                <a:latin typeface="Arial"/>
                <a:ea typeface="Arial"/>
                <a:cs typeface="Arial"/>
              </a:defRPr>
            </a:lvl4pPr>
            <a:lvl5pPr>
              <a:defRPr sz="1650" b="0">
                <a:solidFill>
                  <a:srgbClr val="52667B"/>
                </a:solidFill>
                <a:latin typeface="Arial"/>
                <a:ea typeface="Arial"/>
                <a:cs typeface="Arial"/>
              </a:defRPr>
            </a:lvl5pPr>
            <a:lvl6pPr>
              <a:defRPr sz="1650" b="0">
                <a:solidFill>
                  <a:srgbClr val="52667B"/>
                </a:solidFill>
                <a:latin typeface="Arial"/>
                <a:ea typeface="Arial"/>
                <a:cs typeface="Arial"/>
              </a:defRPr>
            </a:lvl6pPr>
            <a:lvl7pPr>
              <a:defRPr sz="1650" b="0">
                <a:solidFill>
                  <a:srgbClr val="52667B"/>
                </a:solidFill>
                <a:latin typeface="Arial"/>
                <a:ea typeface="Arial"/>
                <a:cs typeface="Arial"/>
              </a:defRPr>
            </a:lvl7pPr>
            <a:lvl8pPr>
              <a:defRPr sz="1650" b="0">
                <a:solidFill>
                  <a:srgbClr val="52667B"/>
                </a:solidFill>
                <a:latin typeface="Arial"/>
                <a:ea typeface="Arial"/>
                <a:cs typeface="Arial"/>
              </a:defRPr>
            </a:lvl8pPr>
            <a:lvl9pPr>
              <a:defRPr sz="1650" b="0">
                <a:solidFill>
                  <a:srgbClr val="52667B"/>
                </a:solidFill>
                <a:latin typeface="Arial"/>
                <a:ea typeface="Arial"/>
                <a:cs typeface="Arial"/>
              </a:defRPr>
            </a:lvl9pPr>
          </a:lstStyle>
          <a:p xmlns:a="http://schemas.openxmlformats.org/drawingml/2006/main">
            <a:pPr>
              <a:defRPr sz="1650" b="0">
                <a:solidFill>
                  <a:srgbClr val="52667B"/>
                </a:solidFill>
                <a:latin typeface="Arial"/>
                <a:ea typeface="Arial"/>
                <a:cs typeface="Arial"/>
              </a:defRPr>
            </a:pPr>
            <a:r>
              <a:rPr sz="1650" b="0">
                <a:solidFill>
                  <a:srgbClr val="52667B"/>
                </a:solidFill>
                <a:latin typeface="Arial"/>
                <a:ea typeface="Arial"/>
                <a:cs typeface="Arial"/>
              </a:rPr>
              <a:t>Suggested areas: lexer, parser, semantics, UI and documentation.</a:t>
            </a:r>
          </a:p>
        </p:txBody>
      </p:sp>
    </p:spTree>
    <p:extLst>
      <p:ext uri="{BB962C8B-B14F-4D97-AF65-F5344CB8AC3E}">
        <p14:creationId xmlns:p14="http://schemas.microsoft.com/office/powerpoint/2010/main" val="76604719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2026-10-20T08:38:04.1910000Z</dcterms:created>
  <dcterms:modified xsi:type="dcterms:W3CDTF">2026-10-20T08:38:04.1910000Z</dcterms:modified>
</coreProperties>
</file>